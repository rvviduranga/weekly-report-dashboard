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8.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3" r:id="rId24"/>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  <Relationship Id="rId24" Type="http://schemas.openxmlformats.org/officeDocument/2006/relationships/slide" Target="slides/slide18.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internal tool for weekly reporting. Team members file a structured report each week, managers review it and can send it back for correction, and everything rolls up into a dashboard. I'll walk through the architecture, the database design, how the review workflow works, and what I ran into along the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a fixed template is comparability. If everyone writes their own format, the manager's dashboard is useless - so users can't add or reorder fields.
And the review isn't fire-and-forget. A manager can send a report back with a comment, and the older version stays readable. That last requirement drove most of the database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pieces. The browser runs a Next.js app, it calls a REST API over fetch, and the API is the only thing that touches the database.
The token lives in an httpOnly cookie, which means browser JavaScript can't read it. If a malicious script ever ran on the page, it could steal a token out of localStorage instantly, but it cannot touch an httpOnly cookie.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picked Express over something heavier because every line is explicit - there's no framework magic between me and the request. That matters when I have to explain or extend it.
Postgres because this data is genuinely relational: a report belongs to a user and a project and has several child collections. I wanted real foreign keys and a real unique constraint, not application-level hope.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it left to right: users and projects, then the Report in the middle, then the five child tables that hold the report's content, and ReportVersion at the bottom which is the review history.
Everything hangs off Report. One report per person per week - and that's a database constraint, not just a check in my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alternative was to version every child table too - a new row set per version. That multiplies the table count fast and makes every query harder. A JSON snapshot per submission gives me the full history for a fraction of the complexity.
On projects: if a manager deletes a project that three months of reports point at, hard-deleting either fails on the foreign key or orphans that history. Archiving hides it from new reports and keeps the old ones readable.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of the assignment, so I'll spend a moment here. Four states. A report loops between SUBMITTED and NEEDS_CORRECTION as many times as it needs to.
The rule I care most about is the last one. A manager reviewing a report can approve it or send it back - but they cannot rewrite what the team member wrote. There's an automated test asserting exactly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transaction matters. If the snapshot saved but the status update failed, I'd have a version row for a report that was never submitted - the data would be lying. A transaction makes those two writes atomic.
On editing: I don't try to diff which task changed. The client sends the whole list, and the server deletes the old child rows and creates the new ones in a single nested write. Simpler, and the snapshots mean nothing is actually 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layer has one job. A route file reads like a policy document - you can see the whole API surface and who can call what in a few lines.
Keeping HTTP out of the services isn't ceremony. It's why I could call the same logic from a seed script without spinning up a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 this person a manager?' is a fixed rule, so it lives on the route. 'Is this your report?' can only be answered after reading the row, so it lives in the service.
The 404 is deliberate. If I returned 403 for someone else's report, that response confirms the report exists. A 404 reveals nothing. There's a test asserting 404 rather than 403 for exactly that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list endpoints rather than one: /reports/mine forces the user's own id into the where clause, so a team member's own data is scoped in the query itself, not by a check afterwards.
Validation is a schema per endpoint. Bad input never reaches the service layer, and the errors come back field by field so the form can put each message next to the right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three genuinely different jobs. One is data entry, one is a personal archive, one is a manager scanning across people - so they're separate pages rather than one screen with modes.
ReportDetail being shared is why the manager sees exactly what the team member submitted; there's no second rendering path that could drift.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is a single API call. Nine queries run in parallel with Promise.all, so the response takes about as long as the slowest one rather than the sum.
Compliance splits three ways: on time, late, and not filed. Late compares the first submission against the end of that week, so nobody can be late in a week that is still running. Not filed was the interesting one to compute - it is the absence of a row, so I start from the list of team members and subtract the ones who filed, rather than querying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tested access control rather than happy paths because that's where a bug is expensive. A broken form is visible immediately; a permission hole is invisible until it matters.
Supertest runs real HTTP against the real Express app, so the tests exercise the actual middleware chain, not a mock of it. That's why I split app creation from server startup.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first one - the useful part wasn't the fix, it was measuring before guessing. I timed a trivial query, then the same query with each set of relations, and the relations were 80% of it. Two changes, nine times faster.
The second taught me something I'll carry: when you change a config that generated code depends on, regenerate immediately. Otherwise the failure shows up much later, disconnected from the change that caused it.
On deployment - I'd rather say plainly that I didn't finish it than hand over a link that half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AI assistant - the honest answer is I didn't build it. If I did, I'd scope each query to the reports the asking manager is already allowed to see, so the assistant can't leak across the permission boundary the rest of the app enforces.
The shared types one is the change I'd make first. Right now if I change the API shape, nothing tells me the frontend is stale until it breaks at runtime.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Happy to walk through any part of the code, or the database design in more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D3A"/>
        </a:solidFill>
      </p:bgPr>
    </p:bg>
    <p:spTree>
      <p:nvGrpSpPr>
        <p:cNvPr id="1" name=""/>
        <p:cNvGrpSpPr/>
        <p:nvPr/>
      </p:nvGrpSpPr>
      <p:grpSpPr>
        <a:xfrm>
          <a:off x="0" y="0"/>
          <a:ext cx="0" cy="0"/>
          <a:chOff x="0" y="0"/>
          <a:chExt cx="0" cy="0"/>
        </a:xfrm>
      </p:grpSpPr>
      <p:sp>
        <p:nvSpPr>
          <p:cNvPr id="2" name="Text 0"/>
          <p:cNvSpPr txBox="1"/>
          <p:nvPr/>
        </p:nvSpPr>
        <p:spPr>
          <a:xfrm>
            <a:off x="640080" y="1737360"/>
            <a:ext cx="7863840" cy="1828800"/>
          </a:xfrm>
          <a:prstGeom prst="rect">
            <a:avLst/>
          </a:prstGeom>
          <a:noFill/>
          <a:ln/>
        </p:spPr>
        <p:txBody>
          <a:bodyPr wrap="square" lIns="0" tIns="0" rIns="0" bIns="0" rtlCol="0" anchor="ctr"/>
          <a:lstStyle/>
          <a:p>
            <a:pPr indent="0" marL="0">
              <a:lnSpc>
                <a:spcPct val="105000"/>
              </a:lnSpc>
              <a:buNone/>
            </a:pPr>
            <a:r>
              <a:rPr lang="en-US" sz="4200" b="1" dirty="0">
                <a:solidFill>
                  <a:srgbClr val="FFFFFF"/>
                </a:solidFill>
                <a:latin typeface="Cambria" pitchFamily="34" charset="0"/>
                <a:ea typeface="Cambria" pitchFamily="34" charset="-122"/>
                <a:cs typeface="Cambria" pitchFamily="34" charset="-120"/>
              </a:rPr>
              <a:t>Weekly Report Generator</a:t>
            </a:r>
            <a:endParaRPr lang="en-US" sz="4200" dirty="0"/>
          </a:p>
          <a:p>
            <a:pPr indent="0" marL="0">
              <a:lnSpc>
                <a:spcPct val="105000"/>
              </a:lnSpc>
              <a:buNone/>
            </a:pPr>
            <a:r>
              <a:rPr lang="en-US" sz="4200" b="1" dirty="0">
                <a:solidFill>
                  <a:srgbClr val="FFFFFF"/>
                </a:solidFill>
                <a:latin typeface="Cambria" pitchFamily="34" charset="0"/>
                <a:ea typeface="Cambria" pitchFamily="34" charset="-122"/>
                <a:cs typeface="Cambria" pitchFamily="34" charset="-120"/>
              </a:rPr>
              <a:t>&amp; Team Dashboard</a:t>
            </a:r>
            <a:endParaRPr lang="en-US" sz="4200" dirty="0"/>
          </a:p>
        </p:txBody>
      </p:sp>
      <p:sp>
        <p:nvSpPr>
          <p:cNvPr id="3" name="Text 1"/>
          <p:cNvSpPr txBox="1"/>
          <p:nvPr/>
        </p:nvSpPr>
        <p:spPr>
          <a:xfrm>
            <a:off x="640080" y="3611880"/>
            <a:ext cx="7863840" cy="365760"/>
          </a:xfrm>
          <a:prstGeom prst="rect">
            <a:avLst/>
          </a:prstGeom>
          <a:noFill/>
          <a:ln/>
        </p:spPr>
        <p:txBody>
          <a:bodyPr wrap="square" lIns="0" tIns="0" rIns="0" bIns="0" rtlCol="0" anchor="ctr"/>
          <a:lstStyle/>
          <a:p>
            <a:pPr indent="0" marL="0">
              <a:buNone/>
            </a:pPr>
            <a:r>
              <a:rPr lang="en-US" sz="1600" dirty="0">
                <a:solidFill>
                  <a:srgbClr val="8FBF9F"/>
                </a:solidFill>
                <a:latin typeface="Calibri" pitchFamily="34" charset="0"/>
                <a:ea typeface="Calibri" pitchFamily="34" charset="-122"/>
                <a:cs typeface="Calibri" pitchFamily="34" charset="-120"/>
              </a:rPr>
              <a:t>An internal tool for weekly reporting, review and correction</a:t>
            </a:r>
            <a:endParaRPr lang="en-US" sz="1600" dirty="0"/>
          </a:p>
        </p:txBody>
      </p:sp>
      <p:sp>
        <p:nvSpPr>
          <p:cNvPr id="4" name="Shape 2"/>
          <p:cNvSpPr/>
          <p:nvPr/>
        </p:nvSpPr>
        <p:spPr>
          <a:xfrm>
            <a:off x="640080" y="4343400"/>
            <a:ext cx="1417320" cy="310896"/>
          </a:xfrm>
          <a:prstGeom prst="roundRect">
            <a:avLst>
              <a:gd name="adj" fmla="val 50000"/>
            </a:avLst>
          </a:prstGeom>
          <a:solidFill>
            <a:srgbClr val="2C6B52"/>
          </a:solidFill>
          <a:ln w="12700">
            <a:solidFill>
              <a:srgbClr val="2C6B52"/>
            </a:solidFill>
            <a:prstDash val="solid"/>
          </a:ln>
        </p:spPr>
      </p:sp>
      <p:sp>
        <p:nvSpPr>
          <p:cNvPr id="5" name="Text 3"/>
          <p:cNvSpPr txBox="1"/>
          <p:nvPr/>
        </p:nvSpPr>
        <p:spPr>
          <a:xfrm>
            <a:off x="640080" y="4343400"/>
            <a:ext cx="141732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Next.js</a:t>
            </a:r>
            <a:endParaRPr lang="en-US" sz="1150" dirty="0"/>
          </a:p>
        </p:txBody>
      </p:sp>
      <p:sp>
        <p:nvSpPr>
          <p:cNvPr id="6" name="Shape 4"/>
          <p:cNvSpPr/>
          <p:nvPr/>
        </p:nvSpPr>
        <p:spPr>
          <a:xfrm>
            <a:off x="2212848" y="4343400"/>
            <a:ext cx="1417320" cy="310896"/>
          </a:xfrm>
          <a:prstGeom prst="roundRect">
            <a:avLst>
              <a:gd name="adj" fmla="val 50000"/>
            </a:avLst>
          </a:prstGeom>
          <a:solidFill>
            <a:srgbClr val="2C6B52"/>
          </a:solidFill>
          <a:ln w="12700">
            <a:solidFill>
              <a:srgbClr val="2C6B52"/>
            </a:solidFill>
            <a:prstDash val="solid"/>
          </a:ln>
        </p:spPr>
      </p:sp>
      <p:sp>
        <p:nvSpPr>
          <p:cNvPr id="7" name="Text 5"/>
          <p:cNvSpPr txBox="1"/>
          <p:nvPr/>
        </p:nvSpPr>
        <p:spPr>
          <a:xfrm>
            <a:off x="2212848" y="4343400"/>
            <a:ext cx="141732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Express</a:t>
            </a:r>
            <a:endParaRPr lang="en-US" sz="1150" dirty="0"/>
          </a:p>
        </p:txBody>
      </p:sp>
      <p:sp>
        <p:nvSpPr>
          <p:cNvPr id="8" name="Shape 6"/>
          <p:cNvSpPr/>
          <p:nvPr/>
        </p:nvSpPr>
        <p:spPr>
          <a:xfrm>
            <a:off x="3785616" y="4343400"/>
            <a:ext cx="1417320" cy="310896"/>
          </a:xfrm>
          <a:prstGeom prst="roundRect">
            <a:avLst>
              <a:gd name="adj" fmla="val 50000"/>
            </a:avLst>
          </a:prstGeom>
          <a:solidFill>
            <a:srgbClr val="2C6B52"/>
          </a:solidFill>
          <a:ln w="12700">
            <a:solidFill>
              <a:srgbClr val="2C6B52"/>
            </a:solidFill>
            <a:prstDash val="solid"/>
          </a:ln>
        </p:spPr>
      </p:sp>
      <p:sp>
        <p:nvSpPr>
          <p:cNvPr id="9" name="Text 7"/>
          <p:cNvSpPr txBox="1"/>
          <p:nvPr/>
        </p:nvSpPr>
        <p:spPr>
          <a:xfrm>
            <a:off x="3785616" y="4343400"/>
            <a:ext cx="141732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PostgreSQL</a:t>
            </a:r>
            <a:endParaRPr lang="en-US" sz="1150" dirty="0"/>
          </a:p>
        </p:txBody>
      </p:sp>
      <p:sp>
        <p:nvSpPr>
          <p:cNvPr id="10" name="Shape 8"/>
          <p:cNvSpPr/>
          <p:nvPr/>
        </p:nvSpPr>
        <p:spPr>
          <a:xfrm>
            <a:off x="5358384" y="4343400"/>
            <a:ext cx="1417320" cy="310896"/>
          </a:xfrm>
          <a:prstGeom prst="roundRect">
            <a:avLst>
              <a:gd name="adj" fmla="val 50000"/>
            </a:avLst>
          </a:prstGeom>
          <a:solidFill>
            <a:srgbClr val="2C6B52"/>
          </a:solidFill>
          <a:ln w="12700">
            <a:solidFill>
              <a:srgbClr val="2C6B52"/>
            </a:solidFill>
            <a:prstDash val="solid"/>
          </a:ln>
        </p:spPr>
      </p:sp>
      <p:sp>
        <p:nvSpPr>
          <p:cNvPr id="11" name="Text 9"/>
          <p:cNvSpPr txBox="1"/>
          <p:nvPr/>
        </p:nvSpPr>
        <p:spPr>
          <a:xfrm>
            <a:off x="5358384" y="4343400"/>
            <a:ext cx="141732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Prisma</a:t>
            </a:r>
            <a:endParaRPr lang="en-US" sz="1150" dirty="0"/>
          </a:p>
        </p:txBody>
      </p:sp>
      <p:sp>
        <p:nvSpPr>
          <p:cNvPr id="12" name="Text 10"/>
          <p:cNvSpPr txBox="1"/>
          <p:nvPr/>
        </p:nvSpPr>
        <p:spPr>
          <a:xfrm>
            <a:off x="640080" y="5943600"/>
            <a:ext cx="10881360" cy="320040"/>
          </a:xfrm>
          <a:prstGeom prst="rect">
            <a:avLst/>
          </a:prstGeom>
          <a:noFill/>
          <a:ln/>
        </p:spPr>
        <p:txBody>
          <a:bodyPr wrap="square" lIns="0" tIns="0" rIns="0" bIns="0" rtlCol="0" anchor="ctr"/>
          <a:lstStyle/>
          <a:p>
            <a:pPr indent="0" marL="0">
              <a:buNone/>
            </a:pPr>
            <a:r>
              <a:rPr lang="en-US" sz="1200" dirty="0">
                <a:solidFill>
                  <a:srgbClr val="8FBF9F"/>
                </a:solidFill>
                <a:latin typeface="Calibri" pitchFamily="34" charset="0"/>
                <a:ea typeface="Calibri" pitchFamily="34" charset="-122"/>
                <a:cs typeface="Calibri" pitchFamily="34" charset="-120"/>
              </a:rPr>
              <a:t>Your name  ·  github.com/RVViduranga/weekly-report-dashboard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indent="0" marL="0">
              <a:buNone/>
            </a:pPr>
            <a:r>
              <a:rPr lang="en-US" sz="1100" b="1" spc="200" kern="0" dirty="0">
                <a:solidFill>
                  <a:srgbClr val="C8873A"/>
                </a:solidFill>
                <a:latin typeface="Calibri" pitchFamily="34" charset="0"/>
                <a:ea typeface="Calibri" pitchFamily="34" charset="-122"/>
                <a:cs typeface="Calibri" pitchFamily="34" charset="-120"/>
              </a:rPr>
              <a:t>THE PROBLEM</a:t>
            </a:r>
            <a:endParaRPr lang="en-US" sz="1100" dirty="0"/>
          </a:p>
        </p:txBody>
      </p:sp>
      <p:sp>
        <p:nvSpPr>
          <p:cNvPr id="3" name="Text 1"/>
          <p:cNvSpPr txBox="1"/>
          <p:nvPr/>
        </p:nvSpPr>
        <p:spPr>
          <a:xfrm>
            <a:off x="640080" y="685800"/>
            <a:ext cx="10881360" cy="685800"/>
          </a:xfrm>
          <a:prstGeom prst="rect">
            <a:avLst/>
          </a:prstGeom>
          <a:noFill/>
          <a:ln/>
        </p:spPr>
        <p:txBody>
          <a:bodyPr wrap="square" lIns="0" tIns="0" rIns="0" bIns="0" rtlCol="0" anchor="ctr"/>
          <a:lstStyle/>
          <a:p>
            <a:pPr indent="0" marL="0">
              <a:buNone/>
            </a:pPr>
            <a:r>
              <a:rPr lang="en-US" sz="3400" b="1" dirty="0">
                <a:solidFill>
                  <a:srgbClr val="17211C"/>
                </a:solidFill>
                <a:latin typeface="Cambria" pitchFamily="34" charset="0"/>
                <a:ea typeface="Cambria" pitchFamily="34" charset="-122"/>
                <a:cs typeface="Cambria" pitchFamily="34" charset="-120"/>
              </a:rPr>
              <a:t>Weekly reports live in chat messages</a:t>
            </a:r>
            <a:endParaRPr lang="en-US" sz="3400" dirty="0"/>
          </a:p>
        </p:txBody>
      </p:sp>
      <p:sp>
        <p:nvSpPr>
          <p:cNvPr id="4" name="Text 2"/>
          <p:cNvSpPr txBox="1"/>
          <p:nvPr/>
        </p:nvSpPr>
        <p:spPr>
          <a:xfrm>
            <a:off x="640080" y="1508760"/>
            <a:ext cx="7680960" cy="548640"/>
          </a:xfrm>
          <a:prstGeom prst="rect">
            <a:avLst/>
          </a:prstGeom>
          <a:noFill/>
          <a:ln/>
        </p:spPr>
        <p:txBody>
          <a:bodyPr wrap="square" lIns="0" tIns="0" rIns="0" bIns="0" rtlCol="0" anchor="ctr"/>
          <a:lstStyle/>
          <a:p>
            <a:pPr indent="0" marL="0">
              <a:buNone/>
            </a:pPr>
            <a:r>
              <a:rPr lang="en-US" sz="1500" dirty="0">
                <a:solidFill>
                  <a:srgbClr val="6B776F"/>
                </a:solidFill>
                <a:latin typeface="Calibri" pitchFamily="34" charset="0"/>
                <a:ea typeface="Calibri" pitchFamily="34" charset="-122"/>
                <a:cs typeface="Calibri" pitchFamily="34" charset="-120"/>
              </a:rPr>
              <a:t>Nothing is comparable across people, feedback gets lost, and last week's version is gone the moment someone edits it.</a:t>
            </a:r>
            <a:endParaRPr lang="en-US" sz="1500" dirty="0"/>
          </a:p>
        </p:txBody>
      </p:sp>
      <p:sp>
        <p:nvSpPr>
          <p:cNvPr id="5" name="Shape 3"/>
          <p:cNvSpPr/>
          <p:nvPr/>
        </p:nvSpPr>
        <p:spPr>
          <a:xfrm>
            <a:off x="640080" y="2377440"/>
            <a:ext cx="3474720" cy="2194560"/>
          </a:xfrm>
          <a:prstGeom prst="roundRect">
            <a:avLst>
              <a:gd name="adj" fmla="val 3750"/>
            </a:avLst>
          </a:prstGeom>
          <a:solidFill>
            <a:srgbClr val="EFF4F0"/>
          </a:solidFill>
          <a:ln w="12700">
            <a:solidFill>
              <a:srgbClr val="EFF4F0"/>
            </a:solidFill>
            <a:prstDash val="solid"/>
          </a:ln>
        </p:spPr>
      </p:sp>
      <p:sp>
        <p:nvSpPr>
          <p:cNvPr id="6" name="Text 4"/>
          <p:cNvSpPr txBox="1"/>
          <p:nvPr/>
        </p:nvSpPr>
        <p:spPr>
          <a:xfrm>
            <a:off x="896112" y="2578608"/>
            <a:ext cx="2962656" cy="310896"/>
          </a:xfrm>
          <a:prstGeom prst="rect">
            <a:avLst/>
          </a:prstGeom>
          <a:noFill/>
          <a:ln/>
        </p:spPr>
        <p:txBody>
          <a:bodyPr wrap="square" lIns="0" tIns="0" rIns="0" bIns="0" rtlCol="0" anchor="ctr"/>
          <a:lstStyle/>
          <a:p>
            <a:pPr indent="0" marL="0">
              <a:buNone/>
            </a:pPr>
            <a:r>
              <a:rPr lang="en-US" sz="1700" b="1" dirty="0">
                <a:solidFill>
                  <a:srgbClr val="1F4D3A"/>
                </a:solidFill>
                <a:latin typeface="Cambria" pitchFamily="34" charset="0"/>
                <a:ea typeface="Cambria" pitchFamily="34" charset="-122"/>
                <a:cs typeface="Cambria" pitchFamily="34" charset="-120"/>
              </a:rPr>
              <a:t>One fixed structure</a:t>
            </a:r>
            <a:endParaRPr lang="en-US" sz="1700" dirty="0"/>
          </a:p>
        </p:txBody>
      </p:sp>
      <p:sp>
        <p:nvSpPr>
          <p:cNvPr id="7" name="Text 5"/>
          <p:cNvSpPr txBox="1"/>
          <p:nvPr/>
        </p:nvSpPr>
        <p:spPr>
          <a:xfrm>
            <a:off x="896112" y="2999232"/>
            <a:ext cx="2962656" cy="1408176"/>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17211C"/>
                </a:solidFill>
                <a:latin typeface="Calibri" pitchFamily="34" charset="0"/>
                <a:ea typeface="Calibri" pitchFamily="34" charset="-122"/>
                <a:cs typeface="Calibri" pitchFamily="34" charset="-120"/>
              </a:rPr>
              <a:t>The same fields, same order, for the whole team - so a manager can actually compare</a:t>
            </a:r>
            <a:endParaRPr lang="en-US" sz="1300" dirty="0"/>
          </a:p>
        </p:txBody>
      </p:sp>
      <p:sp>
        <p:nvSpPr>
          <p:cNvPr id="8" name="Shape 6"/>
          <p:cNvSpPr/>
          <p:nvPr/>
        </p:nvSpPr>
        <p:spPr>
          <a:xfrm>
            <a:off x="4343400" y="2377440"/>
            <a:ext cx="3474720" cy="2194560"/>
          </a:xfrm>
          <a:prstGeom prst="roundRect">
            <a:avLst>
              <a:gd name="adj" fmla="val 3750"/>
            </a:avLst>
          </a:prstGeom>
          <a:solidFill>
            <a:srgbClr val="EFF4F0"/>
          </a:solidFill>
          <a:ln w="12700">
            <a:solidFill>
              <a:srgbClr val="EFF4F0"/>
            </a:solidFill>
            <a:prstDash val="solid"/>
          </a:ln>
        </p:spPr>
      </p:sp>
      <p:sp>
        <p:nvSpPr>
          <p:cNvPr id="9" name="Text 7"/>
          <p:cNvSpPr txBox="1"/>
          <p:nvPr/>
        </p:nvSpPr>
        <p:spPr>
          <a:xfrm>
            <a:off x="4599432" y="2578608"/>
            <a:ext cx="2962656" cy="310896"/>
          </a:xfrm>
          <a:prstGeom prst="rect">
            <a:avLst/>
          </a:prstGeom>
          <a:noFill/>
          <a:ln/>
        </p:spPr>
        <p:txBody>
          <a:bodyPr wrap="square" lIns="0" tIns="0" rIns="0" bIns="0" rtlCol="0" anchor="ctr"/>
          <a:lstStyle/>
          <a:p>
            <a:pPr indent="0" marL="0">
              <a:buNone/>
            </a:pPr>
            <a:r>
              <a:rPr lang="en-US" sz="1700" b="1" dirty="0">
                <a:solidFill>
                  <a:srgbClr val="1F4D3A"/>
                </a:solidFill>
                <a:latin typeface="Cambria" pitchFamily="34" charset="0"/>
                <a:ea typeface="Cambria" pitchFamily="34" charset="-122"/>
                <a:cs typeface="Cambria" pitchFamily="34" charset="-120"/>
              </a:rPr>
              <a:t>A review cycle</a:t>
            </a:r>
            <a:endParaRPr lang="en-US" sz="1700" dirty="0"/>
          </a:p>
        </p:txBody>
      </p:sp>
      <p:sp>
        <p:nvSpPr>
          <p:cNvPr id="10" name="Text 8"/>
          <p:cNvSpPr txBox="1"/>
          <p:nvPr/>
        </p:nvSpPr>
        <p:spPr>
          <a:xfrm>
            <a:off x="4599432" y="2999232"/>
            <a:ext cx="2962656" cy="1408176"/>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17211C"/>
                </a:solidFill>
                <a:latin typeface="Calibri" pitchFamily="34" charset="0"/>
                <a:ea typeface="Calibri" pitchFamily="34" charset="-122"/>
                <a:cs typeface="Calibri" pitchFamily="34" charset="-120"/>
              </a:rPr>
              <a:t>Not a one-way submission. Send it back with a comment, get it again</a:t>
            </a:r>
            <a:endParaRPr lang="en-US" sz="1300" dirty="0"/>
          </a:p>
        </p:txBody>
      </p:sp>
      <p:sp>
        <p:nvSpPr>
          <p:cNvPr id="11" name="Shape 9"/>
          <p:cNvSpPr/>
          <p:nvPr/>
        </p:nvSpPr>
        <p:spPr>
          <a:xfrm>
            <a:off x="8046720" y="2377440"/>
            <a:ext cx="3474720" cy="2194560"/>
          </a:xfrm>
          <a:prstGeom prst="roundRect">
            <a:avLst>
              <a:gd name="adj" fmla="val 3750"/>
            </a:avLst>
          </a:prstGeom>
          <a:solidFill>
            <a:srgbClr val="EFF4F0"/>
          </a:solidFill>
          <a:ln w="12700">
            <a:solidFill>
              <a:srgbClr val="EFF4F0"/>
            </a:solidFill>
            <a:prstDash val="solid"/>
          </a:ln>
        </p:spPr>
      </p:sp>
      <p:sp>
        <p:nvSpPr>
          <p:cNvPr id="12" name="Text 10"/>
          <p:cNvSpPr txBox="1"/>
          <p:nvPr/>
        </p:nvSpPr>
        <p:spPr>
          <a:xfrm>
            <a:off x="8302752" y="2578608"/>
            <a:ext cx="2962656" cy="310896"/>
          </a:xfrm>
          <a:prstGeom prst="rect">
            <a:avLst/>
          </a:prstGeom>
          <a:noFill/>
          <a:ln/>
        </p:spPr>
        <p:txBody>
          <a:bodyPr wrap="square" lIns="0" tIns="0" rIns="0" bIns="0" rtlCol="0" anchor="ctr"/>
          <a:lstStyle/>
          <a:p>
            <a:pPr indent="0" marL="0">
              <a:buNone/>
            </a:pPr>
            <a:r>
              <a:rPr lang="en-US" sz="1700" b="1" dirty="0">
                <a:solidFill>
                  <a:srgbClr val="1F4D3A"/>
                </a:solidFill>
                <a:latin typeface="Cambria" pitchFamily="34" charset="0"/>
                <a:ea typeface="Cambria" pitchFamily="34" charset="-122"/>
                <a:cs typeface="Cambria" pitchFamily="34" charset="-120"/>
              </a:rPr>
              <a:t>History is never lost</a:t>
            </a:r>
            <a:endParaRPr lang="en-US" sz="1700" dirty="0"/>
          </a:p>
        </p:txBody>
      </p:sp>
      <p:sp>
        <p:nvSpPr>
          <p:cNvPr id="13" name="Text 11"/>
          <p:cNvSpPr txBox="1"/>
          <p:nvPr/>
        </p:nvSpPr>
        <p:spPr>
          <a:xfrm>
            <a:off x="8302752" y="2999232"/>
            <a:ext cx="2962656" cy="1408176"/>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17211C"/>
                </a:solidFill>
                <a:latin typeface="Calibri" pitchFamily="34" charset="0"/>
                <a:ea typeface="Calibri" pitchFamily="34" charset="-122"/>
                <a:cs typeface="Calibri" pitchFamily="34" charset="-120"/>
              </a:rPr>
              <a:t>Older versions stay readable, and each comment stays attached to its version</a:t>
            </a:r>
            <a:endParaRPr lang="en-US" sz="1300" dirty="0"/>
          </a:p>
        </p:txBody>
      </p:sp>
      <p:sp>
        <p:nvSpPr>
          <p:cNvPr id="14" name="Text 12"/>
          <p:cNvSpPr txBox="1"/>
          <p:nvPr/>
        </p:nvSpPr>
        <p:spPr>
          <a:xfrm>
            <a:off x="640080" y="4892040"/>
            <a:ext cx="10881360" cy="365760"/>
          </a:xfrm>
          <a:prstGeom prst="rect">
            <a:avLst/>
          </a:prstGeom>
          <a:noFill/>
          <a:ln/>
        </p:spPr>
        <p:txBody>
          <a:bodyPr wrap="square" lIns="0" tIns="0" rIns="0" bIns="0" rtlCol="0" anchor="ctr"/>
          <a:lstStyle/>
          <a:p>
            <a:pPr indent="0" marL="0">
              <a:buNone/>
            </a:pPr>
            <a:r>
              <a:rPr lang="en-US" sz="1400" i="1" dirty="0">
                <a:solidFill>
                  <a:srgbClr val="1F4D3A"/>
                </a:solidFill>
                <a:latin typeface="Calibri" pitchFamily="34" charset="0"/>
                <a:ea typeface="Calibri" pitchFamily="34" charset="-122"/>
                <a:cs typeface="Calibri" pitchFamily="34" charset="-120"/>
              </a:rPr>
              <a:t>These three requirements shaped every decision that follows.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indent="0" marL="0">
              <a:buNone/>
            </a:pPr>
            <a:r>
              <a:rPr lang="en-US" sz="1100" b="1" spc="200" kern="0" dirty="0">
                <a:solidFill>
                  <a:srgbClr val="C8873A"/>
                </a:solidFill>
                <a:latin typeface="Calibri" pitchFamily="34" charset="0"/>
                <a:ea typeface="Calibri" pitchFamily="34" charset="-122"/>
                <a:cs typeface="Calibri" pitchFamily="34" charset="-120"/>
              </a:rPr>
              <a:t>SYSTEM ARCHITECTURE</a:t>
            </a:r>
            <a:endParaRPr lang="en-US" sz="1100" dirty="0"/>
          </a:p>
        </p:txBody>
      </p:sp>
      <p:sp>
        <p:nvSpPr>
          <p:cNvPr id="3" name="Text 1"/>
          <p:cNvSpPr txBox="1"/>
          <p:nvPr/>
        </p:nvSpPr>
        <p:spPr>
          <a:xfrm>
            <a:off x="640080" y="685800"/>
            <a:ext cx="10881360" cy="685800"/>
          </a:xfrm>
          <a:prstGeom prst="rect">
            <a:avLst/>
          </a:prstGeom>
          <a:noFill/>
          <a:ln/>
        </p:spPr>
        <p:txBody>
          <a:bodyPr wrap="square" lIns="0" tIns="0" rIns="0" bIns="0" rtlCol="0" anchor="ctr"/>
          <a:lstStyle/>
          <a:p>
            <a:pPr indent="0" marL="0">
              <a:buNone/>
            </a:pPr>
            <a:r>
              <a:rPr lang="en-US" sz="3400" b="1" dirty="0">
                <a:solidFill>
                  <a:srgbClr val="17211C"/>
                </a:solidFill>
                <a:latin typeface="Cambria" pitchFamily="34" charset="0"/>
                <a:ea typeface="Cambria" pitchFamily="34" charset="-122"/>
                <a:cs typeface="Cambria" pitchFamily="34" charset="-120"/>
              </a:rPr>
              <a:t>Three pieces, one direction of trust</a:t>
            </a:r>
            <a:endParaRPr lang="en-US" sz="3400" dirty="0"/>
          </a:p>
        </p:txBody>
      </p:sp>
      <p:sp>
        <p:nvSpPr>
          <p:cNvPr id="4" name="Shape 2"/>
          <p:cNvSpPr/>
          <p:nvPr/>
        </p:nvSpPr>
        <p:spPr>
          <a:xfrm>
            <a:off x="640080" y="1920240"/>
            <a:ext cx="3108960" cy="1691640"/>
          </a:xfrm>
          <a:prstGeom prst="roundRect">
            <a:avLst>
              <a:gd name="adj" fmla="val 5405"/>
            </a:avLst>
          </a:prstGeom>
          <a:solidFill>
            <a:srgbClr val="EFF4F0"/>
          </a:solidFill>
          <a:ln w="12700">
            <a:solidFill>
              <a:srgbClr val="EFF4F0"/>
            </a:solidFill>
            <a:prstDash val="solid"/>
          </a:ln>
        </p:spPr>
      </p:sp>
      <p:sp>
        <p:nvSpPr>
          <p:cNvPr id="5" name="Text 3"/>
          <p:cNvSpPr txBox="1"/>
          <p:nvPr/>
        </p:nvSpPr>
        <p:spPr>
          <a:xfrm>
            <a:off x="868680" y="2148840"/>
            <a:ext cx="2651760" cy="365760"/>
          </a:xfrm>
          <a:prstGeom prst="rect">
            <a:avLst/>
          </a:prstGeom>
          <a:noFill/>
          <a:ln/>
        </p:spPr>
        <p:txBody>
          <a:bodyPr wrap="square" lIns="0" tIns="0" rIns="0" bIns="0" rtlCol="0" anchor="ctr"/>
          <a:lstStyle/>
          <a:p>
            <a:pPr indent="0" marL="0">
              <a:buNone/>
            </a:pPr>
            <a:r>
              <a:rPr lang="en-US" sz="1700" b="1" dirty="0">
                <a:solidFill>
                  <a:srgbClr val="17211C"/>
                </a:solidFill>
                <a:latin typeface="Cambria" pitchFamily="34" charset="0"/>
                <a:ea typeface="Cambria" pitchFamily="34" charset="-122"/>
                <a:cs typeface="Cambria" pitchFamily="34" charset="-120"/>
              </a:rPr>
              <a:t>Next.js frontend</a:t>
            </a:r>
            <a:endParaRPr lang="en-US" sz="1700" dirty="0"/>
          </a:p>
        </p:txBody>
      </p:sp>
      <p:sp>
        <p:nvSpPr>
          <p:cNvPr id="6" name="Text 4"/>
          <p:cNvSpPr txBox="1"/>
          <p:nvPr/>
        </p:nvSpPr>
        <p:spPr>
          <a:xfrm>
            <a:off x="868680" y="2560320"/>
            <a:ext cx="2651760" cy="868680"/>
          </a:xfrm>
          <a:prstGeom prst="rect">
            <a:avLst/>
          </a:prstGeom>
          <a:noFill/>
          <a:ln/>
        </p:spPr>
        <p:txBody>
          <a:bodyPr wrap="square" lIns="0" tIns="0" rIns="0" bIns="0" rtlCol="0" anchor="ctr"/>
          <a:lstStyle/>
          <a:p>
            <a:pPr indent="0" marL="0">
              <a:buNone/>
            </a:pPr>
            <a:r>
              <a:rPr lang="en-US" sz="1250" dirty="0">
                <a:solidFill>
                  <a:srgbClr val="6B776F"/>
                </a:solidFill>
                <a:latin typeface="Calibri" pitchFamily="34" charset="0"/>
                <a:ea typeface="Calibri" pitchFamily="34" charset="-122"/>
                <a:cs typeface="Calibri" pitchFamily="34" charset="-120"/>
              </a:rPr>
              <a:t>React 19 · Tailwind</a:t>
            </a:r>
            <a:endParaRPr lang="en-US" sz="1250" dirty="0"/>
          </a:p>
          <a:p>
            <a:pPr indent="0" marL="0">
              <a:buNone/>
            </a:pPr>
            <a:r>
              <a:rPr lang="en-US" sz="1250" dirty="0">
                <a:solidFill>
                  <a:srgbClr val="6B776F"/>
                </a:solidFill>
                <a:latin typeface="Calibri" pitchFamily="34" charset="0"/>
                <a:ea typeface="Calibri" pitchFamily="34" charset="-122"/>
                <a:cs typeface="Calibri" pitchFamily="34" charset="-120"/>
              </a:rPr>
              <a:t>12 pages, browser only</a:t>
            </a:r>
            <a:endParaRPr lang="en-US" sz="1250" dirty="0"/>
          </a:p>
        </p:txBody>
      </p:sp>
      <p:sp>
        <p:nvSpPr>
          <p:cNvPr id="7" name="Shape 5"/>
          <p:cNvSpPr/>
          <p:nvPr/>
        </p:nvSpPr>
        <p:spPr>
          <a:xfrm>
            <a:off x="4526280" y="1920240"/>
            <a:ext cx="3108960" cy="1691640"/>
          </a:xfrm>
          <a:prstGeom prst="roundRect">
            <a:avLst>
              <a:gd name="adj" fmla="val 5405"/>
            </a:avLst>
          </a:prstGeom>
          <a:solidFill>
            <a:srgbClr val="1F4D3A"/>
          </a:solidFill>
          <a:ln w="12700">
            <a:solidFill>
              <a:srgbClr val="1F4D3A"/>
            </a:solidFill>
            <a:prstDash val="solid"/>
          </a:ln>
        </p:spPr>
      </p:sp>
      <p:sp>
        <p:nvSpPr>
          <p:cNvPr id="8" name="Text 6"/>
          <p:cNvSpPr txBox="1"/>
          <p:nvPr/>
        </p:nvSpPr>
        <p:spPr>
          <a:xfrm>
            <a:off x="4754880" y="2148840"/>
            <a:ext cx="265176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Express REST API</a:t>
            </a:r>
            <a:endParaRPr lang="en-US" sz="1700" dirty="0"/>
          </a:p>
        </p:txBody>
      </p:sp>
      <p:sp>
        <p:nvSpPr>
          <p:cNvPr id="9" name="Text 7"/>
          <p:cNvSpPr txBox="1"/>
          <p:nvPr/>
        </p:nvSpPr>
        <p:spPr>
          <a:xfrm>
            <a:off x="4754880" y="2560320"/>
            <a:ext cx="2651760" cy="868680"/>
          </a:xfrm>
          <a:prstGeom prst="rect">
            <a:avLst/>
          </a:prstGeom>
          <a:noFill/>
          <a:ln/>
        </p:spPr>
        <p:txBody>
          <a:bodyPr wrap="square" lIns="0" tIns="0" rIns="0" bIns="0" rtlCol="0" anchor="ctr"/>
          <a:lstStyle/>
          <a:p>
            <a:pPr indent="0" marL="0">
              <a:buNone/>
            </a:pPr>
            <a:r>
              <a:rPr lang="en-US" sz="1250" dirty="0">
                <a:solidFill>
                  <a:srgbClr val="8FBF9F"/>
                </a:solidFill>
                <a:latin typeface="Calibri" pitchFamily="34" charset="0"/>
                <a:ea typeface="Calibri" pitchFamily="34" charset="-122"/>
                <a:cs typeface="Calibri" pitchFamily="34" charset="-120"/>
              </a:rPr>
              <a:t>TypeScript · Prisma</a:t>
            </a:r>
            <a:endParaRPr lang="en-US" sz="1250" dirty="0"/>
          </a:p>
          <a:p>
            <a:pPr indent="0" marL="0">
              <a:buNone/>
            </a:pPr>
            <a:r>
              <a:rPr lang="en-US" sz="1250" dirty="0">
                <a:solidFill>
                  <a:srgbClr val="8FBF9F"/>
                </a:solidFill>
                <a:latin typeface="Calibri" pitchFamily="34" charset="0"/>
                <a:ea typeface="Calibri" pitchFamily="34" charset="-122"/>
                <a:cs typeface="Calibri" pitchFamily="34" charset="-120"/>
              </a:rPr>
              <a:t>Every rule enforced here</a:t>
            </a:r>
            <a:endParaRPr lang="en-US" sz="1250" dirty="0"/>
          </a:p>
        </p:txBody>
      </p:sp>
      <p:sp>
        <p:nvSpPr>
          <p:cNvPr id="10" name="Shape 8"/>
          <p:cNvSpPr/>
          <p:nvPr/>
        </p:nvSpPr>
        <p:spPr>
          <a:xfrm>
            <a:off x="8412480" y="1920240"/>
            <a:ext cx="3108960" cy="1691640"/>
          </a:xfrm>
          <a:prstGeom prst="roundRect">
            <a:avLst>
              <a:gd name="adj" fmla="val 5405"/>
            </a:avLst>
          </a:prstGeom>
          <a:solidFill>
            <a:srgbClr val="EFF4F0"/>
          </a:solidFill>
          <a:ln w="12700">
            <a:solidFill>
              <a:srgbClr val="EFF4F0"/>
            </a:solidFill>
            <a:prstDash val="solid"/>
          </a:ln>
        </p:spPr>
      </p:sp>
      <p:sp>
        <p:nvSpPr>
          <p:cNvPr id="11" name="Text 9"/>
          <p:cNvSpPr txBox="1"/>
          <p:nvPr/>
        </p:nvSpPr>
        <p:spPr>
          <a:xfrm>
            <a:off x="8641080" y="2148840"/>
            <a:ext cx="2651760" cy="365760"/>
          </a:xfrm>
          <a:prstGeom prst="rect">
            <a:avLst/>
          </a:prstGeom>
          <a:noFill/>
          <a:ln/>
        </p:spPr>
        <p:txBody>
          <a:bodyPr wrap="square" lIns="0" tIns="0" rIns="0" bIns="0" rtlCol="0" anchor="ctr"/>
          <a:lstStyle/>
          <a:p>
            <a:pPr indent="0" marL="0">
              <a:buNone/>
            </a:pPr>
            <a:r>
              <a:rPr lang="en-US" sz="1700" b="1" dirty="0">
                <a:solidFill>
                  <a:srgbClr val="17211C"/>
                </a:solidFill>
                <a:latin typeface="Cambria" pitchFamily="34" charset="0"/>
                <a:ea typeface="Cambria" pitchFamily="34" charset="-122"/>
                <a:cs typeface="Cambria" pitchFamily="34" charset="-120"/>
              </a:rPr>
              <a:t>PostgreSQL</a:t>
            </a:r>
            <a:endParaRPr lang="en-US" sz="1700" dirty="0"/>
          </a:p>
        </p:txBody>
      </p:sp>
      <p:sp>
        <p:nvSpPr>
          <p:cNvPr id="12" name="Text 10"/>
          <p:cNvSpPr txBox="1"/>
          <p:nvPr/>
        </p:nvSpPr>
        <p:spPr>
          <a:xfrm>
            <a:off x="8641080" y="2560320"/>
            <a:ext cx="2651760" cy="868680"/>
          </a:xfrm>
          <a:prstGeom prst="rect">
            <a:avLst/>
          </a:prstGeom>
          <a:noFill/>
          <a:ln/>
        </p:spPr>
        <p:txBody>
          <a:bodyPr wrap="square" lIns="0" tIns="0" rIns="0" bIns="0" rtlCol="0" anchor="ctr"/>
          <a:lstStyle/>
          <a:p>
            <a:pPr indent="0" marL="0">
              <a:buNone/>
            </a:pPr>
            <a:r>
              <a:rPr lang="en-US" sz="1250" dirty="0">
                <a:solidFill>
                  <a:srgbClr val="6B776F"/>
                </a:solidFill>
                <a:latin typeface="Calibri" pitchFamily="34" charset="0"/>
                <a:ea typeface="Calibri" pitchFamily="34" charset="-122"/>
                <a:cs typeface="Calibri" pitchFamily="34" charset="-120"/>
              </a:rPr>
              <a:t>Neon, Singapore region</a:t>
            </a:r>
            <a:endParaRPr lang="en-US" sz="1250" dirty="0"/>
          </a:p>
          <a:p>
            <a:pPr indent="0" marL="0">
              <a:buNone/>
            </a:pPr>
            <a:r>
              <a:rPr lang="en-US" sz="1250" dirty="0">
                <a:solidFill>
                  <a:srgbClr val="6B776F"/>
                </a:solidFill>
                <a:latin typeface="Calibri" pitchFamily="34" charset="0"/>
                <a:ea typeface="Calibri" pitchFamily="34" charset="-122"/>
                <a:cs typeface="Calibri" pitchFamily="34" charset="-120"/>
              </a:rPr>
              <a:t>Constraints in the schema</a:t>
            </a:r>
            <a:endParaRPr lang="en-US" sz="1250" dirty="0"/>
          </a:p>
        </p:txBody>
      </p:sp>
      <p:sp>
        <p:nvSpPr>
          <p:cNvPr id="13" name="Shape 11"/>
          <p:cNvSpPr/>
          <p:nvPr/>
        </p:nvSpPr>
        <p:spPr>
          <a:xfrm>
            <a:off x="3913632" y="2633472"/>
            <a:ext cx="457200" cy="274320"/>
          </a:xfrm>
          <a:prstGeom prst="rightArrow">
            <a:avLst/>
          </a:prstGeom>
          <a:solidFill>
            <a:srgbClr val="8FBF9F"/>
          </a:solidFill>
          <a:ln w="12700">
            <a:solidFill>
              <a:srgbClr val="8FBF9F"/>
            </a:solidFill>
            <a:prstDash val="solid"/>
          </a:ln>
        </p:spPr>
      </p:sp>
      <p:sp>
        <p:nvSpPr>
          <p:cNvPr id="14" name="Shape 12"/>
          <p:cNvSpPr/>
          <p:nvPr/>
        </p:nvSpPr>
        <p:spPr>
          <a:xfrm>
            <a:off x="7799832" y="2633472"/>
            <a:ext cx="457200" cy="274320"/>
          </a:xfrm>
          <a:prstGeom prst="rightArrow">
            <a:avLst/>
          </a:prstGeom>
          <a:solidFill>
            <a:srgbClr val="8FBF9F"/>
          </a:solidFill>
          <a:ln w="12700">
            <a:solidFill>
              <a:srgbClr val="8FBF9F"/>
            </a:solidFill>
            <a:prstDash val="solid"/>
          </a:ln>
        </p:spPr>
      </p:sp>
      <p:sp>
        <p:nvSpPr>
          <p:cNvPr id="15" name="Text 13"/>
          <p:cNvSpPr txBox="1"/>
          <p:nvPr/>
        </p:nvSpPr>
        <p:spPr>
          <a:xfrm>
            <a:off x="3593592" y="3648456"/>
            <a:ext cx="1234440" cy="256032"/>
          </a:xfrm>
          <a:prstGeom prst="rect">
            <a:avLst/>
          </a:prstGeom>
          <a:noFill/>
          <a:ln/>
        </p:spPr>
        <p:txBody>
          <a:bodyPr wrap="square" lIns="0" tIns="0" rIns="0" bIns="0" rtlCol="0" anchor="ctr"/>
          <a:lstStyle/>
          <a:p>
            <a:pPr algn="ctr" indent="0" marL="0">
              <a:buNone/>
            </a:pPr>
            <a:r>
              <a:rPr lang="en-US" sz="1050" dirty="0">
                <a:solidFill>
                  <a:srgbClr val="6B776F"/>
                </a:solidFill>
                <a:latin typeface="Calibri" pitchFamily="34" charset="0"/>
                <a:ea typeface="Calibri" pitchFamily="34" charset="-122"/>
                <a:cs typeface="Calibri" pitchFamily="34" charset="-120"/>
              </a:rPr>
              <a:t>fetch + cookie</a:t>
            </a:r>
            <a:endParaRPr lang="en-US" sz="1050" dirty="0"/>
          </a:p>
        </p:txBody>
      </p:sp>
      <p:sp>
        <p:nvSpPr>
          <p:cNvPr id="16" name="Text 14"/>
          <p:cNvSpPr txBox="1"/>
          <p:nvPr/>
        </p:nvSpPr>
        <p:spPr>
          <a:xfrm>
            <a:off x="7479792" y="3648456"/>
            <a:ext cx="1234440" cy="256032"/>
          </a:xfrm>
          <a:prstGeom prst="rect">
            <a:avLst/>
          </a:prstGeom>
          <a:noFill/>
          <a:ln/>
        </p:spPr>
        <p:txBody>
          <a:bodyPr wrap="square" lIns="0" tIns="0" rIns="0" bIns="0" rtlCol="0" anchor="ctr"/>
          <a:lstStyle/>
          <a:p>
            <a:pPr algn="ctr" indent="0" marL="0">
              <a:buNone/>
            </a:pPr>
            <a:r>
              <a:rPr lang="en-US" sz="1050" dirty="0">
                <a:solidFill>
                  <a:srgbClr val="6B776F"/>
                </a:solidFill>
                <a:latin typeface="Calibri" pitchFamily="34" charset="0"/>
                <a:ea typeface="Calibri" pitchFamily="34" charset="-122"/>
                <a:cs typeface="Calibri" pitchFamily="34" charset="-120"/>
              </a:rPr>
              <a:t>Prisma</a:t>
            </a:r>
            <a:endParaRPr lang="en-US" sz="1050" dirty="0"/>
          </a:p>
        </p:txBody>
      </p:sp>
      <p:sp>
        <p:nvSpPr>
          <p:cNvPr id="17" name="Shape 15"/>
          <p:cNvSpPr/>
          <p:nvPr/>
        </p:nvSpPr>
        <p:spPr>
          <a:xfrm>
            <a:off x="640080" y="3977640"/>
            <a:ext cx="10881360" cy="1463040"/>
          </a:xfrm>
          <a:prstGeom prst="roundRect">
            <a:avLst>
              <a:gd name="adj" fmla="val 5625"/>
            </a:avLst>
          </a:prstGeom>
          <a:solidFill>
            <a:srgbClr val="EFF4F0"/>
          </a:solidFill>
          <a:ln w="12700">
            <a:solidFill>
              <a:srgbClr val="EFF4F0"/>
            </a:solidFill>
            <a:prstDash val="solid"/>
          </a:ln>
        </p:spPr>
      </p:sp>
      <p:sp>
        <p:nvSpPr>
          <p:cNvPr id="18" name="Text 16"/>
          <p:cNvSpPr txBox="1"/>
          <p:nvPr/>
        </p:nvSpPr>
        <p:spPr>
          <a:xfrm>
            <a:off x="896112" y="4178808"/>
            <a:ext cx="10369296" cy="310896"/>
          </a:xfrm>
          <a:prstGeom prst="rect">
            <a:avLst/>
          </a:prstGeom>
          <a:noFill/>
          <a:ln/>
        </p:spPr>
        <p:txBody>
          <a:bodyPr wrap="square" lIns="0" tIns="0" rIns="0" bIns="0" rtlCol="0" anchor="ctr"/>
          <a:lstStyle/>
          <a:p>
            <a:pPr indent="0" marL="0">
              <a:buNone/>
            </a:pPr>
            <a:r>
              <a:rPr lang="en-US" sz="1600" b="1" dirty="0">
                <a:solidFill>
                  <a:srgbClr val="1F4D3A"/>
                </a:solidFill>
                <a:latin typeface="Cambria" pitchFamily="34" charset="0"/>
                <a:ea typeface="Cambria" pitchFamily="34" charset="-122"/>
                <a:cs typeface="Cambria" pitchFamily="34" charset="-120"/>
              </a:rPr>
              <a:t>The token lives in an httpOnly cookie</a:t>
            </a:r>
            <a:endParaRPr lang="en-US" sz="1600" dirty="0"/>
          </a:p>
        </p:txBody>
      </p:sp>
      <p:sp>
        <p:nvSpPr>
          <p:cNvPr id="19" name="Text 17"/>
          <p:cNvSpPr txBox="1"/>
          <p:nvPr/>
        </p:nvSpPr>
        <p:spPr>
          <a:xfrm>
            <a:off x="896112" y="4599432"/>
            <a:ext cx="10369296" cy="676656"/>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rgbClr val="17211C"/>
                </a:solidFill>
                <a:latin typeface="Calibri" pitchFamily="34" charset="0"/>
                <a:ea typeface="Calibri" pitchFamily="34" charset="-122"/>
                <a:cs typeface="Calibri" pitchFamily="34" charset="-120"/>
              </a:rPr>
              <a:t>Browser JavaScript cannot read it - so a script injected onto the page cannot steal the session</a:t>
            </a:r>
            <a:endParaRPr lang="en-US" sz="1350" dirty="0"/>
          </a:p>
          <a:p>
            <a:pPr marL="342900" indent="-342900">
              <a:spcAft>
                <a:spcPts val="500"/>
              </a:spcAft>
              <a:buSzPct val="100000"/>
              <a:buChar char="•"/>
            </a:pPr>
            <a:r>
              <a:rPr lang="en-US" sz="1350" dirty="0">
                <a:solidFill>
                  <a:srgbClr val="17211C"/>
                </a:solidFill>
                <a:latin typeface="Calibri" pitchFamily="34" charset="0"/>
                <a:ea typeface="Calibri" pitchFamily="34" charset="-122"/>
                <a:cs typeface="Calibri" pitchFamily="34" charset="-120"/>
              </a:rPr>
              <a:t>The frontend never touches the database; the API is the only path in</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indent="0" marL="0">
              <a:buNone/>
            </a:pPr>
            <a:r>
              <a:rPr lang="en-US" sz="1100" b="1" spc="200" kern="0" dirty="0">
                <a:solidFill>
                  <a:srgbClr val="C8873A"/>
                </a:solidFill>
                <a:latin typeface="Calibri" pitchFamily="34" charset="0"/>
                <a:ea typeface="Calibri" pitchFamily="34" charset="-122"/>
                <a:cs typeface="Calibri" pitchFamily="34" charset="-120"/>
              </a:rPr>
              <a:t>TECH STACK</a:t>
            </a:r>
            <a:endParaRPr lang="en-US" sz="1100" dirty="0"/>
          </a:p>
        </p:txBody>
      </p:sp>
      <p:sp>
        <p:nvSpPr>
          <p:cNvPr id="3" name="Text 1"/>
          <p:cNvSpPr txBox="1"/>
          <p:nvPr/>
        </p:nvSpPr>
        <p:spPr>
          <a:xfrm>
            <a:off x="640080" y="685800"/>
            <a:ext cx="10881360" cy="685800"/>
          </a:xfrm>
          <a:prstGeom prst="rect">
            <a:avLst/>
          </a:prstGeom>
          <a:noFill/>
          <a:ln/>
        </p:spPr>
        <p:txBody>
          <a:bodyPr wrap="square" lIns="0" tIns="0" rIns="0" bIns="0" rtlCol="0" anchor="ctr"/>
          <a:lstStyle/>
          <a:p>
            <a:pPr indent="0" marL="0">
              <a:buNone/>
            </a:pPr>
            <a:r>
              <a:rPr lang="en-US" sz="3400" b="1" dirty="0">
                <a:solidFill>
                  <a:srgbClr val="17211C"/>
                </a:solidFill>
                <a:latin typeface="Cambria" pitchFamily="34" charset="0"/>
                <a:ea typeface="Cambria" pitchFamily="34" charset="-122"/>
                <a:cs typeface="Cambria" pitchFamily="34" charset="-120"/>
              </a:rPr>
              <a:t>What I chose, and why</a:t>
            </a:r>
            <a:endParaRPr lang="en-US" sz="3400" dirty="0"/>
          </a:p>
        </p:txBody>
      </p:sp>
      <p:sp>
        <p:nvSpPr>
          <p:cNvPr id="4" name="Text 2"/>
          <p:cNvSpPr txBox="1"/>
          <p:nvPr/>
        </p:nvSpPr>
        <p:spPr>
          <a:xfrm>
            <a:off x="640080" y="1600200"/>
            <a:ext cx="5212080" cy="320040"/>
          </a:xfrm>
          <a:prstGeom prst="rect">
            <a:avLst/>
          </a:prstGeom>
          <a:noFill/>
          <a:ln/>
        </p:spPr>
        <p:txBody>
          <a:bodyPr wrap="square" lIns="0" tIns="0" rIns="0" bIns="0" rtlCol="0" anchor="ctr"/>
          <a:lstStyle/>
          <a:p>
            <a:pPr indent="0" marL="0">
              <a:buNone/>
            </a:pPr>
            <a:r>
              <a:rPr lang="en-US" sz="1600" b="1" dirty="0">
                <a:solidFill>
                  <a:srgbClr val="1F4D3A"/>
                </a:solidFill>
                <a:latin typeface="Cambria" pitchFamily="34" charset="0"/>
                <a:ea typeface="Cambria" pitchFamily="34" charset="-122"/>
                <a:cs typeface="Cambria" pitchFamily="34" charset="-120"/>
              </a:rPr>
              <a:t>Express 5</a:t>
            </a:r>
            <a:endParaRPr lang="en-US" sz="1600" dirty="0"/>
          </a:p>
        </p:txBody>
      </p:sp>
      <p:sp>
        <p:nvSpPr>
          <p:cNvPr id="5" name="Text 3"/>
          <p:cNvSpPr txBox="1"/>
          <p:nvPr/>
        </p:nvSpPr>
        <p:spPr>
          <a:xfrm>
            <a:off x="640080" y="1947672"/>
            <a:ext cx="5212080" cy="640080"/>
          </a:xfrm>
          <a:prstGeom prst="rect">
            <a:avLst/>
          </a:prstGeom>
          <a:noFill/>
          <a:ln/>
        </p:spPr>
        <p:txBody>
          <a:bodyPr wrap="square" lIns="0" tIns="0" rIns="0" bIns="0" rtlCol="0" anchor="ctr"/>
          <a:lstStyle/>
          <a:p>
            <a:pPr indent="0" marL="0">
              <a:buNone/>
            </a:pPr>
            <a:r>
              <a:rPr lang="en-US" sz="1250" dirty="0">
                <a:solidFill>
                  <a:srgbClr val="6B776F"/>
                </a:solidFill>
                <a:latin typeface="Calibri" pitchFamily="34" charset="0"/>
                <a:ea typeface="Calibri" pitchFamily="34" charset="-122"/>
                <a:cs typeface="Calibri" pitchFamily="34" charset="-120"/>
              </a:rPr>
              <a:t>Explicit layers. No framework magic between me and the request.</a:t>
            </a:r>
            <a:endParaRPr lang="en-US" sz="1250" dirty="0"/>
          </a:p>
        </p:txBody>
      </p:sp>
      <p:sp>
        <p:nvSpPr>
          <p:cNvPr id="6" name="Text 4"/>
          <p:cNvSpPr txBox="1"/>
          <p:nvPr/>
        </p:nvSpPr>
        <p:spPr>
          <a:xfrm>
            <a:off x="6172200" y="1600200"/>
            <a:ext cx="5212080" cy="320040"/>
          </a:xfrm>
          <a:prstGeom prst="rect">
            <a:avLst/>
          </a:prstGeom>
          <a:noFill/>
          <a:ln/>
        </p:spPr>
        <p:txBody>
          <a:bodyPr wrap="square" lIns="0" tIns="0" rIns="0" bIns="0" rtlCol="0" anchor="ctr"/>
          <a:lstStyle/>
          <a:p>
            <a:pPr indent="0" marL="0">
              <a:buNone/>
            </a:pPr>
            <a:r>
              <a:rPr lang="en-US" sz="1600" b="1" dirty="0">
                <a:solidFill>
                  <a:srgbClr val="1F4D3A"/>
                </a:solidFill>
                <a:latin typeface="Cambria" pitchFamily="34" charset="0"/>
                <a:ea typeface="Cambria" pitchFamily="34" charset="-122"/>
                <a:cs typeface="Cambria" pitchFamily="34" charset="-120"/>
              </a:rPr>
              <a:t>PostgreSQL</a:t>
            </a:r>
            <a:endParaRPr lang="en-US" sz="1600" dirty="0"/>
          </a:p>
        </p:txBody>
      </p:sp>
      <p:sp>
        <p:nvSpPr>
          <p:cNvPr id="7" name="Text 5"/>
          <p:cNvSpPr txBox="1"/>
          <p:nvPr/>
        </p:nvSpPr>
        <p:spPr>
          <a:xfrm>
            <a:off x="6172200" y="1947672"/>
            <a:ext cx="5212080" cy="640080"/>
          </a:xfrm>
          <a:prstGeom prst="rect">
            <a:avLst/>
          </a:prstGeom>
          <a:noFill/>
          <a:ln/>
        </p:spPr>
        <p:txBody>
          <a:bodyPr wrap="square" lIns="0" tIns="0" rIns="0" bIns="0" rtlCol="0" anchor="ctr"/>
          <a:lstStyle/>
          <a:p>
            <a:pPr indent="0" marL="0">
              <a:buNone/>
            </a:pPr>
            <a:r>
              <a:rPr lang="en-US" sz="1250" dirty="0">
                <a:solidFill>
                  <a:srgbClr val="6B776F"/>
                </a:solidFill>
                <a:latin typeface="Calibri" pitchFamily="34" charset="0"/>
                <a:ea typeface="Calibri" pitchFamily="34" charset="-122"/>
                <a:cs typeface="Calibri" pitchFamily="34" charset="-120"/>
              </a:rPr>
              <a:t>The data is genuinely relational - real foreign keys, a real unique constraint.</a:t>
            </a:r>
            <a:endParaRPr lang="en-US" sz="1250" dirty="0"/>
          </a:p>
        </p:txBody>
      </p:sp>
      <p:sp>
        <p:nvSpPr>
          <p:cNvPr id="8" name="Text 6"/>
          <p:cNvSpPr txBox="1"/>
          <p:nvPr/>
        </p:nvSpPr>
        <p:spPr>
          <a:xfrm>
            <a:off x="640080" y="2834640"/>
            <a:ext cx="5212080" cy="320040"/>
          </a:xfrm>
          <a:prstGeom prst="rect">
            <a:avLst/>
          </a:prstGeom>
          <a:noFill/>
          <a:ln/>
        </p:spPr>
        <p:txBody>
          <a:bodyPr wrap="square" lIns="0" tIns="0" rIns="0" bIns="0" rtlCol="0" anchor="ctr"/>
          <a:lstStyle/>
          <a:p>
            <a:pPr indent="0" marL="0">
              <a:buNone/>
            </a:pPr>
            <a:r>
              <a:rPr lang="en-US" sz="1600" b="1" dirty="0">
                <a:solidFill>
                  <a:srgbClr val="1F4D3A"/>
                </a:solidFill>
                <a:latin typeface="Cambria" pitchFamily="34" charset="0"/>
                <a:ea typeface="Cambria" pitchFamily="34" charset="-122"/>
                <a:cs typeface="Cambria" pitchFamily="34" charset="-120"/>
              </a:rPr>
              <a:t>Prisma</a:t>
            </a:r>
            <a:endParaRPr lang="en-US" sz="1600" dirty="0"/>
          </a:p>
        </p:txBody>
      </p:sp>
      <p:sp>
        <p:nvSpPr>
          <p:cNvPr id="9" name="Text 7"/>
          <p:cNvSpPr txBox="1"/>
          <p:nvPr/>
        </p:nvSpPr>
        <p:spPr>
          <a:xfrm>
            <a:off x="640080" y="3182112"/>
            <a:ext cx="5212080" cy="640080"/>
          </a:xfrm>
          <a:prstGeom prst="rect">
            <a:avLst/>
          </a:prstGeom>
          <a:noFill/>
          <a:ln/>
        </p:spPr>
        <p:txBody>
          <a:bodyPr wrap="square" lIns="0" tIns="0" rIns="0" bIns="0" rtlCol="0" anchor="ctr"/>
          <a:lstStyle/>
          <a:p>
            <a:pPr indent="0" marL="0">
              <a:buNone/>
            </a:pPr>
            <a:r>
              <a:rPr lang="en-US" sz="1250" dirty="0">
                <a:solidFill>
                  <a:srgbClr val="6B776F"/>
                </a:solidFill>
                <a:latin typeface="Calibri" pitchFamily="34" charset="0"/>
                <a:ea typeface="Calibri" pitchFamily="34" charset="-122"/>
                <a:cs typeface="Calibri" pitchFamily="34" charset="-120"/>
              </a:rPr>
              <a:t>Typed queries and migrations from one schema file.</a:t>
            </a:r>
            <a:endParaRPr lang="en-US" sz="1250" dirty="0"/>
          </a:p>
        </p:txBody>
      </p:sp>
      <p:sp>
        <p:nvSpPr>
          <p:cNvPr id="10" name="Text 8"/>
          <p:cNvSpPr txBox="1"/>
          <p:nvPr/>
        </p:nvSpPr>
        <p:spPr>
          <a:xfrm>
            <a:off x="6172200" y="2834640"/>
            <a:ext cx="5212080" cy="320040"/>
          </a:xfrm>
          <a:prstGeom prst="rect">
            <a:avLst/>
          </a:prstGeom>
          <a:noFill/>
          <a:ln/>
        </p:spPr>
        <p:txBody>
          <a:bodyPr wrap="square" lIns="0" tIns="0" rIns="0" bIns="0" rtlCol="0" anchor="ctr"/>
          <a:lstStyle/>
          <a:p>
            <a:pPr indent="0" marL="0">
              <a:buNone/>
            </a:pPr>
            <a:r>
              <a:rPr lang="en-US" sz="1600" b="1" dirty="0">
                <a:solidFill>
                  <a:srgbClr val="1F4D3A"/>
                </a:solidFill>
                <a:latin typeface="Cambria" pitchFamily="34" charset="0"/>
                <a:ea typeface="Cambria" pitchFamily="34" charset="-122"/>
                <a:cs typeface="Cambria" pitchFamily="34" charset="-120"/>
              </a:rPr>
              <a:t>JWT + bcrypt</a:t>
            </a:r>
            <a:endParaRPr lang="en-US" sz="1600" dirty="0"/>
          </a:p>
        </p:txBody>
      </p:sp>
      <p:sp>
        <p:nvSpPr>
          <p:cNvPr id="11" name="Text 9"/>
          <p:cNvSpPr txBox="1"/>
          <p:nvPr/>
        </p:nvSpPr>
        <p:spPr>
          <a:xfrm>
            <a:off x="6172200" y="3182112"/>
            <a:ext cx="5212080" cy="640080"/>
          </a:xfrm>
          <a:prstGeom prst="rect">
            <a:avLst/>
          </a:prstGeom>
          <a:noFill/>
          <a:ln/>
        </p:spPr>
        <p:txBody>
          <a:bodyPr wrap="square" lIns="0" tIns="0" rIns="0" bIns="0" rtlCol="0" anchor="ctr"/>
          <a:lstStyle/>
          <a:p>
            <a:pPr indent="0" marL="0">
              <a:buNone/>
            </a:pPr>
            <a:r>
              <a:rPr lang="en-US" sz="1250" dirty="0">
                <a:solidFill>
                  <a:srgbClr val="6B776F"/>
                </a:solidFill>
                <a:latin typeface="Calibri" pitchFamily="34" charset="0"/>
                <a:ea typeface="Calibri" pitchFamily="34" charset="-122"/>
                <a:cs typeface="Calibri" pitchFamily="34" charset="-120"/>
              </a:rPr>
              <a:t>No third-party auth service standing in for something I should be able to explain.</a:t>
            </a:r>
            <a:endParaRPr lang="en-US" sz="1250" dirty="0"/>
          </a:p>
        </p:txBody>
      </p:sp>
      <p:sp>
        <p:nvSpPr>
          <p:cNvPr id="12" name="Text 10"/>
          <p:cNvSpPr txBox="1"/>
          <p:nvPr/>
        </p:nvSpPr>
        <p:spPr>
          <a:xfrm>
            <a:off x="640080" y="4069080"/>
            <a:ext cx="5212080" cy="320040"/>
          </a:xfrm>
          <a:prstGeom prst="rect">
            <a:avLst/>
          </a:prstGeom>
          <a:noFill/>
          <a:ln/>
        </p:spPr>
        <p:txBody>
          <a:bodyPr wrap="square" lIns="0" tIns="0" rIns="0" bIns="0" rtlCol="0" anchor="ctr"/>
          <a:lstStyle/>
          <a:p>
            <a:pPr indent="0" marL="0">
              <a:buNone/>
            </a:pPr>
            <a:r>
              <a:rPr lang="en-US" sz="1600" b="1" dirty="0">
                <a:solidFill>
                  <a:srgbClr val="1F4D3A"/>
                </a:solidFill>
                <a:latin typeface="Cambria" pitchFamily="34" charset="0"/>
                <a:ea typeface="Cambria" pitchFamily="34" charset="-122"/>
                <a:cs typeface="Cambria" pitchFamily="34" charset="-120"/>
              </a:rPr>
              <a:t>Zod</a:t>
            </a:r>
            <a:endParaRPr lang="en-US" sz="1600" dirty="0"/>
          </a:p>
        </p:txBody>
      </p:sp>
      <p:sp>
        <p:nvSpPr>
          <p:cNvPr id="13" name="Text 11"/>
          <p:cNvSpPr txBox="1"/>
          <p:nvPr/>
        </p:nvSpPr>
        <p:spPr>
          <a:xfrm>
            <a:off x="640080" y="4416552"/>
            <a:ext cx="5212080" cy="640080"/>
          </a:xfrm>
          <a:prstGeom prst="rect">
            <a:avLst/>
          </a:prstGeom>
          <a:noFill/>
          <a:ln/>
        </p:spPr>
        <p:txBody>
          <a:bodyPr wrap="square" lIns="0" tIns="0" rIns="0" bIns="0" rtlCol="0" anchor="ctr"/>
          <a:lstStyle/>
          <a:p>
            <a:pPr indent="0" marL="0">
              <a:buNone/>
            </a:pPr>
            <a:r>
              <a:rPr lang="en-US" sz="1250" dirty="0">
                <a:solidFill>
                  <a:srgbClr val="6B776F"/>
                </a:solidFill>
                <a:latin typeface="Calibri" pitchFamily="34" charset="0"/>
                <a:ea typeface="Calibri" pitchFamily="34" charset="-122"/>
                <a:cs typeface="Calibri" pitchFamily="34" charset="-120"/>
              </a:rPr>
              <a:t>One validation schema per endpoint; bad input never reaches a service.</a:t>
            </a:r>
            <a:endParaRPr lang="en-US" sz="1250" dirty="0"/>
          </a:p>
        </p:txBody>
      </p:sp>
      <p:sp>
        <p:nvSpPr>
          <p:cNvPr id="14" name="Text 12"/>
          <p:cNvSpPr txBox="1"/>
          <p:nvPr/>
        </p:nvSpPr>
        <p:spPr>
          <a:xfrm>
            <a:off x="6172200" y="4069080"/>
            <a:ext cx="5212080" cy="320040"/>
          </a:xfrm>
          <a:prstGeom prst="rect">
            <a:avLst/>
          </a:prstGeom>
          <a:noFill/>
          <a:ln/>
        </p:spPr>
        <p:txBody>
          <a:bodyPr wrap="square" lIns="0" tIns="0" rIns="0" bIns="0" rtlCol="0" anchor="ctr"/>
          <a:lstStyle/>
          <a:p>
            <a:pPr indent="0" marL="0">
              <a:buNone/>
            </a:pPr>
            <a:r>
              <a:rPr lang="en-US" sz="1600" b="1" dirty="0">
                <a:solidFill>
                  <a:srgbClr val="1F4D3A"/>
                </a:solidFill>
                <a:latin typeface="Cambria" pitchFamily="34" charset="0"/>
                <a:ea typeface="Cambria" pitchFamily="34" charset="-122"/>
                <a:cs typeface="Cambria" pitchFamily="34" charset="-120"/>
              </a:rPr>
              <a:t>Vitest + Supertest</a:t>
            </a:r>
            <a:endParaRPr lang="en-US" sz="1600" dirty="0"/>
          </a:p>
        </p:txBody>
      </p:sp>
      <p:sp>
        <p:nvSpPr>
          <p:cNvPr id="15" name="Text 13"/>
          <p:cNvSpPr txBox="1"/>
          <p:nvPr/>
        </p:nvSpPr>
        <p:spPr>
          <a:xfrm>
            <a:off x="6172200" y="4416552"/>
            <a:ext cx="5212080" cy="640080"/>
          </a:xfrm>
          <a:prstGeom prst="rect">
            <a:avLst/>
          </a:prstGeom>
          <a:noFill/>
          <a:ln/>
        </p:spPr>
        <p:txBody>
          <a:bodyPr wrap="square" lIns="0" tIns="0" rIns="0" bIns="0" rtlCol="0" anchor="ctr"/>
          <a:lstStyle/>
          <a:p>
            <a:pPr indent="0" marL="0">
              <a:buNone/>
            </a:pPr>
            <a:r>
              <a:rPr lang="en-US" sz="1250" dirty="0">
                <a:solidFill>
                  <a:srgbClr val="6B776F"/>
                </a:solidFill>
                <a:latin typeface="Calibri" pitchFamily="34" charset="0"/>
                <a:ea typeface="Calibri" pitchFamily="34" charset="-122"/>
                <a:cs typeface="Calibri" pitchFamily="34" charset="-120"/>
              </a:rPr>
              <a:t>Real HTTP against the real app, so the middleware chain is exercised.</a:t>
            </a:r>
            <a:endParaRPr lang="en-US" sz="1250" dirty="0"/>
          </a:p>
        </p:txBody>
      </p:sp>
      <p:sp>
        <p:nvSpPr>
          <p:cNvPr id="16" name="Text 14"/>
          <p:cNvSpPr txBox="1"/>
          <p:nvPr/>
        </p:nvSpPr>
        <p:spPr>
          <a:xfrm>
            <a:off x="640080" y="5623560"/>
            <a:ext cx="10881360" cy="365760"/>
          </a:xfrm>
          <a:prstGeom prst="rect">
            <a:avLst/>
          </a:prstGeom>
          <a:noFill/>
          <a:ln/>
        </p:spPr>
        <p:txBody>
          <a:bodyPr wrap="square" lIns="0" tIns="0" rIns="0" bIns="0" rtlCol="0" anchor="ctr"/>
          <a:lstStyle/>
          <a:p>
            <a:pPr indent="0" marL="0">
              <a:buNone/>
            </a:pPr>
            <a:r>
              <a:rPr lang="en-US" sz="1300" i="1" dirty="0">
                <a:solidFill>
                  <a:srgbClr val="17211C"/>
                </a:solidFill>
                <a:latin typeface="Calibri" pitchFamily="34" charset="0"/>
                <a:ea typeface="Calibri" pitchFamily="34" charset="-122"/>
                <a:cs typeface="Calibri" pitchFamily="34" charset="-120"/>
              </a:rPr>
              <a:t>Frontend: Next.js 16 with the App Router - a folder becomes a page, which suited 12 of them.</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indent="0" marL="0">
              <a:buNone/>
            </a:pPr>
            <a:r>
              <a:rPr lang="en-US" sz="1100" b="1" spc="200" kern="0" dirty="0">
                <a:solidFill>
                  <a:srgbClr val="C8873A"/>
                </a:solidFill>
                <a:latin typeface="Calibri" pitchFamily="34" charset="0"/>
                <a:ea typeface="Calibri" pitchFamily="34" charset="-122"/>
                <a:cs typeface="Calibri" pitchFamily="34" charset="-120"/>
              </a:rPr>
              <a:t>DATABASE DESIGN</a:t>
            </a:r>
            <a:endParaRPr lang="en-US" sz="1100" dirty="0"/>
          </a:p>
        </p:txBody>
      </p:sp>
      <p:sp>
        <p:nvSpPr>
          <p:cNvPr id="3" name="Text 1"/>
          <p:cNvSpPr txBox="1"/>
          <p:nvPr/>
        </p:nvSpPr>
        <p:spPr>
          <a:xfrm>
            <a:off x="640080" y="685800"/>
            <a:ext cx="10881360" cy="685800"/>
          </a:xfrm>
          <a:prstGeom prst="rect">
            <a:avLst/>
          </a:prstGeom>
          <a:noFill/>
          <a:ln/>
        </p:spPr>
        <p:txBody>
          <a:bodyPr wrap="square" lIns="0" tIns="0" rIns="0" bIns="0" rtlCol="0" anchor="ctr"/>
          <a:lstStyle/>
          <a:p>
            <a:pPr indent="0" marL="0">
              <a:buNone/>
            </a:pPr>
            <a:r>
              <a:rPr lang="en-US" sz="3400" b="1" dirty="0">
                <a:solidFill>
                  <a:srgbClr val="17211C"/>
                </a:solidFill>
                <a:latin typeface="Cambria" pitchFamily="34" charset="0"/>
                <a:ea typeface="Cambria" pitchFamily="34" charset="-122"/>
                <a:cs typeface="Cambria" pitchFamily="34" charset="-120"/>
              </a:rPr>
              <a:t>Ten tables, four groups</a:t>
            </a:r>
            <a:endParaRPr lang="en-US" sz="3400" dirty="0"/>
          </a:p>
        </p:txBody>
      </p:sp>
      <p:pic>
        <p:nvPicPr>
          <p:cNvPr id="4" name="Image 0" descr="D:/weekly-report-dashboard/docs/er-diagram.png">    </p:cNvPr>
          <p:cNvPicPr>
            <a:picLocks noChangeAspect="1"/>
          </p:cNvPicPr>
          <p:nvPr/>
        </p:nvPicPr>
        <p:blipFill>
          <a:blip r:embed="rId1"/>
          <a:srcRect l="0" r="0" t="0" b="0"/>
          <a:stretch/>
        </p:blipFill>
        <p:spPr>
          <a:xfrm>
            <a:off x="2788920" y="1371600"/>
            <a:ext cx="6583680" cy="5029200"/>
          </a:xfrm>
          <a:prstGeom prst="rect">
            <a:avLst/>
          </a:prstGeom>
        </p:spPr>
      </p:pic>
      <p:sp>
        <p:nvSpPr>
          <p:cNvPr id="5" name="Text 2"/>
          <p:cNvSpPr txBox="1"/>
          <p:nvPr/>
        </p:nvSpPr>
        <p:spPr>
          <a:xfrm>
            <a:off x="640080" y="1508760"/>
            <a:ext cx="2011680" cy="292608"/>
          </a:xfrm>
          <a:prstGeom prst="rect">
            <a:avLst/>
          </a:prstGeom>
          <a:noFill/>
          <a:ln/>
        </p:spPr>
        <p:txBody>
          <a:bodyPr wrap="square" lIns="0" tIns="0" rIns="0" bIns="0" rtlCol="0" anchor="ctr"/>
          <a:lstStyle/>
          <a:p>
            <a:pPr indent="0" marL="0">
              <a:buNone/>
            </a:pPr>
            <a:r>
              <a:rPr lang="en-US" sz="1400" b="1" dirty="0">
                <a:solidFill>
                  <a:srgbClr val="1F4D3A"/>
                </a:solidFill>
                <a:latin typeface="Cambria" pitchFamily="34" charset="0"/>
                <a:ea typeface="Cambria" pitchFamily="34" charset="-122"/>
                <a:cs typeface="Cambria" pitchFamily="34" charset="-120"/>
              </a:rPr>
              <a:t>Identity &amp; access</a:t>
            </a:r>
            <a:endParaRPr lang="en-US" sz="1400" dirty="0"/>
          </a:p>
        </p:txBody>
      </p:sp>
      <p:sp>
        <p:nvSpPr>
          <p:cNvPr id="6" name="Text 3"/>
          <p:cNvSpPr txBox="1"/>
          <p:nvPr/>
        </p:nvSpPr>
        <p:spPr>
          <a:xfrm>
            <a:off x="640080" y="1810512"/>
            <a:ext cx="2011680" cy="731520"/>
          </a:xfrm>
          <a:prstGeom prst="rect">
            <a:avLst/>
          </a:prstGeom>
          <a:noFill/>
          <a:ln/>
        </p:spPr>
        <p:txBody>
          <a:bodyPr wrap="square" lIns="0" tIns="0" rIns="0" bIns="0" rtlCol="0" anchor="ctr"/>
          <a:lstStyle/>
          <a:p>
            <a:pPr indent="0" marL="0">
              <a:buNone/>
            </a:pPr>
            <a:r>
              <a:rPr lang="en-US" sz="1150" dirty="0">
                <a:solidFill>
                  <a:srgbClr val="6B776F"/>
                </a:solidFill>
                <a:latin typeface="Calibri" pitchFamily="34" charset="0"/>
                <a:ea typeface="Calibri" pitchFamily="34" charset="-122"/>
                <a:cs typeface="Calibri" pitchFamily="34" charset="-120"/>
              </a:rPr>
              <a:t>User, Project, ProjectMember</a:t>
            </a:r>
            <a:endParaRPr lang="en-US" sz="1150" dirty="0"/>
          </a:p>
        </p:txBody>
      </p:sp>
      <p:sp>
        <p:nvSpPr>
          <p:cNvPr id="7" name="Text 4"/>
          <p:cNvSpPr txBox="1"/>
          <p:nvPr/>
        </p:nvSpPr>
        <p:spPr>
          <a:xfrm>
            <a:off x="640080" y="2679192"/>
            <a:ext cx="2011680" cy="292608"/>
          </a:xfrm>
          <a:prstGeom prst="rect">
            <a:avLst/>
          </a:prstGeom>
          <a:noFill/>
          <a:ln/>
        </p:spPr>
        <p:txBody>
          <a:bodyPr wrap="square" lIns="0" tIns="0" rIns="0" bIns="0" rtlCol="0" anchor="ctr"/>
          <a:lstStyle/>
          <a:p>
            <a:pPr indent="0" marL="0">
              <a:buNone/>
            </a:pPr>
            <a:r>
              <a:rPr lang="en-US" sz="1400" b="1" dirty="0">
                <a:solidFill>
                  <a:srgbClr val="1F4D3A"/>
                </a:solidFill>
                <a:latin typeface="Cambria" pitchFamily="34" charset="0"/>
                <a:ea typeface="Cambria" pitchFamily="34" charset="-122"/>
                <a:cs typeface="Cambria" pitchFamily="34" charset="-120"/>
              </a:rPr>
              <a:t>Core report</a:t>
            </a:r>
            <a:endParaRPr lang="en-US" sz="1400" dirty="0"/>
          </a:p>
        </p:txBody>
      </p:sp>
      <p:sp>
        <p:nvSpPr>
          <p:cNvPr id="8" name="Text 5"/>
          <p:cNvSpPr txBox="1"/>
          <p:nvPr/>
        </p:nvSpPr>
        <p:spPr>
          <a:xfrm>
            <a:off x="640080" y="2980944"/>
            <a:ext cx="2011680" cy="731520"/>
          </a:xfrm>
          <a:prstGeom prst="rect">
            <a:avLst/>
          </a:prstGeom>
          <a:noFill/>
          <a:ln/>
        </p:spPr>
        <p:txBody>
          <a:bodyPr wrap="square" lIns="0" tIns="0" rIns="0" bIns="0" rtlCol="0" anchor="ctr"/>
          <a:lstStyle/>
          <a:p>
            <a:pPr indent="0" marL="0">
              <a:buNone/>
            </a:pPr>
            <a:r>
              <a:rPr lang="en-US" sz="1150" dirty="0">
                <a:solidFill>
                  <a:srgbClr val="6B776F"/>
                </a:solidFill>
                <a:latin typeface="Calibri" pitchFamily="34" charset="0"/>
                <a:ea typeface="Calibri" pitchFamily="34" charset="-122"/>
                <a:cs typeface="Calibri" pitchFamily="34" charset="-120"/>
              </a:rPr>
              <a:t>Report - one per person per week</a:t>
            </a:r>
            <a:endParaRPr lang="en-US" sz="1150" dirty="0"/>
          </a:p>
        </p:txBody>
      </p:sp>
      <p:sp>
        <p:nvSpPr>
          <p:cNvPr id="9" name="Text 6"/>
          <p:cNvSpPr txBox="1"/>
          <p:nvPr/>
        </p:nvSpPr>
        <p:spPr>
          <a:xfrm>
            <a:off x="640080" y="3849624"/>
            <a:ext cx="2011680" cy="292608"/>
          </a:xfrm>
          <a:prstGeom prst="rect">
            <a:avLst/>
          </a:prstGeom>
          <a:noFill/>
          <a:ln/>
        </p:spPr>
        <p:txBody>
          <a:bodyPr wrap="square" lIns="0" tIns="0" rIns="0" bIns="0" rtlCol="0" anchor="ctr"/>
          <a:lstStyle/>
          <a:p>
            <a:pPr indent="0" marL="0">
              <a:buNone/>
            </a:pPr>
            <a:r>
              <a:rPr lang="en-US" sz="1400" b="1" dirty="0">
                <a:solidFill>
                  <a:srgbClr val="1F4D3A"/>
                </a:solidFill>
                <a:latin typeface="Cambria" pitchFamily="34" charset="0"/>
                <a:ea typeface="Cambria" pitchFamily="34" charset="-122"/>
                <a:cs typeface="Cambria" pitchFamily="34" charset="-120"/>
              </a:rPr>
              <a:t>Report content</a:t>
            </a:r>
            <a:endParaRPr lang="en-US" sz="1400" dirty="0"/>
          </a:p>
        </p:txBody>
      </p:sp>
      <p:sp>
        <p:nvSpPr>
          <p:cNvPr id="10" name="Text 7"/>
          <p:cNvSpPr txBox="1"/>
          <p:nvPr/>
        </p:nvSpPr>
        <p:spPr>
          <a:xfrm>
            <a:off x="640080" y="4151376"/>
            <a:ext cx="2011680" cy="731520"/>
          </a:xfrm>
          <a:prstGeom prst="rect">
            <a:avLst/>
          </a:prstGeom>
          <a:noFill/>
          <a:ln/>
        </p:spPr>
        <p:txBody>
          <a:bodyPr wrap="square" lIns="0" tIns="0" rIns="0" bIns="0" rtlCol="0" anchor="ctr"/>
          <a:lstStyle/>
          <a:p>
            <a:pPr indent="0" marL="0">
              <a:buNone/>
            </a:pPr>
            <a:r>
              <a:rPr lang="en-US" sz="1150" dirty="0">
                <a:solidFill>
                  <a:srgbClr val="6B776F"/>
                </a:solidFill>
                <a:latin typeface="Calibri" pitchFamily="34" charset="0"/>
                <a:ea typeface="Calibri" pitchFamily="34" charset="-122"/>
                <a:cs typeface="Calibri" pitchFamily="34" charset="-120"/>
              </a:rPr>
              <a:t>Tasks, planned work, blockers, achievements, hours</a:t>
            </a:r>
            <a:endParaRPr lang="en-US" sz="1150" dirty="0"/>
          </a:p>
        </p:txBody>
      </p:sp>
      <p:sp>
        <p:nvSpPr>
          <p:cNvPr id="11" name="Text 8"/>
          <p:cNvSpPr txBox="1"/>
          <p:nvPr/>
        </p:nvSpPr>
        <p:spPr>
          <a:xfrm>
            <a:off x="640080" y="5020056"/>
            <a:ext cx="2011680" cy="292608"/>
          </a:xfrm>
          <a:prstGeom prst="rect">
            <a:avLst/>
          </a:prstGeom>
          <a:noFill/>
          <a:ln/>
        </p:spPr>
        <p:txBody>
          <a:bodyPr wrap="square" lIns="0" tIns="0" rIns="0" bIns="0" rtlCol="0" anchor="ctr"/>
          <a:lstStyle/>
          <a:p>
            <a:pPr indent="0" marL="0">
              <a:buNone/>
            </a:pPr>
            <a:r>
              <a:rPr lang="en-US" sz="1400" b="1" dirty="0">
                <a:solidFill>
                  <a:srgbClr val="1F4D3A"/>
                </a:solidFill>
                <a:latin typeface="Cambria" pitchFamily="34" charset="0"/>
                <a:ea typeface="Cambria" pitchFamily="34" charset="-122"/>
                <a:cs typeface="Cambria" pitchFamily="34" charset="-120"/>
              </a:rPr>
              <a:t>Review workflow</a:t>
            </a:r>
            <a:endParaRPr lang="en-US" sz="1400" dirty="0"/>
          </a:p>
        </p:txBody>
      </p:sp>
      <p:sp>
        <p:nvSpPr>
          <p:cNvPr id="12" name="Text 9"/>
          <p:cNvSpPr txBox="1"/>
          <p:nvPr/>
        </p:nvSpPr>
        <p:spPr>
          <a:xfrm>
            <a:off x="640080" y="5321808"/>
            <a:ext cx="2011680" cy="731520"/>
          </a:xfrm>
          <a:prstGeom prst="rect">
            <a:avLst/>
          </a:prstGeom>
          <a:noFill/>
          <a:ln/>
        </p:spPr>
        <p:txBody>
          <a:bodyPr wrap="square" lIns="0" tIns="0" rIns="0" bIns="0" rtlCol="0" anchor="ctr"/>
          <a:lstStyle/>
          <a:p>
            <a:pPr indent="0" marL="0">
              <a:buNone/>
            </a:pPr>
            <a:r>
              <a:rPr lang="en-US" sz="1150" dirty="0">
                <a:solidFill>
                  <a:srgbClr val="6B776F"/>
                </a:solidFill>
                <a:latin typeface="Calibri" pitchFamily="34" charset="0"/>
                <a:ea typeface="Calibri" pitchFamily="34" charset="-122"/>
                <a:cs typeface="Calibri" pitchFamily="34" charset="-120"/>
              </a:rPr>
              <a:t>ReportVersion - the history</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indent="0" marL="0">
              <a:buNone/>
            </a:pPr>
            <a:r>
              <a:rPr lang="en-US" sz="1100" b="1" spc="200" kern="0" dirty="0">
                <a:solidFill>
                  <a:srgbClr val="C8873A"/>
                </a:solidFill>
                <a:latin typeface="Calibri" pitchFamily="34" charset="0"/>
                <a:ea typeface="Calibri" pitchFamily="34" charset="-122"/>
                <a:cs typeface="Calibri" pitchFamily="34" charset="-120"/>
              </a:rPr>
              <a:t>DATABASE DESIGN</a:t>
            </a:r>
            <a:endParaRPr lang="en-US" sz="1100" dirty="0"/>
          </a:p>
        </p:txBody>
      </p:sp>
      <p:sp>
        <p:nvSpPr>
          <p:cNvPr id="3" name="Text 1"/>
          <p:cNvSpPr txBox="1"/>
          <p:nvPr/>
        </p:nvSpPr>
        <p:spPr>
          <a:xfrm>
            <a:off x="640080" y="685800"/>
            <a:ext cx="10881360" cy="685800"/>
          </a:xfrm>
          <a:prstGeom prst="rect">
            <a:avLst/>
          </a:prstGeom>
          <a:noFill/>
          <a:ln/>
        </p:spPr>
        <p:txBody>
          <a:bodyPr wrap="square" lIns="0" tIns="0" rIns="0" bIns="0" rtlCol="0" anchor="ctr"/>
          <a:lstStyle/>
          <a:p>
            <a:pPr indent="0" marL="0">
              <a:buNone/>
            </a:pPr>
            <a:r>
              <a:rPr lang="en-US" sz="3400" b="1" dirty="0">
                <a:solidFill>
                  <a:srgbClr val="17211C"/>
                </a:solidFill>
                <a:latin typeface="Cambria" pitchFamily="34" charset="0"/>
                <a:ea typeface="Cambria" pitchFamily="34" charset="-122"/>
                <a:cs typeface="Cambria" pitchFamily="34" charset="-120"/>
              </a:rPr>
              <a:t>Two decisions worth defending</a:t>
            </a:r>
            <a:endParaRPr lang="en-US" sz="3400" dirty="0"/>
          </a:p>
        </p:txBody>
      </p:sp>
      <p:sp>
        <p:nvSpPr>
          <p:cNvPr id="4" name="Shape 2"/>
          <p:cNvSpPr/>
          <p:nvPr/>
        </p:nvSpPr>
        <p:spPr>
          <a:xfrm>
            <a:off x="640080" y="1554480"/>
            <a:ext cx="5303520" cy="3200400"/>
          </a:xfrm>
          <a:prstGeom prst="roundRect">
            <a:avLst>
              <a:gd name="adj" fmla="val 2571"/>
            </a:avLst>
          </a:prstGeom>
          <a:solidFill>
            <a:srgbClr val="EFF4F0"/>
          </a:solidFill>
          <a:ln w="12700">
            <a:solidFill>
              <a:srgbClr val="EFF4F0"/>
            </a:solidFill>
            <a:prstDash val="solid"/>
          </a:ln>
        </p:spPr>
      </p:sp>
      <p:sp>
        <p:nvSpPr>
          <p:cNvPr id="5" name="Text 3"/>
          <p:cNvSpPr txBox="1"/>
          <p:nvPr/>
        </p:nvSpPr>
        <p:spPr>
          <a:xfrm>
            <a:off x="896112" y="1755648"/>
            <a:ext cx="4791456" cy="310896"/>
          </a:xfrm>
          <a:prstGeom prst="rect">
            <a:avLst/>
          </a:prstGeom>
          <a:noFill/>
          <a:ln/>
        </p:spPr>
        <p:txBody>
          <a:bodyPr wrap="square" lIns="0" tIns="0" rIns="0" bIns="0" rtlCol="0" anchor="ctr"/>
          <a:lstStyle/>
          <a:p>
            <a:pPr indent="0" marL="0">
              <a:buNone/>
            </a:pPr>
            <a:r>
              <a:rPr lang="en-US" sz="1700" b="1" dirty="0">
                <a:solidFill>
                  <a:srgbClr val="1F4D3A"/>
                </a:solidFill>
                <a:latin typeface="Cambria" pitchFamily="34" charset="0"/>
                <a:ea typeface="Cambria" pitchFamily="34" charset="-122"/>
                <a:cs typeface="Cambria" pitchFamily="34" charset="-120"/>
              </a:rPr>
              <a:t>History without duplicating tables</a:t>
            </a:r>
            <a:endParaRPr lang="en-US" sz="1700" dirty="0"/>
          </a:p>
        </p:txBody>
      </p:sp>
      <p:sp>
        <p:nvSpPr>
          <p:cNvPr id="6" name="Text 4"/>
          <p:cNvSpPr txBox="1"/>
          <p:nvPr/>
        </p:nvSpPr>
        <p:spPr>
          <a:xfrm>
            <a:off x="896112" y="2176272"/>
            <a:ext cx="4791456" cy="2414016"/>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17211C"/>
                </a:solidFill>
                <a:latin typeface="Calibri" pitchFamily="34" charset="0"/>
                <a:ea typeface="Calibri" pitchFamily="34" charset="-122"/>
                <a:cs typeface="Calibri" pitchFamily="34" charset="-120"/>
              </a:rPr>
              <a:t>The live Report row is edited in place</a:t>
            </a:r>
            <a:endParaRPr lang="en-US" sz="1300" dirty="0"/>
          </a:p>
          <a:p>
            <a:pPr marL="342900" indent="-342900">
              <a:spcAft>
                <a:spcPts val="500"/>
              </a:spcAft>
              <a:buSzPct val="100000"/>
              <a:buChar char="•"/>
            </a:pPr>
            <a:r>
              <a:rPr lang="en-US" sz="1300" dirty="0">
                <a:solidFill>
                  <a:srgbClr val="17211C"/>
                </a:solidFill>
                <a:latin typeface="Calibri" pitchFamily="34" charset="0"/>
                <a:ea typeface="Calibri" pitchFamily="34" charset="-122"/>
                <a:cs typeface="Calibri" pitchFamily="34" charset="-120"/>
              </a:rPr>
              <a:t>Each submission writes a ReportVersion holding a JSON snapshot</a:t>
            </a:r>
            <a:endParaRPr lang="en-US" sz="1300" dirty="0"/>
          </a:p>
          <a:p>
            <a:pPr marL="342900" indent="-342900">
              <a:spcAft>
                <a:spcPts val="500"/>
              </a:spcAft>
              <a:buSzPct val="100000"/>
              <a:buChar char="•"/>
            </a:pPr>
            <a:r>
              <a:rPr lang="en-US" sz="1300" dirty="0">
                <a:solidFill>
                  <a:srgbClr val="17211C"/>
                </a:solidFill>
                <a:latin typeface="Calibri" pitchFamily="34" charset="0"/>
                <a:ea typeface="Calibri" pitchFamily="34" charset="-122"/>
                <a:cs typeface="Calibri" pitchFamily="34" charset="-120"/>
              </a:rPr>
              <a:t>The decision and comment sit on that version row</a:t>
            </a:r>
            <a:endParaRPr lang="en-US" sz="1300" dirty="0"/>
          </a:p>
          <a:p>
            <a:pPr marL="342900" indent="-342900">
              <a:spcAft>
                <a:spcPts val="500"/>
              </a:spcAft>
              <a:buSzPct val="100000"/>
              <a:buChar char="•"/>
            </a:pPr>
            <a:r>
              <a:rPr lang="en-US" sz="1300" dirty="0">
                <a:solidFill>
                  <a:srgbClr val="17211C"/>
                </a:solidFill>
                <a:latin typeface="Calibri" pitchFamily="34" charset="0"/>
                <a:ea typeface="Calibri" pitchFamily="34" charset="-122"/>
                <a:cs typeface="Calibri" pitchFamily="34" charset="-120"/>
              </a:rPr>
              <a:t>So "which draft was this comment about?" is always answerable</a:t>
            </a:r>
            <a:endParaRPr lang="en-US" sz="1300" dirty="0"/>
          </a:p>
        </p:txBody>
      </p:sp>
      <p:sp>
        <p:nvSpPr>
          <p:cNvPr id="7" name="Shape 5"/>
          <p:cNvSpPr/>
          <p:nvPr/>
        </p:nvSpPr>
        <p:spPr>
          <a:xfrm>
            <a:off x="6217920" y="1554480"/>
            <a:ext cx="5303520" cy="3200400"/>
          </a:xfrm>
          <a:prstGeom prst="roundRect">
            <a:avLst>
              <a:gd name="adj" fmla="val 2571"/>
            </a:avLst>
          </a:prstGeom>
          <a:solidFill>
            <a:srgbClr val="EFF4F0"/>
          </a:solidFill>
          <a:ln w="12700">
            <a:solidFill>
              <a:srgbClr val="EFF4F0"/>
            </a:solidFill>
            <a:prstDash val="solid"/>
          </a:ln>
        </p:spPr>
      </p:sp>
      <p:sp>
        <p:nvSpPr>
          <p:cNvPr id="8" name="Text 6"/>
          <p:cNvSpPr txBox="1"/>
          <p:nvPr/>
        </p:nvSpPr>
        <p:spPr>
          <a:xfrm>
            <a:off x="6473952" y="1755648"/>
            <a:ext cx="4791456" cy="310896"/>
          </a:xfrm>
          <a:prstGeom prst="rect">
            <a:avLst/>
          </a:prstGeom>
          <a:noFill/>
          <a:ln/>
        </p:spPr>
        <p:txBody>
          <a:bodyPr wrap="square" lIns="0" tIns="0" rIns="0" bIns="0" rtlCol="0" anchor="ctr"/>
          <a:lstStyle/>
          <a:p>
            <a:pPr indent="0" marL="0">
              <a:buNone/>
            </a:pPr>
            <a:r>
              <a:rPr lang="en-US" sz="1700" b="1" dirty="0">
                <a:solidFill>
                  <a:srgbClr val="1F4D3A"/>
                </a:solidFill>
                <a:latin typeface="Cambria" pitchFamily="34" charset="0"/>
                <a:ea typeface="Cambria" pitchFamily="34" charset="-122"/>
                <a:cs typeface="Cambria" pitchFamily="34" charset="-120"/>
              </a:rPr>
              <a:t>A project is deleted only when that is safe</a:t>
            </a:r>
            <a:endParaRPr lang="en-US" sz="1700" dirty="0"/>
          </a:p>
        </p:txBody>
      </p:sp>
      <p:sp>
        <p:nvSpPr>
          <p:cNvPr id="9" name="Text 7"/>
          <p:cNvSpPr txBox="1"/>
          <p:nvPr/>
        </p:nvSpPr>
        <p:spPr>
          <a:xfrm>
            <a:off x="6473952" y="2176272"/>
            <a:ext cx="4791456" cy="2414016"/>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17211C"/>
                </a:solidFill>
                <a:latin typeface="Calibri" pitchFamily="34" charset="0"/>
                <a:ea typeface="Calibri" pitchFamily="34" charset="-122"/>
                <a:cs typeface="Calibri" pitchFamily="34" charset="-120"/>
              </a:rPr>
              <a:t>Nothing references it, so the row really is deleted</a:t>
            </a:r>
            <a:endParaRPr lang="en-US" sz="1300" dirty="0"/>
          </a:p>
          <a:p>
            <a:pPr marL="342900" indent="-342900">
              <a:spcAft>
                <a:spcPts val="500"/>
              </a:spcAft>
              <a:buSzPct val="100000"/>
              <a:buChar char="•"/>
            </a:pPr>
            <a:r>
              <a:rPr lang="en-US" sz="1300" dirty="0">
                <a:solidFill>
                  <a:srgbClr val="17211C"/>
                </a:solidFill>
                <a:latin typeface="Calibri" pitchFamily="34" charset="0"/>
                <a:ea typeface="Calibri" pitchFamily="34" charset="-122"/>
                <a:cs typeface="Calibri" pitchFamily="34" charset="-120"/>
              </a:rPr>
              <a:t>Reports reference it, so isActive becomes false instead</a:t>
            </a:r>
            <a:endParaRPr lang="en-US" sz="1300" dirty="0"/>
          </a:p>
          <a:p>
            <a:pPr marL="342900" indent="-342900">
              <a:spcAft>
                <a:spcPts val="500"/>
              </a:spcAft>
              <a:buSzPct val="100000"/>
              <a:buChar char="•"/>
            </a:pPr>
            <a:r>
              <a:rPr lang="en-US" sz="1300" dirty="0">
                <a:solidFill>
                  <a:srgbClr val="17211C"/>
                </a:solidFill>
                <a:latin typeface="Calibri" pitchFamily="34" charset="0"/>
                <a:ea typeface="Calibri" pitchFamily="34" charset="-122"/>
                <a:cs typeface="Calibri" pitchFamily="34" charset="-120"/>
              </a:rPr>
              <a:t>Report.projectId is not nullable and carries no cascade, so Postgres refuses the other path</a:t>
            </a:r>
            <a:endParaRPr lang="en-US" sz="1300" dirty="0"/>
          </a:p>
        </p:txBody>
      </p:sp>
      <p:sp>
        <p:nvSpPr>
          <p:cNvPr id="10" name="Text 8"/>
          <p:cNvSpPr txBox="1"/>
          <p:nvPr/>
        </p:nvSpPr>
        <p:spPr>
          <a:xfrm>
            <a:off x="640080" y="5029200"/>
            <a:ext cx="10881360" cy="731520"/>
          </a:xfrm>
          <a:prstGeom prst="rect">
            <a:avLst/>
          </a:prstGeom>
          <a:noFill/>
          <a:ln/>
        </p:spPr>
        <p:txBody>
          <a:bodyPr wrap="square" lIns="0" tIns="0" rIns="0" bIns="0" rtlCol="0" anchor="ctr"/>
          <a:lstStyle/>
          <a:p>
            <a:pPr indent="0" marL="0">
              <a:buNone/>
            </a:pPr>
            <a:r>
              <a:rPr lang="en-US" sz="1350" i="1" dirty="0">
                <a:solidFill>
                  <a:srgbClr val="17211C"/>
                </a:solidFill>
                <a:latin typeface="Calibri" pitchFamily="34" charset="0"/>
                <a:ea typeface="Calibri" pitchFamily="34" charset="-122"/>
                <a:cs typeface="Calibri" pitchFamily="34" charset="-120"/>
              </a:rPr>
              <a:t>The alternative was versioning every child table too. That multiplies the table count and makes every query harder - for a history view the assignment only needed to be readable, not diffable.</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indent="0" marL="0">
              <a:buNone/>
            </a:pPr>
            <a:r>
              <a:rPr lang="en-US" sz="1100" b="1" spc="200" kern="0" dirty="0">
                <a:solidFill>
                  <a:srgbClr val="C8873A"/>
                </a:solidFill>
                <a:latin typeface="Calibri" pitchFamily="34" charset="0"/>
                <a:ea typeface="Calibri" pitchFamily="34" charset="-122"/>
                <a:cs typeface="Calibri" pitchFamily="34" charset="-120"/>
              </a:rPr>
              <a:t>THE REVIEW WORKFLOW</a:t>
            </a:r>
            <a:endParaRPr lang="en-US" sz="1100" dirty="0"/>
          </a:p>
        </p:txBody>
      </p:sp>
      <p:sp>
        <p:nvSpPr>
          <p:cNvPr id="3" name="Text 1"/>
          <p:cNvSpPr txBox="1"/>
          <p:nvPr/>
        </p:nvSpPr>
        <p:spPr>
          <a:xfrm>
            <a:off x="640080" y="685800"/>
            <a:ext cx="10881360" cy="685800"/>
          </a:xfrm>
          <a:prstGeom prst="rect">
            <a:avLst/>
          </a:prstGeom>
          <a:noFill/>
          <a:ln/>
        </p:spPr>
        <p:txBody>
          <a:bodyPr wrap="square" lIns="0" tIns="0" rIns="0" bIns="0" rtlCol="0" anchor="ctr"/>
          <a:lstStyle/>
          <a:p>
            <a:pPr indent="0" marL="0">
              <a:buNone/>
            </a:pPr>
            <a:r>
              <a:rPr lang="en-US" sz="3400" b="1" dirty="0">
                <a:solidFill>
                  <a:srgbClr val="17211C"/>
                </a:solidFill>
                <a:latin typeface="Cambria" pitchFamily="34" charset="0"/>
                <a:ea typeface="Cambria" pitchFamily="34" charset="-122"/>
                <a:cs typeface="Cambria" pitchFamily="34" charset="-120"/>
              </a:rPr>
              <a:t>Four states, and a loop</a:t>
            </a:r>
            <a:endParaRPr lang="en-US" sz="3400" dirty="0"/>
          </a:p>
        </p:txBody>
      </p:sp>
      <p:sp>
        <p:nvSpPr>
          <p:cNvPr id="4" name="Shape 2"/>
          <p:cNvSpPr/>
          <p:nvPr/>
        </p:nvSpPr>
        <p:spPr>
          <a:xfrm>
            <a:off x="1097280" y="1874520"/>
            <a:ext cx="2377440" cy="777240"/>
          </a:xfrm>
          <a:prstGeom prst="roundRect">
            <a:avLst>
              <a:gd name="adj" fmla="val 14118"/>
            </a:avLst>
          </a:prstGeom>
          <a:solidFill>
            <a:srgbClr val="E4E7E5"/>
          </a:solidFill>
          <a:ln w="12700">
            <a:solidFill>
              <a:srgbClr val="E4E7E5"/>
            </a:solidFill>
            <a:prstDash val="solid"/>
          </a:ln>
        </p:spPr>
      </p:sp>
      <p:sp>
        <p:nvSpPr>
          <p:cNvPr id="5" name="Text 3"/>
          <p:cNvSpPr txBox="1"/>
          <p:nvPr/>
        </p:nvSpPr>
        <p:spPr>
          <a:xfrm>
            <a:off x="1097280" y="1874520"/>
            <a:ext cx="2377440" cy="777240"/>
          </a:xfrm>
          <a:prstGeom prst="rect">
            <a:avLst/>
          </a:prstGeom>
          <a:noFill/>
          <a:ln/>
        </p:spPr>
        <p:txBody>
          <a:bodyPr wrap="square" lIns="0" tIns="0" rIns="0" bIns="0" rtlCol="0" anchor="ctr"/>
          <a:lstStyle/>
          <a:p>
            <a:pPr algn="ctr" indent="0" marL="0">
              <a:buNone/>
            </a:pPr>
            <a:r>
              <a:rPr lang="en-US" sz="1300" b="1" dirty="0">
                <a:solidFill>
                  <a:srgbClr val="17211C"/>
                </a:solidFill>
                <a:latin typeface="Calibri" pitchFamily="34" charset="0"/>
                <a:ea typeface="Calibri" pitchFamily="34" charset="-122"/>
                <a:cs typeface="Calibri" pitchFamily="34" charset="-120"/>
              </a:rPr>
              <a:t>DRAFT</a:t>
            </a:r>
            <a:endParaRPr lang="en-US" sz="1300" dirty="0"/>
          </a:p>
        </p:txBody>
      </p:sp>
      <p:sp>
        <p:nvSpPr>
          <p:cNvPr id="6" name="Shape 4"/>
          <p:cNvSpPr/>
          <p:nvPr/>
        </p:nvSpPr>
        <p:spPr>
          <a:xfrm>
            <a:off x="4846320" y="1874520"/>
            <a:ext cx="2377440" cy="777240"/>
          </a:xfrm>
          <a:prstGeom prst="roundRect">
            <a:avLst>
              <a:gd name="adj" fmla="val 14118"/>
            </a:avLst>
          </a:prstGeom>
          <a:solidFill>
            <a:srgbClr val="DCE8F5"/>
          </a:solidFill>
          <a:ln w="12700">
            <a:solidFill>
              <a:srgbClr val="DCE8F5"/>
            </a:solidFill>
            <a:prstDash val="solid"/>
          </a:ln>
        </p:spPr>
      </p:sp>
      <p:sp>
        <p:nvSpPr>
          <p:cNvPr id="7" name="Text 5"/>
          <p:cNvSpPr txBox="1"/>
          <p:nvPr/>
        </p:nvSpPr>
        <p:spPr>
          <a:xfrm>
            <a:off x="4846320" y="1874520"/>
            <a:ext cx="2377440" cy="777240"/>
          </a:xfrm>
          <a:prstGeom prst="rect">
            <a:avLst/>
          </a:prstGeom>
          <a:noFill/>
          <a:ln/>
        </p:spPr>
        <p:txBody>
          <a:bodyPr wrap="square" lIns="0" tIns="0" rIns="0" bIns="0" rtlCol="0" anchor="ctr"/>
          <a:lstStyle/>
          <a:p>
            <a:pPr algn="ctr" indent="0" marL="0">
              <a:buNone/>
            </a:pPr>
            <a:r>
              <a:rPr lang="en-US" sz="1300" b="1" dirty="0">
                <a:solidFill>
                  <a:srgbClr val="1B3D5C"/>
                </a:solidFill>
                <a:latin typeface="Calibri" pitchFamily="34" charset="0"/>
                <a:ea typeface="Calibri" pitchFamily="34" charset="-122"/>
                <a:cs typeface="Calibri" pitchFamily="34" charset="-120"/>
              </a:rPr>
              <a:t>SUBMITTED</a:t>
            </a:r>
            <a:endParaRPr lang="en-US" sz="1300" dirty="0"/>
          </a:p>
        </p:txBody>
      </p:sp>
      <p:sp>
        <p:nvSpPr>
          <p:cNvPr id="8" name="Shape 6"/>
          <p:cNvSpPr/>
          <p:nvPr/>
        </p:nvSpPr>
        <p:spPr>
          <a:xfrm>
            <a:off x="8595360" y="1874520"/>
            <a:ext cx="2377440" cy="777240"/>
          </a:xfrm>
          <a:prstGeom prst="roundRect">
            <a:avLst>
              <a:gd name="adj" fmla="val 14118"/>
            </a:avLst>
          </a:prstGeom>
          <a:solidFill>
            <a:srgbClr val="D8EDDF"/>
          </a:solidFill>
          <a:ln w="12700">
            <a:solidFill>
              <a:srgbClr val="D8EDDF"/>
            </a:solidFill>
            <a:prstDash val="solid"/>
          </a:ln>
        </p:spPr>
      </p:sp>
      <p:sp>
        <p:nvSpPr>
          <p:cNvPr id="9" name="Text 7"/>
          <p:cNvSpPr txBox="1"/>
          <p:nvPr/>
        </p:nvSpPr>
        <p:spPr>
          <a:xfrm>
            <a:off x="8595360" y="1874520"/>
            <a:ext cx="2377440" cy="777240"/>
          </a:xfrm>
          <a:prstGeom prst="rect">
            <a:avLst/>
          </a:prstGeom>
          <a:noFill/>
          <a:ln/>
        </p:spPr>
        <p:txBody>
          <a:bodyPr wrap="square" lIns="0" tIns="0" rIns="0" bIns="0" rtlCol="0" anchor="ctr"/>
          <a:lstStyle/>
          <a:p>
            <a:pPr algn="ctr" indent="0" marL="0">
              <a:buNone/>
            </a:pPr>
            <a:r>
              <a:rPr lang="en-US" sz="1300" b="1" dirty="0">
                <a:solidFill>
                  <a:srgbClr val="1F4D3A"/>
                </a:solidFill>
                <a:latin typeface="Calibri" pitchFamily="34" charset="0"/>
                <a:ea typeface="Calibri" pitchFamily="34" charset="-122"/>
                <a:cs typeface="Calibri" pitchFamily="34" charset="-120"/>
              </a:rPr>
              <a:t>APPROVED</a:t>
            </a:r>
            <a:endParaRPr lang="en-US" sz="1300" dirty="0"/>
          </a:p>
        </p:txBody>
      </p:sp>
      <p:sp>
        <p:nvSpPr>
          <p:cNvPr id="10" name="Shape 8"/>
          <p:cNvSpPr/>
          <p:nvPr/>
        </p:nvSpPr>
        <p:spPr>
          <a:xfrm>
            <a:off x="4846320" y="3429000"/>
            <a:ext cx="2377440" cy="777240"/>
          </a:xfrm>
          <a:prstGeom prst="roundRect">
            <a:avLst>
              <a:gd name="adj" fmla="val 14118"/>
            </a:avLst>
          </a:prstGeom>
          <a:solidFill>
            <a:srgbClr val="F7E8D2"/>
          </a:solidFill>
          <a:ln w="12700">
            <a:solidFill>
              <a:srgbClr val="F7E8D2"/>
            </a:solidFill>
            <a:prstDash val="solid"/>
          </a:ln>
        </p:spPr>
      </p:sp>
      <p:sp>
        <p:nvSpPr>
          <p:cNvPr id="11" name="Text 9"/>
          <p:cNvSpPr txBox="1"/>
          <p:nvPr/>
        </p:nvSpPr>
        <p:spPr>
          <a:xfrm>
            <a:off x="4846320" y="3429000"/>
            <a:ext cx="2377440" cy="777240"/>
          </a:xfrm>
          <a:prstGeom prst="rect">
            <a:avLst/>
          </a:prstGeom>
          <a:noFill/>
          <a:ln/>
        </p:spPr>
        <p:txBody>
          <a:bodyPr wrap="square" lIns="0" tIns="0" rIns="0" bIns="0" rtlCol="0" anchor="ctr"/>
          <a:lstStyle/>
          <a:p>
            <a:pPr algn="ctr" indent="0" marL="0">
              <a:buNone/>
            </a:pPr>
            <a:r>
              <a:rPr lang="en-US" sz="1300" b="1" dirty="0">
                <a:solidFill>
                  <a:srgbClr val="6B4310"/>
                </a:solidFill>
                <a:latin typeface="Calibri" pitchFamily="34" charset="0"/>
                <a:ea typeface="Calibri" pitchFamily="34" charset="-122"/>
                <a:cs typeface="Calibri" pitchFamily="34" charset="-120"/>
              </a:rPr>
              <a:t>NEEDS CORRECTION</a:t>
            </a:r>
            <a:endParaRPr lang="en-US" sz="1300" dirty="0"/>
          </a:p>
        </p:txBody>
      </p:sp>
      <p:sp>
        <p:nvSpPr>
          <p:cNvPr id="12" name="Shape 10"/>
          <p:cNvSpPr/>
          <p:nvPr/>
        </p:nvSpPr>
        <p:spPr>
          <a:xfrm>
            <a:off x="3611880" y="2148840"/>
            <a:ext cx="548640" cy="237744"/>
          </a:xfrm>
          <a:prstGeom prst="rightArrow">
            <a:avLst/>
          </a:prstGeom>
          <a:solidFill>
            <a:srgbClr val="8FBF9F"/>
          </a:solidFill>
          <a:ln w="12700">
            <a:solidFill>
              <a:srgbClr val="8FBF9F"/>
            </a:solidFill>
            <a:prstDash val="solid"/>
          </a:ln>
        </p:spPr>
      </p:sp>
      <p:sp>
        <p:nvSpPr>
          <p:cNvPr id="13" name="Text 11"/>
          <p:cNvSpPr txBox="1"/>
          <p:nvPr/>
        </p:nvSpPr>
        <p:spPr>
          <a:xfrm>
            <a:off x="3291840" y="1536192"/>
            <a:ext cx="1188720" cy="274320"/>
          </a:xfrm>
          <a:prstGeom prst="rect">
            <a:avLst/>
          </a:prstGeom>
          <a:noFill/>
          <a:ln/>
        </p:spPr>
        <p:txBody>
          <a:bodyPr wrap="square" lIns="0" tIns="0" rIns="0" bIns="0" rtlCol="0" anchor="ctr"/>
          <a:lstStyle/>
          <a:p>
            <a:pPr algn="ctr" indent="0" marL="0">
              <a:buNone/>
            </a:pPr>
            <a:r>
              <a:rPr lang="en-US" sz="1050" dirty="0">
                <a:solidFill>
                  <a:srgbClr val="6B776F"/>
                </a:solidFill>
                <a:latin typeface="Calibri" pitchFamily="34" charset="0"/>
                <a:ea typeface="Calibri" pitchFamily="34" charset="-122"/>
                <a:cs typeface="Calibri" pitchFamily="34" charset="-120"/>
              </a:rPr>
              <a:t>submit</a:t>
            </a:r>
            <a:endParaRPr lang="en-US" sz="1050" dirty="0"/>
          </a:p>
        </p:txBody>
      </p:sp>
      <p:sp>
        <p:nvSpPr>
          <p:cNvPr id="14" name="Shape 12"/>
          <p:cNvSpPr/>
          <p:nvPr/>
        </p:nvSpPr>
        <p:spPr>
          <a:xfrm>
            <a:off x="7360920" y="2148840"/>
            <a:ext cx="548640" cy="237744"/>
          </a:xfrm>
          <a:prstGeom prst="rightArrow">
            <a:avLst/>
          </a:prstGeom>
          <a:solidFill>
            <a:srgbClr val="8FBF9F"/>
          </a:solidFill>
          <a:ln w="12700">
            <a:solidFill>
              <a:srgbClr val="8FBF9F"/>
            </a:solidFill>
            <a:prstDash val="solid"/>
          </a:ln>
        </p:spPr>
      </p:sp>
      <p:sp>
        <p:nvSpPr>
          <p:cNvPr id="15" name="Text 13"/>
          <p:cNvSpPr txBox="1"/>
          <p:nvPr/>
        </p:nvSpPr>
        <p:spPr>
          <a:xfrm>
            <a:off x="7040880" y="1536192"/>
            <a:ext cx="1188720" cy="274320"/>
          </a:xfrm>
          <a:prstGeom prst="rect">
            <a:avLst/>
          </a:prstGeom>
          <a:noFill/>
          <a:ln/>
        </p:spPr>
        <p:txBody>
          <a:bodyPr wrap="square" lIns="0" tIns="0" rIns="0" bIns="0" rtlCol="0" anchor="ctr"/>
          <a:lstStyle/>
          <a:p>
            <a:pPr algn="ctr" indent="0" marL="0">
              <a:buNone/>
            </a:pPr>
            <a:r>
              <a:rPr lang="en-US" sz="1050" dirty="0">
                <a:solidFill>
                  <a:srgbClr val="6B776F"/>
                </a:solidFill>
                <a:latin typeface="Calibri" pitchFamily="34" charset="0"/>
                <a:ea typeface="Calibri" pitchFamily="34" charset="-122"/>
                <a:cs typeface="Calibri" pitchFamily="34" charset="-120"/>
              </a:rPr>
              <a:t>approve</a:t>
            </a:r>
            <a:endParaRPr lang="en-US" sz="1050" dirty="0"/>
          </a:p>
        </p:txBody>
      </p:sp>
      <p:sp>
        <p:nvSpPr>
          <p:cNvPr id="16" name="Shape 14"/>
          <p:cNvSpPr/>
          <p:nvPr/>
        </p:nvSpPr>
        <p:spPr>
          <a:xfrm>
            <a:off x="5440680" y="2697480"/>
            <a:ext cx="237744" cy="658368"/>
          </a:xfrm>
          <a:prstGeom prst="downArrow">
            <a:avLst/>
          </a:prstGeom>
          <a:solidFill>
            <a:srgbClr val="C8873A"/>
          </a:solidFill>
          <a:ln w="12700">
            <a:solidFill>
              <a:srgbClr val="C8873A"/>
            </a:solidFill>
            <a:prstDash val="solid"/>
          </a:ln>
        </p:spPr>
      </p:sp>
      <p:sp>
        <p:nvSpPr>
          <p:cNvPr id="17" name="Shape 15"/>
          <p:cNvSpPr/>
          <p:nvPr/>
        </p:nvSpPr>
        <p:spPr>
          <a:xfrm>
            <a:off x="6391656" y="2697480"/>
            <a:ext cx="237744" cy="658368"/>
          </a:xfrm>
          <a:prstGeom prst="upArrow">
            <a:avLst/>
          </a:prstGeom>
          <a:solidFill>
            <a:srgbClr val="8FBF9F"/>
          </a:solidFill>
          <a:ln w="12700">
            <a:solidFill>
              <a:srgbClr val="8FBF9F"/>
            </a:solidFill>
            <a:prstDash val="solid"/>
          </a:ln>
        </p:spPr>
      </p:sp>
      <p:sp>
        <p:nvSpPr>
          <p:cNvPr id="18" name="Text 16"/>
          <p:cNvSpPr txBox="1"/>
          <p:nvPr/>
        </p:nvSpPr>
        <p:spPr>
          <a:xfrm>
            <a:off x="3611880" y="2743200"/>
            <a:ext cx="1737360" cy="548640"/>
          </a:xfrm>
          <a:prstGeom prst="rect">
            <a:avLst/>
          </a:prstGeom>
          <a:noFill/>
          <a:ln/>
        </p:spPr>
        <p:txBody>
          <a:bodyPr wrap="square" lIns="0" tIns="0" rIns="0" bIns="0" rtlCol="0" anchor="ctr"/>
          <a:lstStyle/>
          <a:p>
            <a:pPr algn="r" indent="0" marL="0">
              <a:buNone/>
            </a:pPr>
            <a:r>
              <a:rPr lang="en-US" sz="1050" dirty="0">
                <a:solidFill>
                  <a:srgbClr val="6B776F"/>
                </a:solidFill>
                <a:latin typeface="Calibri" pitchFamily="34" charset="0"/>
                <a:ea typeface="Calibri" pitchFamily="34" charset="-122"/>
                <a:cs typeface="Calibri" pitchFamily="34" charset="-120"/>
              </a:rPr>
              <a:t>request changes</a:t>
            </a:r>
            <a:endParaRPr lang="en-US" sz="1050" dirty="0"/>
          </a:p>
        </p:txBody>
      </p:sp>
      <p:sp>
        <p:nvSpPr>
          <p:cNvPr id="19" name="Text 17"/>
          <p:cNvSpPr txBox="1"/>
          <p:nvPr/>
        </p:nvSpPr>
        <p:spPr>
          <a:xfrm>
            <a:off x="6720840" y="2871216"/>
            <a:ext cx="1463040" cy="274320"/>
          </a:xfrm>
          <a:prstGeom prst="rect">
            <a:avLst/>
          </a:prstGeom>
          <a:noFill/>
          <a:ln/>
        </p:spPr>
        <p:txBody>
          <a:bodyPr wrap="square" lIns="0" tIns="0" rIns="0" bIns="0" rtlCol="0" anchor="ctr"/>
          <a:lstStyle/>
          <a:p>
            <a:pPr algn="l" indent="0" marL="0">
              <a:buNone/>
            </a:pPr>
            <a:r>
              <a:rPr lang="en-US" sz="1050" dirty="0">
                <a:solidFill>
                  <a:srgbClr val="6B776F"/>
                </a:solidFill>
                <a:latin typeface="Calibri" pitchFamily="34" charset="0"/>
                <a:ea typeface="Calibri" pitchFamily="34" charset="-122"/>
                <a:cs typeface="Calibri" pitchFamily="34" charset="-120"/>
              </a:rPr>
              <a:t>resubmit</a:t>
            </a:r>
            <a:endParaRPr lang="en-US" sz="1050" dirty="0"/>
          </a:p>
        </p:txBody>
      </p:sp>
      <p:sp>
        <p:nvSpPr>
          <p:cNvPr id="20" name="Text 18"/>
          <p:cNvSpPr txBox="1"/>
          <p:nvPr/>
        </p:nvSpPr>
        <p:spPr>
          <a:xfrm>
            <a:off x="640080" y="4370832"/>
            <a:ext cx="10881360" cy="365760"/>
          </a:xfrm>
          <a:prstGeom prst="rect">
            <a:avLst/>
          </a:prstGeom>
          <a:noFill/>
          <a:ln/>
        </p:spPr>
        <p:txBody>
          <a:bodyPr wrap="square" lIns="0" tIns="0" rIns="0" bIns="0" rtlCol="0" anchor="ctr"/>
          <a:lstStyle/>
          <a:p>
            <a:pPr indent="0" marL="0">
              <a:buNone/>
            </a:pPr>
            <a:r>
              <a:rPr lang="en-US" sz="1300" i="1" dirty="0">
                <a:solidFill>
                  <a:srgbClr val="6B776F"/>
                </a:solidFill>
                <a:latin typeface="Calibri" pitchFamily="34" charset="0"/>
                <a:ea typeface="Calibri" pitchFamily="34" charset="-122"/>
                <a:cs typeface="Calibri" pitchFamily="34" charset="-120"/>
              </a:rPr>
              <a:t>A report loops between Submitted and Needs correction as many times as it takes.</a:t>
            </a:r>
            <a:endParaRPr lang="en-US" sz="1300" dirty="0"/>
          </a:p>
        </p:txBody>
      </p:sp>
      <p:sp>
        <p:nvSpPr>
          <p:cNvPr id="21" name="Shape 19"/>
          <p:cNvSpPr/>
          <p:nvPr/>
        </p:nvSpPr>
        <p:spPr>
          <a:xfrm>
            <a:off x="640080" y="4800600"/>
            <a:ext cx="3474720" cy="1234440"/>
          </a:xfrm>
          <a:prstGeom prst="roundRect">
            <a:avLst>
              <a:gd name="adj" fmla="val 6667"/>
            </a:avLst>
          </a:prstGeom>
          <a:solidFill>
            <a:srgbClr val="EFF4F0"/>
          </a:solidFill>
          <a:ln w="12700">
            <a:solidFill>
              <a:srgbClr val="EFF4F0"/>
            </a:solidFill>
            <a:prstDash val="solid"/>
          </a:ln>
        </p:spPr>
      </p:sp>
      <p:sp>
        <p:nvSpPr>
          <p:cNvPr id="22" name="Text 20"/>
          <p:cNvSpPr txBox="1"/>
          <p:nvPr/>
        </p:nvSpPr>
        <p:spPr>
          <a:xfrm>
            <a:off x="896112" y="5001768"/>
            <a:ext cx="2962656" cy="310896"/>
          </a:xfrm>
          <a:prstGeom prst="rect">
            <a:avLst/>
          </a:prstGeom>
          <a:noFill/>
          <a:ln/>
        </p:spPr>
        <p:txBody>
          <a:bodyPr wrap="square" lIns="0" tIns="0" rIns="0" bIns="0" rtlCol="0" anchor="ctr"/>
          <a:lstStyle/>
          <a:p>
            <a:pPr indent="0" marL="0">
              <a:buNone/>
            </a:pPr>
            <a:r>
              <a:rPr lang="en-US" sz="1400" b="1" dirty="0">
                <a:solidFill>
                  <a:srgbClr val="6B776F"/>
                </a:solidFill>
                <a:latin typeface="Cambria" pitchFamily="34" charset="0"/>
                <a:ea typeface="Cambria" pitchFamily="34" charset="-122"/>
                <a:cs typeface="Cambria" pitchFamily="34" charset="-120"/>
              </a:rPr>
              <a:t>Editable only while</a:t>
            </a:r>
            <a:endParaRPr lang="en-US" sz="1400" dirty="0"/>
          </a:p>
        </p:txBody>
      </p:sp>
      <p:sp>
        <p:nvSpPr>
          <p:cNvPr id="23" name="Text 21"/>
          <p:cNvSpPr txBox="1"/>
          <p:nvPr/>
        </p:nvSpPr>
        <p:spPr>
          <a:xfrm>
            <a:off x="896112" y="5422392"/>
            <a:ext cx="2962656" cy="448056"/>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1F4D3A"/>
                </a:solidFill>
                <a:latin typeface="Calibri" pitchFamily="34" charset="0"/>
                <a:ea typeface="Calibri" pitchFamily="34" charset="-122"/>
                <a:cs typeface="Calibri" pitchFamily="34" charset="-120"/>
              </a:rPr>
              <a:t>Draft or Needs correction</a:t>
            </a:r>
            <a:endParaRPr lang="en-US" sz="1400" dirty="0"/>
          </a:p>
        </p:txBody>
      </p:sp>
      <p:sp>
        <p:nvSpPr>
          <p:cNvPr id="24" name="Shape 22"/>
          <p:cNvSpPr/>
          <p:nvPr/>
        </p:nvSpPr>
        <p:spPr>
          <a:xfrm>
            <a:off x="4343400" y="4800600"/>
            <a:ext cx="3474720" cy="1234440"/>
          </a:xfrm>
          <a:prstGeom prst="roundRect">
            <a:avLst>
              <a:gd name="adj" fmla="val 6667"/>
            </a:avLst>
          </a:prstGeom>
          <a:solidFill>
            <a:srgbClr val="EFF4F0"/>
          </a:solidFill>
          <a:ln w="12700">
            <a:solidFill>
              <a:srgbClr val="EFF4F0"/>
            </a:solidFill>
            <a:prstDash val="solid"/>
          </a:ln>
        </p:spPr>
      </p:sp>
      <p:sp>
        <p:nvSpPr>
          <p:cNvPr id="25" name="Text 23"/>
          <p:cNvSpPr txBox="1"/>
          <p:nvPr/>
        </p:nvSpPr>
        <p:spPr>
          <a:xfrm>
            <a:off x="4599432" y="5001768"/>
            <a:ext cx="2962656" cy="310896"/>
          </a:xfrm>
          <a:prstGeom prst="rect">
            <a:avLst/>
          </a:prstGeom>
          <a:noFill/>
          <a:ln/>
        </p:spPr>
        <p:txBody>
          <a:bodyPr wrap="square" lIns="0" tIns="0" rIns="0" bIns="0" rtlCol="0" anchor="ctr"/>
          <a:lstStyle/>
          <a:p>
            <a:pPr indent="0" marL="0">
              <a:buNone/>
            </a:pPr>
            <a:r>
              <a:rPr lang="en-US" sz="1400" b="1" dirty="0">
                <a:solidFill>
                  <a:srgbClr val="6B776F"/>
                </a:solidFill>
                <a:latin typeface="Cambria" pitchFamily="34" charset="0"/>
                <a:ea typeface="Cambria" pitchFamily="34" charset="-122"/>
                <a:cs typeface="Cambria" pitchFamily="34" charset="-120"/>
              </a:rPr>
              <a:t>Editable only by</a:t>
            </a:r>
            <a:endParaRPr lang="en-US" sz="1400" dirty="0"/>
          </a:p>
        </p:txBody>
      </p:sp>
      <p:sp>
        <p:nvSpPr>
          <p:cNvPr id="26" name="Text 24"/>
          <p:cNvSpPr txBox="1"/>
          <p:nvPr/>
        </p:nvSpPr>
        <p:spPr>
          <a:xfrm>
            <a:off x="4599432" y="5422392"/>
            <a:ext cx="2962656" cy="448056"/>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1F4D3A"/>
                </a:solidFill>
                <a:latin typeface="Calibri" pitchFamily="34" charset="0"/>
                <a:ea typeface="Calibri" pitchFamily="34" charset="-122"/>
                <a:cs typeface="Calibri" pitchFamily="34" charset="-120"/>
              </a:rPr>
              <a:t>the person who owns it</a:t>
            </a:r>
            <a:endParaRPr lang="en-US" sz="1400" dirty="0"/>
          </a:p>
        </p:txBody>
      </p:sp>
      <p:sp>
        <p:nvSpPr>
          <p:cNvPr id="27" name="Shape 25"/>
          <p:cNvSpPr/>
          <p:nvPr/>
        </p:nvSpPr>
        <p:spPr>
          <a:xfrm>
            <a:off x="8046720" y="4800600"/>
            <a:ext cx="3474720" cy="1234440"/>
          </a:xfrm>
          <a:prstGeom prst="roundRect">
            <a:avLst>
              <a:gd name="adj" fmla="val 6667"/>
            </a:avLst>
          </a:prstGeom>
          <a:solidFill>
            <a:srgbClr val="EFF4F0"/>
          </a:solidFill>
          <a:ln w="12700">
            <a:solidFill>
              <a:srgbClr val="EFF4F0"/>
            </a:solidFill>
            <a:prstDash val="solid"/>
          </a:ln>
        </p:spPr>
      </p:sp>
      <p:sp>
        <p:nvSpPr>
          <p:cNvPr id="28" name="Text 26"/>
          <p:cNvSpPr txBox="1"/>
          <p:nvPr/>
        </p:nvSpPr>
        <p:spPr>
          <a:xfrm>
            <a:off x="8302752" y="5001768"/>
            <a:ext cx="2962656" cy="310896"/>
          </a:xfrm>
          <a:prstGeom prst="rect">
            <a:avLst/>
          </a:prstGeom>
          <a:noFill/>
          <a:ln/>
        </p:spPr>
        <p:txBody>
          <a:bodyPr wrap="square" lIns="0" tIns="0" rIns="0" bIns="0" rtlCol="0" anchor="ctr"/>
          <a:lstStyle/>
          <a:p>
            <a:pPr indent="0" marL="0">
              <a:buNone/>
            </a:pPr>
            <a:r>
              <a:rPr lang="en-US" sz="1400" b="1" dirty="0">
                <a:solidFill>
                  <a:srgbClr val="6B776F"/>
                </a:solidFill>
                <a:latin typeface="Cambria" pitchFamily="34" charset="0"/>
                <a:ea typeface="Cambria" pitchFamily="34" charset="-122"/>
                <a:cs typeface="Cambria" pitchFamily="34" charset="-120"/>
              </a:rPr>
              <a:t>A manager may change</a:t>
            </a:r>
            <a:endParaRPr lang="en-US" sz="1400" dirty="0"/>
          </a:p>
        </p:txBody>
      </p:sp>
      <p:sp>
        <p:nvSpPr>
          <p:cNvPr id="29" name="Text 27"/>
          <p:cNvSpPr txBox="1"/>
          <p:nvPr/>
        </p:nvSpPr>
        <p:spPr>
          <a:xfrm>
            <a:off x="8302752" y="5422392"/>
            <a:ext cx="2962656" cy="448056"/>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1F4D3A"/>
                </a:solidFill>
                <a:latin typeface="Calibri" pitchFamily="34" charset="0"/>
                <a:ea typeface="Calibri" pitchFamily="34" charset="-122"/>
                <a:cs typeface="Calibri" pitchFamily="34" charset="-120"/>
              </a:rPr>
              <a:t>status and comment - never content</a:t>
            </a:r>
            <a:endParaRPr lang="en-US" sz="1400" dirty="0"/>
          </a:p>
        </p:txBody>
      </p:sp>
      <p:sp>
        <p:nvSpPr>
          <p:cNvPr id="30" name="Text 28"/>
          <p:cNvSpPr txBox="1"/>
          <p:nvPr/>
        </p:nvSpPr>
        <p:spPr>
          <a:xfrm>
            <a:off x="640080" y="6144768"/>
            <a:ext cx="10881360" cy="320040"/>
          </a:xfrm>
          <a:prstGeom prst="rect">
            <a:avLst/>
          </a:prstGeom>
          <a:noFill/>
          <a:ln/>
        </p:spPr>
        <p:txBody>
          <a:bodyPr wrap="square" lIns="0" tIns="0" rIns="0" bIns="0" rtlCol="0" anchor="ctr"/>
          <a:lstStyle/>
          <a:p>
            <a:pPr indent="0" marL="0">
              <a:buNone/>
            </a:pPr>
            <a:r>
              <a:rPr lang="en-US" sz="1300" b="1" dirty="0">
                <a:solidFill>
                  <a:srgbClr val="C8873A"/>
                </a:solidFill>
                <a:latin typeface="Calibri" pitchFamily="34" charset="0"/>
                <a:ea typeface="Calibri" pitchFamily="34" charset="-122"/>
                <a:cs typeface="Calibri" pitchFamily="34" charset="-120"/>
              </a:rPr>
              <a:t>There is an automated test asserting the third rule.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indent="0" marL="0">
              <a:buNone/>
            </a:pPr>
            <a:r>
              <a:rPr lang="en-US" sz="1100" b="1" spc="200" kern="0" dirty="0">
                <a:solidFill>
                  <a:srgbClr val="C8873A"/>
                </a:solidFill>
                <a:latin typeface="Calibri" pitchFamily="34" charset="0"/>
                <a:ea typeface="Calibri" pitchFamily="34" charset="-122"/>
                <a:cs typeface="Calibri" pitchFamily="34" charset="-120"/>
              </a:rPr>
              <a:t>IMPLEMENTATION</a:t>
            </a:r>
            <a:endParaRPr lang="en-US" sz="1100" dirty="0"/>
          </a:p>
        </p:txBody>
      </p:sp>
      <p:sp>
        <p:nvSpPr>
          <p:cNvPr id="3" name="Text 1"/>
          <p:cNvSpPr txBox="1"/>
          <p:nvPr/>
        </p:nvSpPr>
        <p:spPr>
          <a:xfrm>
            <a:off x="640080" y="685800"/>
            <a:ext cx="10881360" cy="685800"/>
          </a:xfrm>
          <a:prstGeom prst="rect">
            <a:avLst/>
          </a:prstGeom>
          <a:noFill/>
          <a:ln/>
        </p:spPr>
        <p:txBody>
          <a:bodyPr wrap="square" lIns="0" tIns="0" rIns="0" bIns="0" rtlCol="0" anchor="ctr"/>
          <a:lstStyle/>
          <a:p>
            <a:pPr indent="0" marL="0">
              <a:buNone/>
            </a:pPr>
            <a:r>
              <a:rPr lang="en-US" sz="3400" b="1" dirty="0">
                <a:solidFill>
                  <a:srgbClr val="17211C"/>
                </a:solidFill>
                <a:latin typeface="Cambria" pitchFamily="34" charset="0"/>
                <a:ea typeface="Cambria" pitchFamily="34" charset="-122"/>
                <a:cs typeface="Cambria" pitchFamily="34" charset="-120"/>
              </a:rPr>
              <a:t>Submitting is one transaction</a:t>
            </a:r>
            <a:endParaRPr lang="en-US" sz="3400" dirty="0"/>
          </a:p>
        </p:txBody>
      </p:sp>
      <p:sp>
        <p:nvSpPr>
          <p:cNvPr id="4" name="Shape 2"/>
          <p:cNvSpPr/>
          <p:nvPr/>
        </p:nvSpPr>
        <p:spPr>
          <a:xfrm>
            <a:off x="640080" y="1554480"/>
            <a:ext cx="5852160" cy="2011680"/>
          </a:xfrm>
          <a:prstGeom prst="roundRect">
            <a:avLst>
              <a:gd name="adj" fmla="val 3182"/>
            </a:avLst>
          </a:prstGeom>
          <a:solidFill>
            <a:srgbClr val="13251D"/>
          </a:solidFill>
          <a:ln w="12700">
            <a:solidFill>
              <a:srgbClr val="13251D"/>
            </a:solidFill>
            <a:prstDash val="solid"/>
          </a:ln>
        </p:spPr>
      </p:sp>
      <p:sp>
        <p:nvSpPr>
          <p:cNvPr id="5" name="Text 3"/>
          <p:cNvSpPr txBox="1"/>
          <p:nvPr/>
        </p:nvSpPr>
        <p:spPr>
          <a:xfrm>
            <a:off x="841248" y="1700784"/>
            <a:ext cx="5449824" cy="1719072"/>
          </a:xfrm>
          <a:prstGeom prst="rect">
            <a:avLst/>
          </a:prstGeom>
          <a:noFill/>
          <a:ln/>
        </p:spPr>
        <p:txBody>
          <a:bodyPr wrap="square" lIns="0" tIns="0" rIns="0" bIns="0" rtlCol="0" anchor="t"/>
          <a:lstStyle/>
          <a:p>
            <a:pPr indent="0" marL="0">
              <a:buNone/>
            </a:pPr>
            <a:r>
              <a:rPr lang="en-US" sz="1250" dirty="0">
                <a:solidFill>
                  <a:srgbClr val="CFE3D6"/>
                </a:solidFill>
                <a:latin typeface="Consolas" pitchFamily="34" charset="0"/>
                <a:ea typeface="Consolas" pitchFamily="34" charset="-122"/>
                <a:cs typeface="Consolas" pitchFamily="34" charset="-120"/>
              </a:rPr>
              <a:t>prisma.$transaction(async (tx) =&gt; {</a:t>
            </a:r>
            <a:endParaRPr lang="en-US" sz="1250" dirty="0"/>
          </a:p>
          <a:p>
            <a:pPr indent="0" marL="0">
              <a:buNone/>
            </a:pPr>
            <a:r>
              <a:rPr lang="en-US" sz="1250" dirty="0">
                <a:solidFill>
                  <a:srgbClr val="CFE3D6"/>
                </a:solidFill>
                <a:latin typeface="Consolas" pitchFamily="34" charset="0"/>
                <a:ea typeface="Consolas" pitchFamily="34" charset="-122"/>
                <a:cs typeface="Consolas" pitchFamily="34" charset="-120"/>
              </a:rPr>
              <a:t>  await tx.reportVersion.create({</a:t>
            </a:r>
            <a:endParaRPr lang="en-US" sz="1250" dirty="0"/>
          </a:p>
          <a:p>
            <a:pPr indent="0" marL="0">
              <a:buNone/>
            </a:pPr>
            <a:r>
              <a:rPr lang="en-US" sz="1250" dirty="0">
                <a:solidFill>
                  <a:srgbClr val="CFE3D6"/>
                </a:solidFill>
                <a:latin typeface="Consolas" pitchFamily="34" charset="0"/>
                <a:ea typeface="Consolas" pitchFamily="34" charset="-122"/>
                <a:cs typeface="Consolas" pitchFamily="34" charset="-120"/>
              </a:rPr>
              <a:t>    data: { versionNumber, contentSnapshot }</a:t>
            </a:r>
            <a:endParaRPr lang="en-US" sz="1250" dirty="0"/>
          </a:p>
          <a:p>
            <a:pPr indent="0" marL="0">
              <a:buNone/>
            </a:pPr>
            <a:r>
              <a:rPr lang="en-US" sz="1250" dirty="0">
                <a:solidFill>
                  <a:srgbClr val="CFE3D6"/>
                </a:solidFill>
                <a:latin typeface="Consolas" pitchFamily="34" charset="0"/>
                <a:ea typeface="Consolas" pitchFamily="34" charset="-122"/>
                <a:cs typeface="Consolas" pitchFamily="34" charset="-120"/>
              </a:rPr>
              <a:t>  });</a:t>
            </a:r>
            <a:endParaRPr lang="en-US" sz="1250" dirty="0"/>
          </a:p>
          <a:p>
            <a:pPr indent="0" marL="0">
              <a:buNone/>
            </a:pPr>
            <a:endParaRPr lang="en-US" sz="1250" dirty="0"/>
          </a:p>
          <a:p>
            <a:pPr indent="0" marL="0">
              <a:buNone/>
            </a:pPr>
            <a:r>
              <a:rPr lang="en-US" sz="1250" dirty="0">
                <a:solidFill>
                  <a:srgbClr val="CFE3D6"/>
                </a:solidFill>
                <a:latin typeface="Consolas" pitchFamily="34" charset="0"/>
                <a:ea typeface="Consolas" pitchFamily="34" charset="-122"/>
                <a:cs typeface="Consolas" pitchFamily="34" charset="-120"/>
              </a:rPr>
              <a:t>  return tx.report.update({</a:t>
            </a:r>
            <a:endParaRPr lang="en-US" sz="1250" dirty="0"/>
          </a:p>
          <a:p>
            <a:pPr indent="0" marL="0">
              <a:buNone/>
            </a:pPr>
            <a:r>
              <a:rPr lang="en-US" sz="1250" dirty="0">
                <a:solidFill>
                  <a:srgbClr val="CFE3D6"/>
                </a:solidFill>
                <a:latin typeface="Consolas" pitchFamily="34" charset="0"/>
                <a:ea typeface="Consolas" pitchFamily="34" charset="-122"/>
                <a:cs typeface="Consolas" pitchFamily="34" charset="-120"/>
              </a:rPr>
              <a:t>    data: { status: "SUBMITTED" }</a:t>
            </a:r>
            <a:endParaRPr lang="en-US" sz="1250" dirty="0"/>
          </a:p>
          <a:p>
            <a:pPr indent="0" marL="0">
              <a:buNone/>
            </a:pPr>
            <a:r>
              <a:rPr lang="en-US" sz="1250" dirty="0">
                <a:solidFill>
                  <a:srgbClr val="CFE3D6"/>
                </a:solidFill>
                <a:latin typeface="Consolas" pitchFamily="34" charset="0"/>
                <a:ea typeface="Consolas" pitchFamily="34" charset="-122"/>
                <a:cs typeface="Consolas" pitchFamily="34" charset="-120"/>
              </a:rPr>
              <a:t>  });</a:t>
            </a:r>
            <a:endParaRPr lang="en-US" sz="1250" dirty="0"/>
          </a:p>
          <a:p>
            <a:pPr indent="0" marL="0">
              <a:buNone/>
            </a:pPr>
            <a:r>
              <a:rPr lang="en-US" sz="1250" dirty="0">
                <a:solidFill>
                  <a:srgbClr val="CFE3D6"/>
                </a:solidFill>
                <a:latin typeface="Consolas" pitchFamily="34" charset="0"/>
                <a:ea typeface="Consolas" pitchFamily="34" charset="-122"/>
                <a:cs typeface="Consolas" pitchFamily="34" charset="-120"/>
              </a:rPr>
              <a:t>});</a:t>
            </a:r>
            <a:endParaRPr lang="en-US" sz="1250" dirty="0"/>
          </a:p>
        </p:txBody>
      </p:sp>
      <p:sp>
        <p:nvSpPr>
          <p:cNvPr id="6" name="Shape 4"/>
          <p:cNvSpPr/>
          <p:nvPr/>
        </p:nvSpPr>
        <p:spPr>
          <a:xfrm>
            <a:off x="6766560" y="1554480"/>
            <a:ext cx="4754880" cy="2011680"/>
          </a:xfrm>
          <a:prstGeom prst="roundRect">
            <a:avLst>
              <a:gd name="adj" fmla="val 4091"/>
            </a:avLst>
          </a:prstGeom>
          <a:solidFill>
            <a:srgbClr val="EFF4F0"/>
          </a:solidFill>
          <a:ln w="12700">
            <a:solidFill>
              <a:srgbClr val="EFF4F0"/>
            </a:solidFill>
            <a:prstDash val="solid"/>
          </a:ln>
        </p:spPr>
      </p:sp>
      <p:sp>
        <p:nvSpPr>
          <p:cNvPr id="7" name="Text 5"/>
          <p:cNvSpPr txBox="1"/>
          <p:nvPr/>
        </p:nvSpPr>
        <p:spPr>
          <a:xfrm>
            <a:off x="7022592" y="1755648"/>
            <a:ext cx="4242816" cy="310896"/>
          </a:xfrm>
          <a:prstGeom prst="rect">
            <a:avLst/>
          </a:prstGeom>
          <a:noFill/>
          <a:ln/>
        </p:spPr>
        <p:txBody>
          <a:bodyPr wrap="square" lIns="0" tIns="0" rIns="0" bIns="0" rtlCol="0" anchor="ctr"/>
          <a:lstStyle/>
          <a:p>
            <a:pPr indent="0" marL="0">
              <a:buNone/>
            </a:pPr>
            <a:r>
              <a:rPr lang="en-US" sz="1600" b="1" dirty="0">
                <a:solidFill>
                  <a:srgbClr val="1F4D3A"/>
                </a:solidFill>
                <a:latin typeface="Cambria" pitchFamily="34" charset="0"/>
                <a:ea typeface="Cambria" pitchFamily="34" charset="-122"/>
                <a:cs typeface="Cambria" pitchFamily="34" charset="-120"/>
              </a:rPr>
              <a:t>Both writes, or neither</a:t>
            </a:r>
            <a:endParaRPr lang="en-US" sz="1600" dirty="0"/>
          </a:p>
        </p:txBody>
      </p:sp>
      <p:sp>
        <p:nvSpPr>
          <p:cNvPr id="8" name="Text 6"/>
          <p:cNvSpPr txBox="1"/>
          <p:nvPr/>
        </p:nvSpPr>
        <p:spPr>
          <a:xfrm>
            <a:off x="7022592" y="2176272"/>
            <a:ext cx="4242816" cy="1225296"/>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17211C"/>
                </a:solidFill>
                <a:latin typeface="Calibri" pitchFamily="34" charset="0"/>
                <a:ea typeface="Calibri" pitchFamily="34" charset="-122"/>
                <a:cs typeface="Calibri" pitchFamily="34" charset="-120"/>
              </a:rPr>
              <a:t>A snapshot saved without the status change would describe a report that was never submitted</a:t>
            </a:r>
            <a:endParaRPr lang="en-US" sz="1250" dirty="0"/>
          </a:p>
          <a:p>
            <a:pPr marL="342900" indent="-342900">
              <a:spcAft>
                <a:spcPts val="500"/>
              </a:spcAft>
              <a:buSzPct val="100000"/>
              <a:buChar char="•"/>
            </a:pPr>
            <a:r>
              <a:rPr lang="en-US" sz="1250" dirty="0">
                <a:solidFill>
                  <a:srgbClr val="17211C"/>
                </a:solidFill>
                <a:latin typeface="Calibri" pitchFamily="34" charset="0"/>
                <a:ea typeface="Calibri" pitchFamily="34" charset="-122"/>
                <a:cs typeface="Calibri" pitchFamily="34" charset="-120"/>
              </a:rPr>
              <a:t>The data would be lying about itself</a:t>
            </a:r>
            <a:endParaRPr lang="en-US" sz="1250" dirty="0"/>
          </a:p>
        </p:txBody>
      </p:sp>
      <p:sp>
        <p:nvSpPr>
          <p:cNvPr id="9" name="Shape 7"/>
          <p:cNvSpPr/>
          <p:nvPr/>
        </p:nvSpPr>
        <p:spPr>
          <a:xfrm>
            <a:off x="640080" y="3794760"/>
            <a:ext cx="5303520" cy="1828800"/>
          </a:xfrm>
          <a:prstGeom prst="roundRect">
            <a:avLst>
              <a:gd name="adj" fmla="val 4500"/>
            </a:avLst>
          </a:prstGeom>
          <a:solidFill>
            <a:srgbClr val="EFF4F0"/>
          </a:solidFill>
          <a:ln w="12700">
            <a:solidFill>
              <a:srgbClr val="EFF4F0"/>
            </a:solidFill>
            <a:prstDash val="solid"/>
          </a:ln>
        </p:spPr>
      </p:sp>
      <p:sp>
        <p:nvSpPr>
          <p:cNvPr id="10" name="Text 8"/>
          <p:cNvSpPr txBox="1"/>
          <p:nvPr/>
        </p:nvSpPr>
        <p:spPr>
          <a:xfrm>
            <a:off x="896112" y="3995928"/>
            <a:ext cx="4791456" cy="310896"/>
          </a:xfrm>
          <a:prstGeom prst="rect">
            <a:avLst/>
          </a:prstGeom>
          <a:noFill/>
          <a:ln/>
        </p:spPr>
        <p:txBody>
          <a:bodyPr wrap="square" lIns="0" tIns="0" rIns="0" bIns="0" rtlCol="0" anchor="ctr"/>
          <a:lstStyle/>
          <a:p>
            <a:pPr indent="0" marL="0">
              <a:buNone/>
            </a:pPr>
            <a:r>
              <a:rPr lang="en-US" sz="1600" b="1" dirty="0">
                <a:solidFill>
                  <a:srgbClr val="1F4D3A"/>
                </a:solidFill>
                <a:latin typeface="Cambria" pitchFamily="34" charset="0"/>
                <a:ea typeface="Cambria" pitchFamily="34" charset="-122"/>
                <a:cs typeface="Cambria" pitchFamily="34" charset="-120"/>
              </a:rPr>
              <a:t>Reviewing</a:t>
            </a:r>
            <a:endParaRPr lang="en-US" sz="1600" dirty="0"/>
          </a:p>
        </p:txBody>
      </p:sp>
      <p:sp>
        <p:nvSpPr>
          <p:cNvPr id="11" name="Text 9"/>
          <p:cNvSpPr txBox="1"/>
          <p:nvPr/>
        </p:nvSpPr>
        <p:spPr>
          <a:xfrm>
            <a:off x="896112" y="4416552"/>
            <a:ext cx="4791456" cy="1042416"/>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17211C"/>
                </a:solidFill>
                <a:latin typeface="Calibri" pitchFamily="34" charset="0"/>
                <a:ea typeface="Calibri" pitchFamily="34" charset="-122"/>
                <a:cs typeface="Calibri" pitchFamily="34" charset="-120"/>
              </a:rPr>
              <a:t>The decision and comment are written onto that version's row</a:t>
            </a:r>
            <a:endParaRPr lang="en-US" sz="1300" dirty="0"/>
          </a:p>
          <a:p>
            <a:pPr marL="342900" indent="-342900">
              <a:spcAft>
                <a:spcPts val="500"/>
              </a:spcAft>
              <a:buSzPct val="100000"/>
              <a:buChar char="•"/>
            </a:pPr>
            <a:r>
              <a:rPr lang="en-US" sz="1300" dirty="0">
                <a:solidFill>
                  <a:srgbClr val="17211C"/>
                </a:solidFill>
                <a:latin typeface="Calibri" pitchFamily="34" charset="0"/>
                <a:ea typeface="Calibri" pitchFamily="34" charset="-122"/>
                <a:cs typeface="Calibri" pitchFamily="34" charset="-120"/>
              </a:rPr>
              <a:t>Then the report's status changes - again in one transaction</a:t>
            </a:r>
            <a:endParaRPr lang="en-US" sz="1300" dirty="0"/>
          </a:p>
        </p:txBody>
      </p:sp>
      <p:sp>
        <p:nvSpPr>
          <p:cNvPr id="12" name="Shape 10"/>
          <p:cNvSpPr/>
          <p:nvPr/>
        </p:nvSpPr>
        <p:spPr>
          <a:xfrm>
            <a:off x="6217920" y="3794760"/>
            <a:ext cx="5303520" cy="1828800"/>
          </a:xfrm>
          <a:prstGeom prst="roundRect">
            <a:avLst>
              <a:gd name="adj" fmla="val 4500"/>
            </a:avLst>
          </a:prstGeom>
          <a:solidFill>
            <a:srgbClr val="EFF4F0"/>
          </a:solidFill>
          <a:ln w="12700">
            <a:solidFill>
              <a:srgbClr val="EFF4F0"/>
            </a:solidFill>
            <a:prstDash val="solid"/>
          </a:ln>
        </p:spPr>
      </p:sp>
      <p:sp>
        <p:nvSpPr>
          <p:cNvPr id="13" name="Text 11"/>
          <p:cNvSpPr txBox="1"/>
          <p:nvPr/>
        </p:nvSpPr>
        <p:spPr>
          <a:xfrm>
            <a:off x="6473952" y="3995928"/>
            <a:ext cx="4791456" cy="310896"/>
          </a:xfrm>
          <a:prstGeom prst="rect">
            <a:avLst/>
          </a:prstGeom>
          <a:noFill/>
          <a:ln/>
        </p:spPr>
        <p:txBody>
          <a:bodyPr wrap="square" lIns="0" tIns="0" rIns="0" bIns="0" rtlCol="0" anchor="ctr"/>
          <a:lstStyle/>
          <a:p>
            <a:pPr indent="0" marL="0">
              <a:buNone/>
            </a:pPr>
            <a:r>
              <a:rPr lang="en-US" sz="1600" b="1" dirty="0">
                <a:solidFill>
                  <a:srgbClr val="1F4D3A"/>
                </a:solidFill>
                <a:latin typeface="Cambria" pitchFamily="34" charset="0"/>
                <a:ea typeface="Cambria" pitchFamily="34" charset="-122"/>
                <a:cs typeface="Cambria" pitchFamily="34" charset="-120"/>
              </a:rPr>
              <a:t>Editing</a:t>
            </a:r>
            <a:endParaRPr lang="en-US" sz="1600" dirty="0"/>
          </a:p>
        </p:txBody>
      </p:sp>
      <p:sp>
        <p:nvSpPr>
          <p:cNvPr id="14" name="Text 12"/>
          <p:cNvSpPr txBox="1"/>
          <p:nvPr/>
        </p:nvSpPr>
        <p:spPr>
          <a:xfrm>
            <a:off x="6473952" y="4416552"/>
            <a:ext cx="4791456" cy="1042416"/>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17211C"/>
                </a:solidFill>
                <a:latin typeface="Calibri" pitchFamily="34" charset="0"/>
                <a:ea typeface="Calibri" pitchFamily="34" charset="-122"/>
                <a:cs typeface="Calibri" pitchFamily="34" charset="-120"/>
              </a:rPr>
              <a:t>The client sends the full list of tasks, blockers and hours</a:t>
            </a:r>
            <a:endParaRPr lang="en-US" sz="1300" dirty="0"/>
          </a:p>
          <a:p>
            <a:pPr marL="342900" indent="-342900">
              <a:spcAft>
                <a:spcPts val="500"/>
              </a:spcAft>
              <a:buSzPct val="100000"/>
              <a:buChar char="•"/>
            </a:pPr>
            <a:r>
              <a:rPr lang="en-US" sz="1300" dirty="0">
                <a:solidFill>
                  <a:srgbClr val="17211C"/>
                </a:solidFill>
                <a:latin typeface="Calibri" pitchFamily="34" charset="0"/>
                <a:ea typeface="Calibri" pitchFamily="34" charset="-122"/>
                <a:cs typeface="Calibri" pitchFamily="34" charset="-120"/>
              </a:rPr>
              <a:t>The server replaces the child rows in a single nested write - no diffing</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indent="0" marL="0">
              <a:buNone/>
            </a:pPr>
            <a:r>
              <a:rPr lang="en-US" sz="1100" b="1" spc="200" kern="0" dirty="0">
                <a:solidFill>
                  <a:srgbClr val="C8873A"/>
                </a:solidFill>
                <a:latin typeface="Calibri" pitchFamily="34" charset="0"/>
                <a:ea typeface="Calibri" pitchFamily="34" charset="-122"/>
                <a:cs typeface="Calibri" pitchFamily="34" charset="-120"/>
              </a:rPr>
              <a:t>BACKEND STRUCTURE</a:t>
            </a:r>
            <a:endParaRPr lang="en-US" sz="1100" dirty="0"/>
          </a:p>
        </p:txBody>
      </p:sp>
      <p:sp>
        <p:nvSpPr>
          <p:cNvPr id="3" name="Text 1"/>
          <p:cNvSpPr txBox="1"/>
          <p:nvPr/>
        </p:nvSpPr>
        <p:spPr>
          <a:xfrm>
            <a:off x="640080" y="685800"/>
            <a:ext cx="10881360" cy="685800"/>
          </a:xfrm>
          <a:prstGeom prst="rect">
            <a:avLst/>
          </a:prstGeom>
          <a:noFill/>
          <a:ln/>
        </p:spPr>
        <p:txBody>
          <a:bodyPr wrap="square" lIns="0" tIns="0" rIns="0" bIns="0" rtlCol="0" anchor="ctr"/>
          <a:lstStyle/>
          <a:p>
            <a:pPr indent="0" marL="0">
              <a:buNone/>
            </a:pPr>
            <a:r>
              <a:rPr lang="en-US" sz="3400" b="1" dirty="0">
                <a:solidFill>
                  <a:srgbClr val="17211C"/>
                </a:solidFill>
                <a:latin typeface="Cambria" pitchFamily="34" charset="0"/>
                <a:ea typeface="Cambria" pitchFamily="34" charset="-122"/>
                <a:cs typeface="Cambria" pitchFamily="34" charset="-120"/>
              </a:rPr>
              <a:t>Each layer has one job</a:t>
            </a:r>
            <a:endParaRPr lang="en-US" sz="3400" dirty="0"/>
          </a:p>
        </p:txBody>
      </p:sp>
      <p:sp>
        <p:nvSpPr>
          <p:cNvPr id="4" name="Shape 2"/>
          <p:cNvSpPr/>
          <p:nvPr/>
        </p:nvSpPr>
        <p:spPr>
          <a:xfrm>
            <a:off x="640080" y="1554480"/>
            <a:ext cx="2103120" cy="502920"/>
          </a:xfrm>
          <a:prstGeom prst="roundRect">
            <a:avLst>
              <a:gd name="adj" fmla="val 18182"/>
            </a:avLst>
          </a:prstGeom>
          <a:solidFill>
            <a:srgbClr val="1F4D3A"/>
          </a:solidFill>
          <a:ln w="12700">
            <a:solidFill>
              <a:srgbClr val="1F4D3A"/>
            </a:solidFill>
            <a:prstDash val="solid"/>
          </a:ln>
        </p:spPr>
      </p:sp>
      <p:sp>
        <p:nvSpPr>
          <p:cNvPr id="5" name="Text 3"/>
          <p:cNvSpPr txBox="1"/>
          <p:nvPr/>
        </p:nvSpPr>
        <p:spPr>
          <a:xfrm>
            <a:off x="640080" y="1554480"/>
            <a:ext cx="21031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routes/</a:t>
            </a:r>
            <a:endParaRPr lang="en-US" sz="1300" dirty="0"/>
          </a:p>
        </p:txBody>
      </p:sp>
      <p:sp>
        <p:nvSpPr>
          <p:cNvPr id="6" name="Text 4"/>
          <p:cNvSpPr txBox="1"/>
          <p:nvPr/>
        </p:nvSpPr>
        <p:spPr>
          <a:xfrm>
            <a:off x="3017520" y="1554480"/>
            <a:ext cx="4754880" cy="502920"/>
          </a:xfrm>
          <a:prstGeom prst="rect">
            <a:avLst/>
          </a:prstGeom>
          <a:noFill/>
          <a:ln/>
        </p:spPr>
        <p:txBody>
          <a:bodyPr wrap="square" lIns="0" tIns="0" rIns="0" bIns="0" rtlCol="0" anchor="ctr"/>
          <a:lstStyle/>
          <a:p>
            <a:pPr indent="0" marL="0">
              <a:buNone/>
            </a:pPr>
            <a:r>
              <a:rPr lang="en-US" sz="1300" dirty="0">
                <a:solidFill>
                  <a:srgbClr val="17211C"/>
                </a:solidFill>
                <a:latin typeface="Calibri" pitchFamily="34" charset="0"/>
                <a:ea typeface="Calibri" pitchFamily="34" charset="-122"/>
                <a:cs typeface="Calibri" pitchFamily="34" charset="-120"/>
              </a:rPr>
              <a:t>URL, method, and who may call it</a:t>
            </a:r>
            <a:endParaRPr lang="en-US" sz="1300" dirty="0"/>
          </a:p>
        </p:txBody>
      </p:sp>
      <p:sp>
        <p:nvSpPr>
          <p:cNvPr id="7" name="Shape 5"/>
          <p:cNvSpPr/>
          <p:nvPr/>
        </p:nvSpPr>
        <p:spPr>
          <a:xfrm>
            <a:off x="640080" y="2212848"/>
            <a:ext cx="2103120" cy="502920"/>
          </a:xfrm>
          <a:prstGeom prst="roundRect">
            <a:avLst>
              <a:gd name="adj" fmla="val 18182"/>
            </a:avLst>
          </a:prstGeom>
          <a:solidFill>
            <a:srgbClr val="1F4D3A"/>
          </a:solidFill>
          <a:ln w="12700">
            <a:solidFill>
              <a:srgbClr val="1F4D3A"/>
            </a:solidFill>
            <a:prstDash val="solid"/>
          </a:ln>
        </p:spPr>
      </p:sp>
      <p:sp>
        <p:nvSpPr>
          <p:cNvPr id="8" name="Text 6"/>
          <p:cNvSpPr txBox="1"/>
          <p:nvPr/>
        </p:nvSpPr>
        <p:spPr>
          <a:xfrm>
            <a:off x="640080" y="2212848"/>
            <a:ext cx="21031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controllers/</a:t>
            </a:r>
            <a:endParaRPr lang="en-US" sz="1300" dirty="0"/>
          </a:p>
        </p:txBody>
      </p:sp>
      <p:sp>
        <p:nvSpPr>
          <p:cNvPr id="9" name="Text 7"/>
          <p:cNvSpPr txBox="1"/>
          <p:nvPr/>
        </p:nvSpPr>
        <p:spPr>
          <a:xfrm>
            <a:off x="3017520" y="2212848"/>
            <a:ext cx="4754880" cy="502920"/>
          </a:xfrm>
          <a:prstGeom prst="rect">
            <a:avLst/>
          </a:prstGeom>
          <a:noFill/>
          <a:ln/>
        </p:spPr>
        <p:txBody>
          <a:bodyPr wrap="square" lIns="0" tIns="0" rIns="0" bIns="0" rtlCol="0" anchor="ctr"/>
          <a:lstStyle/>
          <a:p>
            <a:pPr indent="0" marL="0">
              <a:buNone/>
            </a:pPr>
            <a:r>
              <a:rPr lang="en-US" sz="1300" dirty="0">
                <a:solidFill>
                  <a:srgbClr val="17211C"/>
                </a:solidFill>
                <a:latin typeface="Calibri" pitchFamily="34" charset="0"/>
                <a:ea typeface="Calibri" pitchFamily="34" charset="-122"/>
                <a:cs typeface="Calibri" pitchFamily="34" charset="-120"/>
              </a:rPr>
              <a:t>Read the request, shape the response</a:t>
            </a:r>
            <a:endParaRPr lang="en-US" sz="1300" dirty="0"/>
          </a:p>
        </p:txBody>
      </p:sp>
      <p:sp>
        <p:nvSpPr>
          <p:cNvPr id="10" name="Shape 8"/>
          <p:cNvSpPr/>
          <p:nvPr/>
        </p:nvSpPr>
        <p:spPr>
          <a:xfrm>
            <a:off x="640080" y="2871216"/>
            <a:ext cx="2103120" cy="502920"/>
          </a:xfrm>
          <a:prstGeom prst="roundRect">
            <a:avLst>
              <a:gd name="adj" fmla="val 18182"/>
            </a:avLst>
          </a:prstGeom>
          <a:solidFill>
            <a:srgbClr val="1F4D3A"/>
          </a:solidFill>
          <a:ln w="12700">
            <a:solidFill>
              <a:srgbClr val="1F4D3A"/>
            </a:solidFill>
            <a:prstDash val="solid"/>
          </a:ln>
        </p:spPr>
      </p:sp>
      <p:sp>
        <p:nvSpPr>
          <p:cNvPr id="11" name="Text 9"/>
          <p:cNvSpPr txBox="1"/>
          <p:nvPr/>
        </p:nvSpPr>
        <p:spPr>
          <a:xfrm>
            <a:off x="640080" y="2871216"/>
            <a:ext cx="21031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services/</a:t>
            </a:r>
            <a:endParaRPr lang="en-US" sz="1300" dirty="0"/>
          </a:p>
        </p:txBody>
      </p:sp>
      <p:sp>
        <p:nvSpPr>
          <p:cNvPr id="12" name="Text 10"/>
          <p:cNvSpPr txBox="1"/>
          <p:nvPr/>
        </p:nvSpPr>
        <p:spPr>
          <a:xfrm>
            <a:off x="3017520" y="2871216"/>
            <a:ext cx="4754880" cy="502920"/>
          </a:xfrm>
          <a:prstGeom prst="rect">
            <a:avLst/>
          </a:prstGeom>
          <a:noFill/>
          <a:ln/>
        </p:spPr>
        <p:txBody>
          <a:bodyPr wrap="square" lIns="0" tIns="0" rIns="0" bIns="0" rtlCol="0" anchor="ctr"/>
          <a:lstStyle/>
          <a:p>
            <a:pPr indent="0" marL="0">
              <a:buNone/>
            </a:pPr>
            <a:r>
              <a:rPr lang="en-US" sz="1300" dirty="0">
                <a:solidFill>
                  <a:srgbClr val="17211C"/>
                </a:solidFill>
                <a:latin typeface="Calibri" pitchFamily="34" charset="0"/>
                <a:ea typeface="Calibri" pitchFamily="34" charset="-122"/>
                <a:cs typeface="Calibri" pitchFamily="34" charset="-120"/>
              </a:rPr>
              <a:t>Business logic and database access</a:t>
            </a:r>
            <a:endParaRPr lang="en-US" sz="1300" dirty="0"/>
          </a:p>
        </p:txBody>
      </p:sp>
      <p:sp>
        <p:nvSpPr>
          <p:cNvPr id="13" name="Shape 11"/>
          <p:cNvSpPr/>
          <p:nvPr/>
        </p:nvSpPr>
        <p:spPr>
          <a:xfrm>
            <a:off x="640080" y="3529584"/>
            <a:ext cx="2103120" cy="502920"/>
          </a:xfrm>
          <a:prstGeom prst="roundRect">
            <a:avLst>
              <a:gd name="adj" fmla="val 18182"/>
            </a:avLst>
          </a:prstGeom>
          <a:solidFill>
            <a:srgbClr val="EFF4F0"/>
          </a:solidFill>
          <a:ln w="12700">
            <a:solidFill>
              <a:srgbClr val="EFF4F0"/>
            </a:solidFill>
            <a:prstDash val="solid"/>
          </a:ln>
        </p:spPr>
      </p:sp>
      <p:sp>
        <p:nvSpPr>
          <p:cNvPr id="14" name="Text 12"/>
          <p:cNvSpPr txBox="1"/>
          <p:nvPr/>
        </p:nvSpPr>
        <p:spPr>
          <a:xfrm>
            <a:off x="640080" y="3529584"/>
            <a:ext cx="2103120" cy="502920"/>
          </a:xfrm>
          <a:prstGeom prst="rect">
            <a:avLst/>
          </a:prstGeom>
          <a:noFill/>
          <a:ln/>
        </p:spPr>
        <p:txBody>
          <a:bodyPr wrap="square" lIns="0" tIns="0" rIns="0" bIns="0" rtlCol="0" anchor="ctr"/>
          <a:lstStyle/>
          <a:p>
            <a:pPr algn="ctr" indent="0" marL="0">
              <a:buNone/>
            </a:pPr>
            <a:r>
              <a:rPr lang="en-US" sz="1300" b="1" dirty="0">
                <a:solidFill>
                  <a:srgbClr val="1F4D3A"/>
                </a:solidFill>
                <a:latin typeface="Consolas" pitchFamily="34" charset="0"/>
                <a:ea typeface="Consolas" pitchFamily="34" charset="-122"/>
                <a:cs typeface="Consolas" pitchFamily="34" charset="-120"/>
              </a:rPr>
              <a:t>middleware/</a:t>
            </a:r>
            <a:endParaRPr lang="en-US" sz="1300" dirty="0"/>
          </a:p>
        </p:txBody>
      </p:sp>
      <p:sp>
        <p:nvSpPr>
          <p:cNvPr id="15" name="Text 13"/>
          <p:cNvSpPr txBox="1"/>
          <p:nvPr/>
        </p:nvSpPr>
        <p:spPr>
          <a:xfrm>
            <a:off x="3017520" y="3529584"/>
            <a:ext cx="4754880" cy="502920"/>
          </a:xfrm>
          <a:prstGeom prst="rect">
            <a:avLst/>
          </a:prstGeom>
          <a:noFill/>
          <a:ln/>
        </p:spPr>
        <p:txBody>
          <a:bodyPr wrap="square" lIns="0" tIns="0" rIns="0" bIns="0" rtlCol="0" anchor="ctr"/>
          <a:lstStyle/>
          <a:p>
            <a:pPr indent="0" marL="0">
              <a:buNone/>
            </a:pPr>
            <a:r>
              <a:rPr lang="en-US" sz="1300" dirty="0">
                <a:solidFill>
                  <a:srgbClr val="17211C"/>
                </a:solidFill>
                <a:latin typeface="Calibri" pitchFamily="34" charset="0"/>
                <a:ea typeface="Calibri" pitchFamily="34" charset="-122"/>
                <a:cs typeface="Calibri" pitchFamily="34" charset="-120"/>
              </a:rPr>
              <a:t>authenticate, requireRole</a:t>
            </a:r>
            <a:endParaRPr lang="en-US" sz="1300" dirty="0"/>
          </a:p>
        </p:txBody>
      </p:sp>
      <p:sp>
        <p:nvSpPr>
          <p:cNvPr id="16" name="Shape 14"/>
          <p:cNvSpPr/>
          <p:nvPr/>
        </p:nvSpPr>
        <p:spPr>
          <a:xfrm>
            <a:off x="640080" y="4187952"/>
            <a:ext cx="2103120" cy="502920"/>
          </a:xfrm>
          <a:prstGeom prst="roundRect">
            <a:avLst>
              <a:gd name="adj" fmla="val 18182"/>
            </a:avLst>
          </a:prstGeom>
          <a:solidFill>
            <a:srgbClr val="EFF4F0"/>
          </a:solidFill>
          <a:ln w="12700">
            <a:solidFill>
              <a:srgbClr val="EFF4F0"/>
            </a:solidFill>
            <a:prstDash val="solid"/>
          </a:ln>
        </p:spPr>
      </p:sp>
      <p:sp>
        <p:nvSpPr>
          <p:cNvPr id="17" name="Text 15"/>
          <p:cNvSpPr txBox="1"/>
          <p:nvPr/>
        </p:nvSpPr>
        <p:spPr>
          <a:xfrm>
            <a:off x="640080" y="4187952"/>
            <a:ext cx="2103120" cy="502920"/>
          </a:xfrm>
          <a:prstGeom prst="rect">
            <a:avLst/>
          </a:prstGeom>
          <a:noFill/>
          <a:ln/>
        </p:spPr>
        <p:txBody>
          <a:bodyPr wrap="square" lIns="0" tIns="0" rIns="0" bIns="0" rtlCol="0" anchor="ctr"/>
          <a:lstStyle/>
          <a:p>
            <a:pPr algn="ctr" indent="0" marL="0">
              <a:buNone/>
            </a:pPr>
            <a:r>
              <a:rPr lang="en-US" sz="1300" b="1" dirty="0">
                <a:solidFill>
                  <a:srgbClr val="1F4D3A"/>
                </a:solidFill>
                <a:latin typeface="Consolas" pitchFamily="34" charset="0"/>
                <a:ea typeface="Consolas" pitchFamily="34" charset="-122"/>
                <a:cs typeface="Consolas" pitchFamily="34" charset="-120"/>
              </a:rPr>
              <a:t>validators/</a:t>
            </a:r>
            <a:endParaRPr lang="en-US" sz="1300" dirty="0"/>
          </a:p>
        </p:txBody>
      </p:sp>
      <p:sp>
        <p:nvSpPr>
          <p:cNvPr id="18" name="Text 16"/>
          <p:cNvSpPr txBox="1"/>
          <p:nvPr/>
        </p:nvSpPr>
        <p:spPr>
          <a:xfrm>
            <a:off x="3017520" y="4187952"/>
            <a:ext cx="4754880" cy="502920"/>
          </a:xfrm>
          <a:prstGeom prst="rect">
            <a:avLst/>
          </a:prstGeom>
          <a:noFill/>
          <a:ln/>
        </p:spPr>
        <p:txBody>
          <a:bodyPr wrap="square" lIns="0" tIns="0" rIns="0" bIns="0" rtlCol="0" anchor="ctr"/>
          <a:lstStyle/>
          <a:p>
            <a:pPr indent="0" marL="0">
              <a:buNone/>
            </a:pPr>
            <a:r>
              <a:rPr lang="en-US" sz="1300" dirty="0">
                <a:solidFill>
                  <a:srgbClr val="17211C"/>
                </a:solidFill>
                <a:latin typeface="Calibri" pitchFamily="34" charset="0"/>
                <a:ea typeface="Calibri" pitchFamily="34" charset="-122"/>
                <a:cs typeface="Calibri" pitchFamily="34" charset="-120"/>
              </a:rPr>
              <a:t>One Zod schema per endpoint</a:t>
            </a:r>
            <a:endParaRPr lang="en-US" sz="1300" dirty="0"/>
          </a:p>
        </p:txBody>
      </p:sp>
      <p:sp>
        <p:nvSpPr>
          <p:cNvPr id="19" name="Shape 17"/>
          <p:cNvSpPr/>
          <p:nvPr/>
        </p:nvSpPr>
        <p:spPr>
          <a:xfrm>
            <a:off x="640080" y="4846320"/>
            <a:ext cx="2103120" cy="502920"/>
          </a:xfrm>
          <a:prstGeom prst="roundRect">
            <a:avLst>
              <a:gd name="adj" fmla="val 18182"/>
            </a:avLst>
          </a:prstGeom>
          <a:solidFill>
            <a:srgbClr val="EFF4F0"/>
          </a:solidFill>
          <a:ln w="12700">
            <a:solidFill>
              <a:srgbClr val="EFF4F0"/>
            </a:solidFill>
            <a:prstDash val="solid"/>
          </a:ln>
        </p:spPr>
      </p:sp>
      <p:sp>
        <p:nvSpPr>
          <p:cNvPr id="20" name="Text 18"/>
          <p:cNvSpPr txBox="1"/>
          <p:nvPr/>
        </p:nvSpPr>
        <p:spPr>
          <a:xfrm>
            <a:off x="640080" y="4846320"/>
            <a:ext cx="2103120" cy="502920"/>
          </a:xfrm>
          <a:prstGeom prst="rect">
            <a:avLst/>
          </a:prstGeom>
          <a:noFill/>
          <a:ln/>
        </p:spPr>
        <p:txBody>
          <a:bodyPr wrap="square" lIns="0" tIns="0" rIns="0" bIns="0" rtlCol="0" anchor="ctr"/>
          <a:lstStyle/>
          <a:p>
            <a:pPr algn="ctr" indent="0" marL="0">
              <a:buNone/>
            </a:pPr>
            <a:r>
              <a:rPr lang="en-US" sz="1300" b="1" dirty="0">
                <a:solidFill>
                  <a:srgbClr val="1F4D3A"/>
                </a:solidFill>
                <a:latin typeface="Consolas" pitchFamily="34" charset="0"/>
                <a:ea typeface="Consolas" pitchFamily="34" charset="-122"/>
                <a:cs typeface="Consolas" pitchFamily="34" charset="-120"/>
              </a:rPr>
              <a:t>lib/</a:t>
            </a:r>
            <a:endParaRPr lang="en-US" sz="1300" dirty="0"/>
          </a:p>
        </p:txBody>
      </p:sp>
      <p:sp>
        <p:nvSpPr>
          <p:cNvPr id="21" name="Text 19"/>
          <p:cNvSpPr txBox="1"/>
          <p:nvPr/>
        </p:nvSpPr>
        <p:spPr>
          <a:xfrm>
            <a:off x="3017520" y="4846320"/>
            <a:ext cx="4754880" cy="502920"/>
          </a:xfrm>
          <a:prstGeom prst="rect">
            <a:avLst/>
          </a:prstGeom>
          <a:noFill/>
          <a:ln/>
        </p:spPr>
        <p:txBody>
          <a:bodyPr wrap="square" lIns="0" tIns="0" rIns="0" bIns="0" rtlCol="0" anchor="ctr"/>
          <a:lstStyle/>
          <a:p>
            <a:pPr indent="0" marL="0">
              <a:buNone/>
            </a:pPr>
            <a:r>
              <a:rPr lang="en-US" sz="1300" dirty="0">
                <a:solidFill>
                  <a:srgbClr val="17211C"/>
                </a:solidFill>
                <a:latin typeface="Calibri" pitchFamily="34" charset="0"/>
                <a:ea typeface="Calibri" pitchFamily="34" charset="-122"/>
                <a:cs typeface="Calibri" pitchFamily="34" charset="-120"/>
              </a:rPr>
              <a:t>Prisma client, JWT, passwords, errors</a:t>
            </a:r>
            <a:endParaRPr lang="en-US" sz="1300" dirty="0"/>
          </a:p>
        </p:txBody>
      </p:sp>
      <p:sp>
        <p:nvSpPr>
          <p:cNvPr id="22" name="Shape 20"/>
          <p:cNvSpPr/>
          <p:nvPr/>
        </p:nvSpPr>
        <p:spPr>
          <a:xfrm>
            <a:off x="7772400" y="1554480"/>
            <a:ext cx="3749040" cy="2834640"/>
          </a:xfrm>
          <a:prstGeom prst="roundRect">
            <a:avLst>
              <a:gd name="adj" fmla="val 2903"/>
            </a:avLst>
          </a:prstGeom>
          <a:solidFill>
            <a:srgbClr val="EFF4F0"/>
          </a:solidFill>
          <a:ln w="12700">
            <a:solidFill>
              <a:srgbClr val="EFF4F0"/>
            </a:solidFill>
            <a:prstDash val="solid"/>
          </a:ln>
        </p:spPr>
      </p:sp>
      <p:sp>
        <p:nvSpPr>
          <p:cNvPr id="23" name="Text 21"/>
          <p:cNvSpPr txBox="1"/>
          <p:nvPr/>
        </p:nvSpPr>
        <p:spPr>
          <a:xfrm>
            <a:off x="8028432" y="1755648"/>
            <a:ext cx="3236976" cy="310896"/>
          </a:xfrm>
          <a:prstGeom prst="rect">
            <a:avLst/>
          </a:prstGeom>
          <a:noFill/>
          <a:ln/>
        </p:spPr>
        <p:txBody>
          <a:bodyPr wrap="square" lIns="0" tIns="0" rIns="0" bIns="0" rtlCol="0" anchor="ctr"/>
          <a:lstStyle/>
          <a:p>
            <a:pPr indent="0" marL="0">
              <a:buNone/>
            </a:pPr>
            <a:r>
              <a:rPr lang="en-US" sz="1600" b="1" dirty="0">
                <a:solidFill>
                  <a:srgbClr val="1F4D3A"/>
                </a:solidFill>
                <a:latin typeface="Cambria" pitchFamily="34" charset="0"/>
                <a:ea typeface="Cambria" pitchFamily="34" charset="-122"/>
                <a:cs typeface="Cambria" pitchFamily="34" charset="-120"/>
              </a:rPr>
              <a:t>No req or res in services</a:t>
            </a:r>
            <a:endParaRPr lang="en-US" sz="1600" dirty="0"/>
          </a:p>
        </p:txBody>
      </p:sp>
      <p:sp>
        <p:nvSpPr>
          <p:cNvPr id="24" name="Text 22"/>
          <p:cNvSpPr txBox="1"/>
          <p:nvPr/>
        </p:nvSpPr>
        <p:spPr>
          <a:xfrm>
            <a:off x="8028432" y="2176272"/>
            <a:ext cx="3236976" cy="2048256"/>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17211C"/>
                </a:solidFill>
                <a:latin typeface="Calibri" pitchFamily="34" charset="0"/>
                <a:ea typeface="Calibri" pitchFamily="34" charset="-122"/>
                <a:cs typeface="Calibri" pitchFamily="34" charset="-120"/>
              </a:rPr>
              <a:t>So the same function serves the API, the seed script and the tests</a:t>
            </a:r>
            <a:endParaRPr lang="en-US" sz="1300" dirty="0"/>
          </a:p>
          <a:p>
            <a:pPr marL="342900" indent="-342900">
              <a:spcAft>
                <a:spcPts val="500"/>
              </a:spcAft>
              <a:buSzPct val="100000"/>
              <a:buChar char="•"/>
            </a:pPr>
            <a:r>
              <a:rPr lang="en-US" sz="1300" dirty="0">
                <a:solidFill>
                  <a:srgbClr val="17211C"/>
                </a:solidFill>
                <a:latin typeface="Calibri" pitchFamily="34" charset="0"/>
                <a:ea typeface="Calibri" pitchFamily="34" charset="-122"/>
                <a:cs typeface="Calibri" pitchFamily="34" charset="-120"/>
              </a:rPr>
              <a:t>And a route file reads like a policy document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indent="0" marL="0">
              <a:buNone/>
            </a:pPr>
            <a:r>
              <a:rPr lang="en-US" sz="1100" b="1" spc="200" kern="0" dirty="0">
                <a:solidFill>
                  <a:srgbClr val="C8873A"/>
                </a:solidFill>
                <a:latin typeface="Calibri" pitchFamily="34" charset="0"/>
                <a:ea typeface="Calibri" pitchFamily="34" charset="-122"/>
                <a:cs typeface="Calibri" pitchFamily="34" charset="-120"/>
              </a:rPr>
              <a:t>ACCESS CONTROL</a:t>
            </a:r>
            <a:endParaRPr lang="en-US" sz="1100" dirty="0"/>
          </a:p>
        </p:txBody>
      </p:sp>
      <p:sp>
        <p:nvSpPr>
          <p:cNvPr id="3" name="Text 1"/>
          <p:cNvSpPr txBox="1"/>
          <p:nvPr/>
        </p:nvSpPr>
        <p:spPr>
          <a:xfrm>
            <a:off x="640080" y="685800"/>
            <a:ext cx="10881360" cy="685800"/>
          </a:xfrm>
          <a:prstGeom prst="rect">
            <a:avLst/>
          </a:prstGeom>
          <a:noFill/>
          <a:ln/>
        </p:spPr>
        <p:txBody>
          <a:bodyPr wrap="square" lIns="0" tIns="0" rIns="0" bIns="0" rtlCol="0" anchor="ctr"/>
          <a:lstStyle/>
          <a:p>
            <a:pPr indent="0" marL="0">
              <a:buNone/>
            </a:pPr>
            <a:r>
              <a:rPr lang="en-US" sz="3400" b="1" dirty="0">
                <a:solidFill>
                  <a:srgbClr val="17211C"/>
                </a:solidFill>
                <a:latin typeface="Cambria" pitchFamily="34" charset="0"/>
                <a:ea typeface="Cambria" pitchFamily="34" charset="-122"/>
                <a:cs typeface="Cambria" pitchFamily="34" charset="-120"/>
              </a:rPr>
              <a:t>Two layers, two different questions</a:t>
            </a:r>
            <a:endParaRPr lang="en-US" sz="3400" dirty="0"/>
          </a:p>
        </p:txBody>
      </p:sp>
      <p:sp>
        <p:nvSpPr>
          <p:cNvPr id="4" name="Shape 2"/>
          <p:cNvSpPr/>
          <p:nvPr/>
        </p:nvSpPr>
        <p:spPr>
          <a:xfrm>
            <a:off x="640080" y="1554480"/>
            <a:ext cx="5303520" cy="1371600"/>
          </a:xfrm>
          <a:prstGeom prst="roundRect">
            <a:avLst>
              <a:gd name="adj" fmla="val 4667"/>
            </a:avLst>
          </a:prstGeom>
          <a:solidFill>
            <a:srgbClr val="13251D"/>
          </a:solidFill>
          <a:ln w="12700">
            <a:solidFill>
              <a:srgbClr val="13251D"/>
            </a:solidFill>
            <a:prstDash val="solid"/>
          </a:ln>
        </p:spPr>
      </p:sp>
      <p:sp>
        <p:nvSpPr>
          <p:cNvPr id="5" name="Text 3"/>
          <p:cNvSpPr txBox="1"/>
          <p:nvPr/>
        </p:nvSpPr>
        <p:spPr>
          <a:xfrm>
            <a:off x="841248" y="1700784"/>
            <a:ext cx="4901184" cy="1078992"/>
          </a:xfrm>
          <a:prstGeom prst="rect">
            <a:avLst/>
          </a:prstGeom>
          <a:noFill/>
          <a:ln/>
        </p:spPr>
        <p:txBody>
          <a:bodyPr wrap="square" lIns="0" tIns="0" rIns="0" bIns="0" rtlCol="0" anchor="t"/>
          <a:lstStyle/>
          <a:p>
            <a:pPr indent="0" marL="0">
              <a:buNone/>
            </a:pPr>
            <a:r>
              <a:rPr lang="en-US" sz="1250" dirty="0">
                <a:solidFill>
                  <a:srgbClr val="CFE3D6"/>
                </a:solidFill>
                <a:latin typeface="Consolas" pitchFamily="34" charset="0"/>
                <a:ea typeface="Consolas" pitchFamily="34" charset="-122"/>
                <a:cs typeface="Consolas" pitchFamily="34" charset="-120"/>
              </a:rPr>
              <a:t>// route level - a fixed rule</a:t>
            </a:r>
            <a:endParaRPr lang="en-US" sz="1250" dirty="0"/>
          </a:p>
          <a:p>
            <a:pPr indent="0" marL="0">
              <a:buNone/>
            </a:pPr>
            <a:r>
              <a:rPr lang="en-US" sz="1250" dirty="0">
                <a:solidFill>
                  <a:srgbClr val="CFE3D6"/>
                </a:solidFill>
                <a:latin typeface="Consolas" pitchFamily="34" charset="0"/>
                <a:ea typeface="Consolas" pitchFamily="34" charset="-122"/>
                <a:cs typeface="Consolas" pitchFamily="34" charset="-120"/>
              </a:rPr>
              <a:t>router.get("/",</a:t>
            </a:r>
            <a:endParaRPr lang="en-US" sz="1250" dirty="0"/>
          </a:p>
          <a:p>
            <a:pPr indent="0" marL="0">
              <a:buNone/>
            </a:pPr>
            <a:r>
              <a:rPr lang="en-US" sz="1250" dirty="0">
                <a:solidFill>
                  <a:srgbClr val="CFE3D6"/>
                </a:solidFill>
                <a:latin typeface="Consolas" pitchFamily="34" charset="0"/>
                <a:ea typeface="Consolas" pitchFamily="34" charset="-122"/>
                <a:cs typeface="Consolas" pitchFamily="34" charset="-120"/>
              </a:rPr>
              <a:t>  authenticate,</a:t>
            </a:r>
            <a:endParaRPr lang="en-US" sz="1250" dirty="0"/>
          </a:p>
          <a:p>
            <a:pPr indent="0" marL="0">
              <a:buNone/>
            </a:pPr>
            <a:r>
              <a:rPr lang="en-US" sz="1250" dirty="0">
                <a:solidFill>
                  <a:srgbClr val="CFE3D6"/>
                </a:solidFill>
                <a:latin typeface="Consolas" pitchFamily="34" charset="0"/>
                <a:ea typeface="Consolas" pitchFamily="34" charset="-122"/>
                <a:cs typeface="Consolas" pitchFamily="34" charset="-120"/>
              </a:rPr>
              <a:t>  requireRole("MANAGER"),</a:t>
            </a:r>
            <a:endParaRPr lang="en-US" sz="1250" dirty="0"/>
          </a:p>
          <a:p>
            <a:pPr indent="0" marL="0">
              <a:buNone/>
            </a:pPr>
            <a:r>
              <a:rPr lang="en-US" sz="1250" dirty="0">
                <a:solidFill>
                  <a:srgbClr val="CFE3D6"/>
                </a:solidFill>
                <a:latin typeface="Consolas" pitchFamily="34" charset="0"/>
                <a:ea typeface="Consolas" pitchFamily="34" charset="-122"/>
                <a:cs typeface="Consolas" pitchFamily="34" charset="-120"/>
              </a:rPr>
              <a:t>  listAll);</a:t>
            </a:r>
            <a:endParaRPr lang="en-US" sz="1250" dirty="0"/>
          </a:p>
        </p:txBody>
      </p:sp>
      <p:sp>
        <p:nvSpPr>
          <p:cNvPr id="6" name="Shape 4"/>
          <p:cNvSpPr/>
          <p:nvPr/>
        </p:nvSpPr>
        <p:spPr>
          <a:xfrm>
            <a:off x="6217920" y="1554480"/>
            <a:ext cx="5303520" cy="1371600"/>
          </a:xfrm>
          <a:prstGeom prst="roundRect">
            <a:avLst>
              <a:gd name="adj" fmla="val 4667"/>
            </a:avLst>
          </a:prstGeom>
          <a:solidFill>
            <a:srgbClr val="13251D"/>
          </a:solidFill>
          <a:ln w="12700">
            <a:solidFill>
              <a:srgbClr val="13251D"/>
            </a:solidFill>
            <a:prstDash val="solid"/>
          </a:ln>
        </p:spPr>
      </p:sp>
      <p:sp>
        <p:nvSpPr>
          <p:cNvPr id="7" name="Text 5"/>
          <p:cNvSpPr txBox="1"/>
          <p:nvPr/>
        </p:nvSpPr>
        <p:spPr>
          <a:xfrm>
            <a:off x="6419088" y="1700784"/>
            <a:ext cx="4901184" cy="1078992"/>
          </a:xfrm>
          <a:prstGeom prst="rect">
            <a:avLst/>
          </a:prstGeom>
          <a:noFill/>
          <a:ln/>
        </p:spPr>
        <p:txBody>
          <a:bodyPr wrap="square" lIns="0" tIns="0" rIns="0" bIns="0" rtlCol="0" anchor="t"/>
          <a:lstStyle/>
          <a:p>
            <a:pPr indent="0" marL="0">
              <a:buNone/>
            </a:pPr>
            <a:r>
              <a:rPr lang="en-US" sz="1250" dirty="0">
                <a:solidFill>
                  <a:srgbClr val="CFE3D6"/>
                </a:solidFill>
                <a:latin typeface="Consolas" pitchFamily="34" charset="0"/>
                <a:ea typeface="Consolas" pitchFamily="34" charset="-122"/>
                <a:cs typeface="Consolas" pitchFamily="34" charset="-120"/>
              </a:rPr>
              <a:t>// service level - depends on data</a:t>
            </a:r>
            <a:endParaRPr lang="en-US" sz="1250" dirty="0"/>
          </a:p>
          <a:p>
            <a:pPr indent="0" marL="0">
              <a:buNone/>
            </a:pPr>
            <a:r>
              <a:rPr lang="en-US" sz="1250" dirty="0">
                <a:solidFill>
                  <a:srgbClr val="CFE3D6"/>
                </a:solidFill>
                <a:latin typeface="Consolas" pitchFamily="34" charset="0"/>
                <a:ea typeface="Consolas" pitchFamily="34" charset="-122"/>
                <a:cs typeface="Consolas" pitchFamily="34" charset="-120"/>
              </a:rPr>
              <a:t>if (role !== "MANAGER" &amp;&amp;</a:t>
            </a:r>
            <a:endParaRPr lang="en-US" sz="1250" dirty="0"/>
          </a:p>
          <a:p>
            <a:pPr indent="0" marL="0">
              <a:buNone/>
            </a:pPr>
            <a:r>
              <a:rPr lang="en-US" sz="1250" dirty="0">
                <a:solidFill>
                  <a:srgbClr val="CFE3D6"/>
                </a:solidFill>
                <a:latin typeface="Consolas" pitchFamily="34" charset="0"/>
                <a:ea typeface="Consolas" pitchFamily="34" charset="-122"/>
                <a:cs typeface="Consolas" pitchFamily="34" charset="-120"/>
              </a:rPr>
              <a:t>    report.userId !== requester.userId) {</a:t>
            </a:r>
            <a:endParaRPr lang="en-US" sz="1250" dirty="0"/>
          </a:p>
          <a:p>
            <a:pPr indent="0" marL="0">
              <a:buNone/>
            </a:pPr>
            <a:r>
              <a:rPr lang="en-US" sz="1250" dirty="0">
                <a:solidFill>
                  <a:srgbClr val="CFE3D6"/>
                </a:solidFill>
                <a:latin typeface="Consolas" pitchFamily="34" charset="0"/>
                <a:ea typeface="Consolas" pitchFamily="34" charset="-122"/>
                <a:cs typeface="Consolas" pitchFamily="34" charset="-120"/>
              </a:rPr>
              <a:t>  throw new AppError(404, "Not found");</a:t>
            </a:r>
            <a:endParaRPr lang="en-US" sz="1250" dirty="0"/>
          </a:p>
          <a:p>
            <a:pPr indent="0" marL="0">
              <a:buNone/>
            </a:pPr>
            <a:r>
              <a:rPr lang="en-US" sz="1250" dirty="0">
                <a:solidFill>
                  <a:srgbClr val="CFE3D6"/>
                </a:solidFill>
                <a:latin typeface="Consolas" pitchFamily="34" charset="0"/>
                <a:ea typeface="Consolas" pitchFamily="34" charset="-122"/>
                <a:cs typeface="Consolas" pitchFamily="34" charset="-120"/>
              </a:rPr>
              <a:t>}</a:t>
            </a:r>
            <a:endParaRPr lang="en-US" sz="1250" dirty="0"/>
          </a:p>
        </p:txBody>
      </p:sp>
      <p:sp>
        <p:nvSpPr>
          <p:cNvPr id="8" name="Text 6"/>
          <p:cNvSpPr txBox="1"/>
          <p:nvPr/>
        </p:nvSpPr>
        <p:spPr>
          <a:xfrm>
            <a:off x="640080" y="3108960"/>
            <a:ext cx="10881360" cy="365760"/>
          </a:xfrm>
          <a:prstGeom prst="rect">
            <a:avLst/>
          </a:prstGeom>
          <a:noFill/>
          <a:ln/>
        </p:spPr>
        <p:txBody>
          <a:bodyPr wrap="square" lIns="0" tIns="0" rIns="0" bIns="0" rtlCol="0" anchor="ctr"/>
          <a:lstStyle/>
          <a:p>
            <a:pPr indent="0" marL="0">
              <a:buNone/>
            </a:pPr>
            <a:r>
              <a:rPr lang="en-US" sz="1350" i="1" dirty="0">
                <a:solidFill>
                  <a:srgbClr val="6B776F"/>
                </a:solidFill>
                <a:latin typeface="Calibri" pitchFamily="34" charset="0"/>
                <a:ea typeface="Calibri" pitchFamily="34" charset="-122"/>
                <a:cs typeface="Calibri" pitchFamily="34" charset="-120"/>
              </a:rPr>
              <a:t>"Is this person a manager?" is fixed. "Is this your report?" can only be answered after reading the row.</a:t>
            </a:r>
            <a:endParaRPr lang="en-US" sz="1350" dirty="0"/>
          </a:p>
        </p:txBody>
      </p:sp>
      <p:sp>
        <p:nvSpPr>
          <p:cNvPr id="9" name="Shape 7"/>
          <p:cNvSpPr/>
          <p:nvPr/>
        </p:nvSpPr>
        <p:spPr>
          <a:xfrm>
            <a:off x="640080" y="3749040"/>
            <a:ext cx="3474720" cy="1554480"/>
          </a:xfrm>
          <a:prstGeom prst="roundRect">
            <a:avLst>
              <a:gd name="adj" fmla="val 5882"/>
            </a:avLst>
          </a:prstGeom>
          <a:solidFill>
            <a:srgbClr val="E4E7E5"/>
          </a:solidFill>
          <a:ln w="12700">
            <a:solidFill>
              <a:srgbClr val="E4E7E5"/>
            </a:solidFill>
            <a:prstDash val="solid"/>
          </a:ln>
        </p:spPr>
      </p:sp>
      <p:sp>
        <p:nvSpPr>
          <p:cNvPr id="10" name="Text 8"/>
          <p:cNvSpPr txBox="1"/>
          <p:nvPr/>
        </p:nvSpPr>
        <p:spPr>
          <a:xfrm>
            <a:off x="896112" y="3931920"/>
            <a:ext cx="2926080" cy="548640"/>
          </a:xfrm>
          <a:prstGeom prst="rect">
            <a:avLst/>
          </a:prstGeom>
          <a:noFill/>
          <a:ln/>
        </p:spPr>
        <p:txBody>
          <a:bodyPr wrap="square" lIns="0" tIns="0" rIns="0" bIns="0" rtlCol="0" anchor="ctr"/>
          <a:lstStyle/>
          <a:p>
            <a:pPr indent="0" marL="0">
              <a:buNone/>
            </a:pPr>
            <a:r>
              <a:rPr lang="en-US" sz="2800" b="1" dirty="0">
                <a:solidFill>
                  <a:srgbClr val="17211C"/>
                </a:solidFill>
                <a:latin typeface="Cambria" pitchFamily="34" charset="0"/>
                <a:ea typeface="Cambria" pitchFamily="34" charset="-122"/>
                <a:cs typeface="Cambria" pitchFamily="34" charset="-120"/>
              </a:rPr>
              <a:t>401</a:t>
            </a:r>
            <a:endParaRPr lang="en-US" sz="2800" dirty="0"/>
          </a:p>
        </p:txBody>
      </p:sp>
      <p:sp>
        <p:nvSpPr>
          <p:cNvPr id="11" name="Text 9"/>
          <p:cNvSpPr txBox="1"/>
          <p:nvPr/>
        </p:nvSpPr>
        <p:spPr>
          <a:xfrm>
            <a:off x="896112" y="4526280"/>
            <a:ext cx="2962656" cy="640080"/>
          </a:xfrm>
          <a:prstGeom prst="rect">
            <a:avLst/>
          </a:prstGeom>
          <a:noFill/>
          <a:ln/>
        </p:spPr>
        <p:txBody>
          <a:bodyPr wrap="square" lIns="0" tIns="0" rIns="0" bIns="0" rtlCol="0" anchor="ctr"/>
          <a:lstStyle/>
          <a:p>
            <a:pPr indent="0" marL="0">
              <a:buNone/>
            </a:pPr>
            <a:r>
              <a:rPr lang="en-US" sz="1250" dirty="0">
                <a:solidFill>
                  <a:srgbClr val="17211C"/>
                </a:solidFill>
                <a:latin typeface="Calibri" pitchFamily="34" charset="0"/>
                <a:ea typeface="Calibri" pitchFamily="34" charset="-122"/>
                <a:cs typeface="Calibri" pitchFamily="34" charset="-120"/>
              </a:rPr>
              <a:t>I don't know who you are</a:t>
            </a:r>
            <a:endParaRPr lang="en-US" sz="1250" dirty="0"/>
          </a:p>
        </p:txBody>
      </p:sp>
      <p:sp>
        <p:nvSpPr>
          <p:cNvPr id="12" name="Shape 10"/>
          <p:cNvSpPr/>
          <p:nvPr/>
        </p:nvSpPr>
        <p:spPr>
          <a:xfrm>
            <a:off x="4343400" y="3749040"/>
            <a:ext cx="3474720" cy="1554480"/>
          </a:xfrm>
          <a:prstGeom prst="roundRect">
            <a:avLst>
              <a:gd name="adj" fmla="val 5882"/>
            </a:avLst>
          </a:prstGeom>
          <a:solidFill>
            <a:srgbClr val="F7E8D2"/>
          </a:solidFill>
          <a:ln w="12700">
            <a:solidFill>
              <a:srgbClr val="F7E8D2"/>
            </a:solidFill>
            <a:prstDash val="solid"/>
          </a:ln>
        </p:spPr>
      </p:sp>
      <p:sp>
        <p:nvSpPr>
          <p:cNvPr id="13" name="Text 11"/>
          <p:cNvSpPr txBox="1"/>
          <p:nvPr/>
        </p:nvSpPr>
        <p:spPr>
          <a:xfrm>
            <a:off x="4599432" y="3931920"/>
            <a:ext cx="2926080" cy="548640"/>
          </a:xfrm>
          <a:prstGeom prst="rect">
            <a:avLst/>
          </a:prstGeom>
          <a:noFill/>
          <a:ln/>
        </p:spPr>
        <p:txBody>
          <a:bodyPr wrap="square" lIns="0" tIns="0" rIns="0" bIns="0" rtlCol="0" anchor="ctr"/>
          <a:lstStyle/>
          <a:p>
            <a:pPr indent="0" marL="0">
              <a:buNone/>
            </a:pPr>
            <a:r>
              <a:rPr lang="en-US" sz="2800" b="1" dirty="0">
                <a:solidFill>
                  <a:srgbClr val="6B4310"/>
                </a:solidFill>
                <a:latin typeface="Cambria" pitchFamily="34" charset="0"/>
                <a:ea typeface="Cambria" pitchFamily="34" charset="-122"/>
                <a:cs typeface="Cambria" pitchFamily="34" charset="-120"/>
              </a:rPr>
              <a:t>403</a:t>
            </a:r>
            <a:endParaRPr lang="en-US" sz="2800" dirty="0"/>
          </a:p>
        </p:txBody>
      </p:sp>
      <p:sp>
        <p:nvSpPr>
          <p:cNvPr id="14" name="Text 12"/>
          <p:cNvSpPr txBox="1"/>
          <p:nvPr/>
        </p:nvSpPr>
        <p:spPr>
          <a:xfrm>
            <a:off x="4599432" y="4526280"/>
            <a:ext cx="2962656" cy="640080"/>
          </a:xfrm>
          <a:prstGeom prst="rect">
            <a:avLst/>
          </a:prstGeom>
          <a:noFill/>
          <a:ln/>
        </p:spPr>
        <p:txBody>
          <a:bodyPr wrap="square" lIns="0" tIns="0" rIns="0" bIns="0" rtlCol="0" anchor="ctr"/>
          <a:lstStyle/>
          <a:p>
            <a:pPr indent="0" marL="0">
              <a:buNone/>
            </a:pPr>
            <a:r>
              <a:rPr lang="en-US" sz="1250" dirty="0">
                <a:solidFill>
                  <a:srgbClr val="6B4310"/>
                </a:solidFill>
                <a:latin typeface="Calibri" pitchFamily="34" charset="0"/>
                <a:ea typeface="Calibri" pitchFamily="34" charset="-122"/>
                <a:cs typeface="Calibri" pitchFamily="34" charset="-120"/>
              </a:rPr>
              <a:t>I know exactly who you are, and no</a:t>
            </a:r>
            <a:endParaRPr lang="en-US" sz="1250" dirty="0"/>
          </a:p>
        </p:txBody>
      </p:sp>
      <p:sp>
        <p:nvSpPr>
          <p:cNvPr id="15" name="Shape 13"/>
          <p:cNvSpPr/>
          <p:nvPr/>
        </p:nvSpPr>
        <p:spPr>
          <a:xfrm>
            <a:off x="8046720" y="3749040"/>
            <a:ext cx="3474720" cy="1554480"/>
          </a:xfrm>
          <a:prstGeom prst="roundRect">
            <a:avLst>
              <a:gd name="adj" fmla="val 5882"/>
            </a:avLst>
          </a:prstGeom>
          <a:solidFill>
            <a:srgbClr val="D8EDDF"/>
          </a:solidFill>
          <a:ln w="12700">
            <a:solidFill>
              <a:srgbClr val="D8EDDF"/>
            </a:solidFill>
            <a:prstDash val="solid"/>
          </a:ln>
        </p:spPr>
      </p:sp>
      <p:sp>
        <p:nvSpPr>
          <p:cNvPr id="16" name="Text 14"/>
          <p:cNvSpPr txBox="1"/>
          <p:nvPr/>
        </p:nvSpPr>
        <p:spPr>
          <a:xfrm>
            <a:off x="8302752" y="3931920"/>
            <a:ext cx="2926080" cy="548640"/>
          </a:xfrm>
          <a:prstGeom prst="rect">
            <a:avLst/>
          </a:prstGeom>
          <a:noFill/>
          <a:ln/>
        </p:spPr>
        <p:txBody>
          <a:bodyPr wrap="square" lIns="0" tIns="0" rIns="0" bIns="0" rtlCol="0" anchor="ctr"/>
          <a:lstStyle/>
          <a:p>
            <a:pPr indent="0" marL="0">
              <a:buNone/>
            </a:pPr>
            <a:r>
              <a:rPr lang="en-US" sz="2800" b="1" dirty="0">
                <a:solidFill>
                  <a:srgbClr val="1F4D3A"/>
                </a:solidFill>
                <a:latin typeface="Cambria" pitchFamily="34" charset="0"/>
                <a:ea typeface="Cambria" pitchFamily="34" charset="-122"/>
                <a:cs typeface="Cambria" pitchFamily="34" charset="-120"/>
              </a:rPr>
              <a:t>404</a:t>
            </a:r>
            <a:endParaRPr lang="en-US" sz="2800" dirty="0"/>
          </a:p>
        </p:txBody>
      </p:sp>
      <p:sp>
        <p:nvSpPr>
          <p:cNvPr id="17" name="Text 15"/>
          <p:cNvSpPr txBox="1"/>
          <p:nvPr/>
        </p:nvSpPr>
        <p:spPr>
          <a:xfrm>
            <a:off x="8302752" y="4526280"/>
            <a:ext cx="2962656" cy="640080"/>
          </a:xfrm>
          <a:prstGeom prst="rect">
            <a:avLst/>
          </a:prstGeom>
          <a:noFill/>
          <a:ln/>
        </p:spPr>
        <p:txBody>
          <a:bodyPr wrap="square" lIns="0" tIns="0" rIns="0" bIns="0" rtlCol="0" anchor="ctr"/>
          <a:lstStyle/>
          <a:p>
            <a:pPr indent="0" marL="0">
              <a:buNone/>
            </a:pPr>
            <a:r>
              <a:rPr lang="en-US" sz="1250" dirty="0">
                <a:solidFill>
                  <a:srgbClr val="1F4D3A"/>
                </a:solidFill>
                <a:latin typeface="Calibri" pitchFamily="34" charset="0"/>
                <a:ea typeface="Calibri" pitchFamily="34" charset="-122"/>
                <a:cs typeface="Calibri" pitchFamily="34" charset="-120"/>
              </a:rPr>
              <a:t>For someone else's report - on purpose</a:t>
            </a:r>
            <a:endParaRPr lang="en-US" sz="1250" dirty="0"/>
          </a:p>
        </p:txBody>
      </p:sp>
      <p:sp>
        <p:nvSpPr>
          <p:cNvPr id="18" name="Text 16"/>
          <p:cNvSpPr txBox="1"/>
          <p:nvPr/>
        </p:nvSpPr>
        <p:spPr>
          <a:xfrm>
            <a:off x="640080" y="5532120"/>
            <a:ext cx="10881360" cy="365760"/>
          </a:xfrm>
          <a:prstGeom prst="rect">
            <a:avLst/>
          </a:prstGeom>
          <a:noFill/>
          <a:ln/>
        </p:spPr>
        <p:txBody>
          <a:bodyPr wrap="square" lIns="0" tIns="0" rIns="0" bIns="0" rtlCol="0" anchor="ctr"/>
          <a:lstStyle/>
          <a:p>
            <a:pPr indent="0" marL="0">
              <a:buNone/>
            </a:pPr>
            <a:r>
              <a:rPr lang="en-US" sz="1300" b="1" dirty="0">
                <a:solidFill>
                  <a:srgbClr val="C8873A"/>
                </a:solidFill>
                <a:latin typeface="Calibri" pitchFamily="34" charset="0"/>
                <a:ea typeface="Calibri" pitchFamily="34" charset="-122"/>
                <a:cs typeface="Calibri" pitchFamily="34" charset="-120"/>
              </a:rPr>
              <a:t>A 403 would confirm the report exists. A 404 reveals nothing - and there is a test asserting it.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indent="0" marL="0">
              <a:buNone/>
            </a:pPr>
            <a:r>
              <a:rPr lang="en-US" sz="1100" b="1" spc="200" kern="0" dirty="0">
                <a:solidFill>
                  <a:srgbClr val="C8873A"/>
                </a:solidFill>
                <a:latin typeface="Calibri" pitchFamily="34" charset="0"/>
                <a:ea typeface="Calibri" pitchFamily="34" charset="-122"/>
                <a:cs typeface="Calibri" pitchFamily="34" charset="-120"/>
              </a:rPr>
              <a:t>API DESIGN</a:t>
            </a:r>
            <a:endParaRPr lang="en-US" sz="1100" dirty="0"/>
          </a:p>
        </p:txBody>
      </p:sp>
      <p:sp>
        <p:nvSpPr>
          <p:cNvPr id="3" name="Text 1"/>
          <p:cNvSpPr txBox="1"/>
          <p:nvPr/>
        </p:nvSpPr>
        <p:spPr>
          <a:xfrm>
            <a:off x="640080" y="685800"/>
            <a:ext cx="10881360" cy="685800"/>
          </a:xfrm>
          <a:prstGeom prst="rect">
            <a:avLst/>
          </a:prstGeom>
          <a:noFill/>
          <a:ln/>
        </p:spPr>
        <p:txBody>
          <a:bodyPr wrap="square" lIns="0" tIns="0" rIns="0" bIns="0" rtlCol="0" anchor="ctr"/>
          <a:lstStyle/>
          <a:p>
            <a:pPr indent="0" marL="0">
              <a:buNone/>
            </a:pPr>
            <a:r>
              <a:rPr lang="en-US" sz="3400" b="1" dirty="0">
                <a:solidFill>
                  <a:srgbClr val="17211C"/>
                </a:solidFill>
                <a:latin typeface="Cambria" pitchFamily="34" charset="0"/>
                <a:ea typeface="Cambria" pitchFamily="34" charset="-122"/>
                <a:cs typeface="Cambria" pitchFamily="34" charset="-120"/>
              </a:rPr>
              <a:t>Who may call what</a:t>
            </a:r>
            <a:endParaRPr lang="en-US" sz="3400" dirty="0"/>
          </a:p>
        </p:txBody>
      </p:sp>
      <p:sp>
        <p:nvSpPr>
          <p:cNvPr id="4" name="Shape 2"/>
          <p:cNvSpPr/>
          <p:nvPr/>
        </p:nvSpPr>
        <p:spPr>
          <a:xfrm>
            <a:off x="640080" y="1554480"/>
            <a:ext cx="7223760" cy="457200"/>
          </a:xfrm>
          <a:prstGeom prst="roundRect">
            <a:avLst>
              <a:gd name="adj" fmla="val 14000"/>
            </a:avLst>
          </a:prstGeom>
          <a:solidFill>
            <a:srgbClr val="EFF4F0"/>
          </a:solidFill>
          <a:ln w="12700">
            <a:solidFill>
              <a:srgbClr val="EFF4F0"/>
            </a:solidFill>
            <a:prstDash val="solid"/>
          </a:ln>
        </p:spPr>
      </p:sp>
      <p:sp>
        <p:nvSpPr>
          <p:cNvPr id="5" name="Text 3"/>
          <p:cNvSpPr txBox="1"/>
          <p:nvPr/>
        </p:nvSpPr>
        <p:spPr>
          <a:xfrm>
            <a:off x="868680" y="1554480"/>
            <a:ext cx="4023360" cy="457200"/>
          </a:xfrm>
          <a:prstGeom prst="rect">
            <a:avLst/>
          </a:prstGeom>
          <a:noFill/>
          <a:ln/>
        </p:spPr>
        <p:txBody>
          <a:bodyPr wrap="square" lIns="0" tIns="0" rIns="0" bIns="0" rtlCol="0" anchor="ctr"/>
          <a:lstStyle/>
          <a:p>
            <a:pPr indent="0" marL="0">
              <a:buNone/>
            </a:pPr>
            <a:r>
              <a:rPr lang="en-US" sz="1200" dirty="0">
                <a:solidFill>
                  <a:srgbClr val="17211C"/>
                </a:solidFill>
                <a:latin typeface="Consolas" pitchFamily="34" charset="0"/>
                <a:ea typeface="Consolas" pitchFamily="34" charset="-122"/>
                <a:cs typeface="Consolas" pitchFamily="34" charset="-120"/>
              </a:rPr>
              <a:t>POST   /reports</a:t>
            </a:r>
            <a:endParaRPr lang="en-US" sz="1200" dirty="0"/>
          </a:p>
        </p:txBody>
      </p:sp>
      <p:sp>
        <p:nvSpPr>
          <p:cNvPr id="6" name="Text 4"/>
          <p:cNvSpPr txBox="1"/>
          <p:nvPr/>
        </p:nvSpPr>
        <p:spPr>
          <a:xfrm>
            <a:off x="4846320" y="1554480"/>
            <a:ext cx="2834640" cy="457200"/>
          </a:xfrm>
          <a:prstGeom prst="rect">
            <a:avLst/>
          </a:prstGeom>
          <a:noFill/>
          <a:ln/>
        </p:spPr>
        <p:txBody>
          <a:bodyPr wrap="square" lIns="0" tIns="0" rIns="0" bIns="0" rtlCol="0" anchor="ctr"/>
          <a:lstStyle/>
          <a:p>
            <a:pPr indent="0" marL="0">
              <a:buNone/>
            </a:pPr>
            <a:r>
              <a:rPr lang="en-US" sz="1200" dirty="0">
                <a:solidFill>
                  <a:srgbClr val="6B776F"/>
                </a:solidFill>
                <a:latin typeface="Calibri" pitchFamily="34" charset="0"/>
                <a:ea typeface="Calibri" pitchFamily="34" charset="-122"/>
                <a:cs typeface="Calibri" pitchFamily="34" charset="-120"/>
              </a:rPr>
              <a:t>signed in - creates their own</a:t>
            </a:r>
            <a:endParaRPr lang="en-US" sz="1200" dirty="0"/>
          </a:p>
        </p:txBody>
      </p:sp>
      <p:sp>
        <p:nvSpPr>
          <p:cNvPr id="7" name="Shape 5"/>
          <p:cNvSpPr/>
          <p:nvPr/>
        </p:nvSpPr>
        <p:spPr>
          <a:xfrm>
            <a:off x="640080" y="2121408"/>
            <a:ext cx="7223760" cy="457200"/>
          </a:xfrm>
          <a:prstGeom prst="roundRect">
            <a:avLst>
              <a:gd name="adj" fmla="val 14000"/>
            </a:avLst>
          </a:prstGeom>
          <a:solidFill>
            <a:srgbClr val="EFF4F0"/>
          </a:solidFill>
          <a:ln w="12700">
            <a:solidFill>
              <a:srgbClr val="EFF4F0"/>
            </a:solidFill>
            <a:prstDash val="solid"/>
          </a:ln>
        </p:spPr>
      </p:sp>
      <p:sp>
        <p:nvSpPr>
          <p:cNvPr id="8" name="Text 6"/>
          <p:cNvSpPr txBox="1"/>
          <p:nvPr/>
        </p:nvSpPr>
        <p:spPr>
          <a:xfrm>
            <a:off x="868680" y="2121408"/>
            <a:ext cx="4023360" cy="457200"/>
          </a:xfrm>
          <a:prstGeom prst="rect">
            <a:avLst/>
          </a:prstGeom>
          <a:noFill/>
          <a:ln/>
        </p:spPr>
        <p:txBody>
          <a:bodyPr wrap="square" lIns="0" tIns="0" rIns="0" bIns="0" rtlCol="0" anchor="ctr"/>
          <a:lstStyle/>
          <a:p>
            <a:pPr indent="0" marL="0">
              <a:buNone/>
            </a:pPr>
            <a:r>
              <a:rPr lang="en-US" sz="1200" dirty="0">
                <a:solidFill>
                  <a:srgbClr val="17211C"/>
                </a:solidFill>
                <a:latin typeface="Consolas" pitchFamily="34" charset="0"/>
                <a:ea typeface="Consolas" pitchFamily="34" charset="-122"/>
                <a:cs typeface="Consolas" pitchFamily="34" charset="-120"/>
              </a:rPr>
              <a:t>GET    /reports/mine</a:t>
            </a:r>
            <a:endParaRPr lang="en-US" sz="1200" dirty="0"/>
          </a:p>
        </p:txBody>
      </p:sp>
      <p:sp>
        <p:nvSpPr>
          <p:cNvPr id="9" name="Text 7"/>
          <p:cNvSpPr txBox="1"/>
          <p:nvPr/>
        </p:nvSpPr>
        <p:spPr>
          <a:xfrm>
            <a:off x="4846320" y="2121408"/>
            <a:ext cx="2834640" cy="457200"/>
          </a:xfrm>
          <a:prstGeom prst="rect">
            <a:avLst/>
          </a:prstGeom>
          <a:noFill/>
          <a:ln/>
        </p:spPr>
        <p:txBody>
          <a:bodyPr wrap="square" lIns="0" tIns="0" rIns="0" bIns="0" rtlCol="0" anchor="ctr"/>
          <a:lstStyle/>
          <a:p>
            <a:pPr indent="0" marL="0">
              <a:buNone/>
            </a:pPr>
            <a:r>
              <a:rPr lang="en-US" sz="1200" dirty="0">
                <a:solidFill>
                  <a:srgbClr val="6B776F"/>
                </a:solidFill>
                <a:latin typeface="Calibri" pitchFamily="34" charset="0"/>
                <a:ea typeface="Calibri" pitchFamily="34" charset="-122"/>
                <a:cs typeface="Calibri" pitchFamily="34" charset="-120"/>
              </a:rPr>
              <a:t>signed in - their own only</a:t>
            </a:r>
            <a:endParaRPr lang="en-US" sz="1200" dirty="0"/>
          </a:p>
        </p:txBody>
      </p:sp>
      <p:sp>
        <p:nvSpPr>
          <p:cNvPr id="10" name="Shape 8"/>
          <p:cNvSpPr/>
          <p:nvPr/>
        </p:nvSpPr>
        <p:spPr>
          <a:xfrm>
            <a:off x="640080" y="2688336"/>
            <a:ext cx="7223760" cy="457200"/>
          </a:xfrm>
          <a:prstGeom prst="roundRect">
            <a:avLst>
              <a:gd name="adj" fmla="val 14000"/>
            </a:avLst>
          </a:prstGeom>
          <a:solidFill>
            <a:srgbClr val="D8EDDF"/>
          </a:solidFill>
          <a:ln w="12700">
            <a:solidFill>
              <a:srgbClr val="D8EDDF"/>
            </a:solidFill>
            <a:prstDash val="solid"/>
          </a:ln>
        </p:spPr>
      </p:sp>
      <p:sp>
        <p:nvSpPr>
          <p:cNvPr id="11" name="Text 9"/>
          <p:cNvSpPr txBox="1"/>
          <p:nvPr/>
        </p:nvSpPr>
        <p:spPr>
          <a:xfrm>
            <a:off x="868680" y="2688336"/>
            <a:ext cx="4023360" cy="457200"/>
          </a:xfrm>
          <a:prstGeom prst="rect">
            <a:avLst/>
          </a:prstGeom>
          <a:noFill/>
          <a:ln/>
        </p:spPr>
        <p:txBody>
          <a:bodyPr wrap="square" lIns="0" tIns="0" rIns="0" bIns="0" rtlCol="0" anchor="ctr"/>
          <a:lstStyle/>
          <a:p>
            <a:pPr indent="0" marL="0">
              <a:buNone/>
            </a:pPr>
            <a:r>
              <a:rPr lang="en-US" sz="1200" dirty="0">
                <a:solidFill>
                  <a:srgbClr val="17211C"/>
                </a:solidFill>
                <a:latin typeface="Consolas" pitchFamily="34" charset="0"/>
                <a:ea typeface="Consolas" pitchFamily="34" charset="-122"/>
                <a:cs typeface="Consolas" pitchFamily="34" charset="-120"/>
              </a:rPr>
              <a:t>GET    /reports</a:t>
            </a:r>
            <a:endParaRPr lang="en-US" sz="1200" dirty="0"/>
          </a:p>
        </p:txBody>
      </p:sp>
      <p:sp>
        <p:nvSpPr>
          <p:cNvPr id="12" name="Text 10"/>
          <p:cNvSpPr txBox="1"/>
          <p:nvPr/>
        </p:nvSpPr>
        <p:spPr>
          <a:xfrm>
            <a:off x="4846320" y="2688336"/>
            <a:ext cx="2834640" cy="457200"/>
          </a:xfrm>
          <a:prstGeom prst="rect">
            <a:avLst/>
          </a:prstGeom>
          <a:noFill/>
          <a:ln/>
        </p:spPr>
        <p:txBody>
          <a:bodyPr wrap="square" lIns="0" tIns="0" rIns="0" bIns="0" rtlCol="0" anchor="ctr"/>
          <a:lstStyle/>
          <a:p>
            <a:pPr indent="0" marL="0">
              <a:buNone/>
            </a:pPr>
            <a:r>
              <a:rPr lang="en-US" sz="1200" b="1" dirty="0">
                <a:solidFill>
                  <a:srgbClr val="1F4D3A"/>
                </a:solidFill>
                <a:latin typeface="Calibri" pitchFamily="34" charset="0"/>
                <a:ea typeface="Calibri" pitchFamily="34" charset="-122"/>
                <a:cs typeface="Calibri" pitchFamily="34" charset="-120"/>
              </a:rPr>
              <a:t>manager - the whole team</a:t>
            </a:r>
            <a:endParaRPr lang="en-US" sz="1200" dirty="0"/>
          </a:p>
        </p:txBody>
      </p:sp>
      <p:sp>
        <p:nvSpPr>
          <p:cNvPr id="13" name="Shape 11"/>
          <p:cNvSpPr/>
          <p:nvPr/>
        </p:nvSpPr>
        <p:spPr>
          <a:xfrm>
            <a:off x="640080" y="3255264"/>
            <a:ext cx="7223760" cy="457200"/>
          </a:xfrm>
          <a:prstGeom prst="roundRect">
            <a:avLst>
              <a:gd name="adj" fmla="val 14000"/>
            </a:avLst>
          </a:prstGeom>
          <a:solidFill>
            <a:srgbClr val="EFF4F0"/>
          </a:solidFill>
          <a:ln w="12700">
            <a:solidFill>
              <a:srgbClr val="EFF4F0"/>
            </a:solidFill>
            <a:prstDash val="solid"/>
          </a:ln>
        </p:spPr>
      </p:sp>
      <p:sp>
        <p:nvSpPr>
          <p:cNvPr id="14" name="Text 12"/>
          <p:cNvSpPr txBox="1"/>
          <p:nvPr/>
        </p:nvSpPr>
        <p:spPr>
          <a:xfrm>
            <a:off x="868680" y="3255264"/>
            <a:ext cx="4023360" cy="457200"/>
          </a:xfrm>
          <a:prstGeom prst="rect">
            <a:avLst/>
          </a:prstGeom>
          <a:noFill/>
          <a:ln/>
        </p:spPr>
        <p:txBody>
          <a:bodyPr wrap="square" lIns="0" tIns="0" rIns="0" bIns="0" rtlCol="0" anchor="ctr"/>
          <a:lstStyle/>
          <a:p>
            <a:pPr indent="0" marL="0">
              <a:buNone/>
            </a:pPr>
            <a:r>
              <a:rPr lang="en-US" sz="1200" dirty="0">
                <a:solidFill>
                  <a:srgbClr val="17211C"/>
                </a:solidFill>
                <a:latin typeface="Consolas" pitchFamily="34" charset="0"/>
                <a:ea typeface="Consolas" pitchFamily="34" charset="-122"/>
                <a:cs typeface="Consolas" pitchFamily="34" charset="-120"/>
              </a:rPr>
              <a:t>PATCH  /reports/:id</a:t>
            </a:r>
            <a:endParaRPr lang="en-US" sz="1200" dirty="0"/>
          </a:p>
        </p:txBody>
      </p:sp>
      <p:sp>
        <p:nvSpPr>
          <p:cNvPr id="15" name="Text 13"/>
          <p:cNvSpPr txBox="1"/>
          <p:nvPr/>
        </p:nvSpPr>
        <p:spPr>
          <a:xfrm>
            <a:off x="4846320" y="3255264"/>
            <a:ext cx="2834640" cy="457200"/>
          </a:xfrm>
          <a:prstGeom prst="rect">
            <a:avLst/>
          </a:prstGeom>
          <a:noFill/>
          <a:ln/>
        </p:spPr>
        <p:txBody>
          <a:bodyPr wrap="square" lIns="0" tIns="0" rIns="0" bIns="0" rtlCol="0" anchor="ctr"/>
          <a:lstStyle/>
          <a:p>
            <a:pPr indent="0" marL="0">
              <a:buNone/>
            </a:pPr>
            <a:r>
              <a:rPr lang="en-US" sz="1200" dirty="0">
                <a:solidFill>
                  <a:srgbClr val="6B776F"/>
                </a:solidFill>
                <a:latin typeface="Calibri" pitchFamily="34" charset="0"/>
                <a:ea typeface="Calibri" pitchFamily="34" charset="-122"/>
                <a:cs typeface="Calibri" pitchFamily="34" charset="-120"/>
              </a:rPr>
              <a:t>owner, while editable</a:t>
            </a:r>
            <a:endParaRPr lang="en-US" sz="1200" dirty="0"/>
          </a:p>
        </p:txBody>
      </p:sp>
      <p:sp>
        <p:nvSpPr>
          <p:cNvPr id="16" name="Shape 14"/>
          <p:cNvSpPr/>
          <p:nvPr/>
        </p:nvSpPr>
        <p:spPr>
          <a:xfrm>
            <a:off x="640080" y="3822192"/>
            <a:ext cx="7223760" cy="457200"/>
          </a:xfrm>
          <a:prstGeom prst="roundRect">
            <a:avLst>
              <a:gd name="adj" fmla="val 14000"/>
            </a:avLst>
          </a:prstGeom>
          <a:solidFill>
            <a:srgbClr val="EFF4F0"/>
          </a:solidFill>
          <a:ln w="12700">
            <a:solidFill>
              <a:srgbClr val="EFF4F0"/>
            </a:solidFill>
            <a:prstDash val="solid"/>
          </a:ln>
        </p:spPr>
      </p:sp>
      <p:sp>
        <p:nvSpPr>
          <p:cNvPr id="17" name="Text 15"/>
          <p:cNvSpPr txBox="1"/>
          <p:nvPr/>
        </p:nvSpPr>
        <p:spPr>
          <a:xfrm>
            <a:off x="868680" y="3822192"/>
            <a:ext cx="4023360" cy="457200"/>
          </a:xfrm>
          <a:prstGeom prst="rect">
            <a:avLst/>
          </a:prstGeom>
          <a:noFill/>
          <a:ln/>
        </p:spPr>
        <p:txBody>
          <a:bodyPr wrap="square" lIns="0" tIns="0" rIns="0" bIns="0" rtlCol="0" anchor="ctr"/>
          <a:lstStyle/>
          <a:p>
            <a:pPr indent="0" marL="0">
              <a:buNone/>
            </a:pPr>
            <a:r>
              <a:rPr lang="en-US" sz="1200" dirty="0">
                <a:solidFill>
                  <a:srgbClr val="17211C"/>
                </a:solidFill>
                <a:latin typeface="Consolas" pitchFamily="34" charset="0"/>
                <a:ea typeface="Consolas" pitchFamily="34" charset="-122"/>
                <a:cs typeface="Consolas" pitchFamily="34" charset="-120"/>
              </a:rPr>
              <a:t>POST   /reports/:id/submit</a:t>
            </a:r>
            <a:endParaRPr lang="en-US" sz="1200" dirty="0"/>
          </a:p>
        </p:txBody>
      </p:sp>
      <p:sp>
        <p:nvSpPr>
          <p:cNvPr id="18" name="Text 16"/>
          <p:cNvSpPr txBox="1"/>
          <p:nvPr/>
        </p:nvSpPr>
        <p:spPr>
          <a:xfrm>
            <a:off x="4846320" y="3822192"/>
            <a:ext cx="2834640" cy="457200"/>
          </a:xfrm>
          <a:prstGeom prst="rect">
            <a:avLst/>
          </a:prstGeom>
          <a:noFill/>
          <a:ln/>
        </p:spPr>
        <p:txBody>
          <a:bodyPr wrap="square" lIns="0" tIns="0" rIns="0" bIns="0" rtlCol="0" anchor="ctr"/>
          <a:lstStyle/>
          <a:p>
            <a:pPr indent="0" marL="0">
              <a:buNone/>
            </a:pPr>
            <a:r>
              <a:rPr lang="en-US" sz="1200" dirty="0">
                <a:solidFill>
                  <a:srgbClr val="6B776F"/>
                </a:solidFill>
                <a:latin typeface="Calibri" pitchFamily="34" charset="0"/>
                <a:ea typeface="Calibri" pitchFamily="34" charset="-122"/>
                <a:cs typeface="Calibri" pitchFamily="34" charset="-120"/>
              </a:rPr>
              <a:t>owner</a:t>
            </a:r>
            <a:endParaRPr lang="en-US" sz="1200" dirty="0"/>
          </a:p>
        </p:txBody>
      </p:sp>
      <p:sp>
        <p:nvSpPr>
          <p:cNvPr id="19" name="Shape 17"/>
          <p:cNvSpPr/>
          <p:nvPr/>
        </p:nvSpPr>
        <p:spPr>
          <a:xfrm>
            <a:off x="640080" y="4389120"/>
            <a:ext cx="7223760" cy="457200"/>
          </a:xfrm>
          <a:prstGeom prst="roundRect">
            <a:avLst>
              <a:gd name="adj" fmla="val 14000"/>
            </a:avLst>
          </a:prstGeom>
          <a:solidFill>
            <a:srgbClr val="D8EDDF"/>
          </a:solidFill>
          <a:ln w="12700">
            <a:solidFill>
              <a:srgbClr val="D8EDDF"/>
            </a:solidFill>
            <a:prstDash val="solid"/>
          </a:ln>
        </p:spPr>
      </p:sp>
      <p:sp>
        <p:nvSpPr>
          <p:cNvPr id="20" name="Text 18"/>
          <p:cNvSpPr txBox="1"/>
          <p:nvPr/>
        </p:nvSpPr>
        <p:spPr>
          <a:xfrm>
            <a:off x="868680" y="4389120"/>
            <a:ext cx="4023360" cy="457200"/>
          </a:xfrm>
          <a:prstGeom prst="rect">
            <a:avLst/>
          </a:prstGeom>
          <a:noFill/>
          <a:ln/>
        </p:spPr>
        <p:txBody>
          <a:bodyPr wrap="square" lIns="0" tIns="0" rIns="0" bIns="0" rtlCol="0" anchor="ctr"/>
          <a:lstStyle/>
          <a:p>
            <a:pPr indent="0" marL="0">
              <a:buNone/>
            </a:pPr>
            <a:r>
              <a:rPr lang="en-US" sz="1200" dirty="0">
                <a:solidFill>
                  <a:srgbClr val="17211C"/>
                </a:solidFill>
                <a:latin typeface="Consolas" pitchFamily="34" charset="0"/>
                <a:ea typeface="Consolas" pitchFamily="34" charset="-122"/>
                <a:cs typeface="Consolas" pitchFamily="34" charset="-120"/>
              </a:rPr>
              <a:t>POST   /reports/:id/review</a:t>
            </a:r>
            <a:endParaRPr lang="en-US" sz="1200" dirty="0"/>
          </a:p>
        </p:txBody>
      </p:sp>
      <p:sp>
        <p:nvSpPr>
          <p:cNvPr id="21" name="Text 19"/>
          <p:cNvSpPr txBox="1"/>
          <p:nvPr/>
        </p:nvSpPr>
        <p:spPr>
          <a:xfrm>
            <a:off x="4846320" y="4389120"/>
            <a:ext cx="2834640" cy="457200"/>
          </a:xfrm>
          <a:prstGeom prst="rect">
            <a:avLst/>
          </a:prstGeom>
          <a:noFill/>
          <a:ln/>
        </p:spPr>
        <p:txBody>
          <a:bodyPr wrap="square" lIns="0" tIns="0" rIns="0" bIns="0" rtlCol="0" anchor="ctr"/>
          <a:lstStyle/>
          <a:p>
            <a:pPr indent="0" marL="0">
              <a:buNone/>
            </a:pPr>
            <a:r>
              <a:rPr lang="en-US" sz="1200" b="1" dirty="0">
                <a:solidFill>
                  <a:srgbClr val="1F4D3A"/>
                </a:solidFill>
                <a:latin typeface="Calibri" pitchFamily="34" charset="0"/>
                <a:ea typeface="Calibri" pitchFamily="34" charset="-122"/>
                <a:cs typeface="Calibri" pitchFamily="34" charset="-120"/>
              </a:rPr>
              <a:t>manager</a:t>
            </a:r>
            <a:endParaRPr lang="en-US" sz="1200" dirty="0"/>
          </a:p>
        </p:txBody>
      </p:sp>
      <p:sp>
        <p:nvSpPr>
          <p:cNvPr id="22" name="Shape 20"/>
          <p:cNvSpPr/>
          <p:nvPr/>
        </p:nvSpPr>
        <p:spPr>
          <a:xfrm>
            <a:off x="640080" y="4956048"/>
            <a:ext cx="7223760" cy="457200"/>
          </a:xfrm>
          <a:prstGeom prst="roundRect">
            <a:avLst>
              <a:gd name="adj" fmla="val 14000"/>
            </a:avLst>
          </a:prstGeom>
          <a:solidFill>
            <a:srgbClr val="EFF4F0"/>
          </a:solidFill>
          <a:ln w="12700">
            <a:solidFill>
              <a:srgbClr val="EFF4F0"/>
            </a:solidFill>
            <a:prstDash val="solid"/>
          </a:ln>
        </p:spPr>
      </p:sp>
      <p:sp>
        <p:nvSpPr>
          <p:cNvPr id="23" name="Text 21"/>
          <p:cNvSpPr txBox="1"/>
          <p:nvPr/>
        </p:nvSpPr>
        <p:spPr>
          <a:xfrm>
            <a:off x="868680" y="4956048"/>
            <a:ext cx="4023360" cy="457200"/>
          </a:xfrm>
          <a:prstGeom prst="rect">
            <a:avLst/>
          </a:prstGeom>
          <a:noFill/>
          <a:ln/>
        </p:spPr>
        <p:txBody>
          <a:bodyPr wrap="square" lIns="0" tIns="0" rIns="0" bIns="0" rtlCol="0" anchor="ctr"/>
          <a:lstStyle/>
          <a:p>
            <a:pPr indent="0" marL="0">
              <a:buNone/>
            </a:pPr>
            <a:r>
              <a:rPr lang="en-US" sz="1200" dirty="0">
                <a:solidFill>
                  <a:srgbClr val="17211C"/>
                </a:solidFill>
                <a:latin typeface="Consolas" pitchFamily="34" charset="0"/>
                <a:ea typeface="Consolas" pitchFamily="34" charset="-122"/>
                <a:cs typeface="Consolas" pitchFamily="34" charset="-120"/>
              </a:rPr>
              <a:t>GET    /reports/:id/versions</a:t>
            </a:r>
            <a:endParaRPr lang="en-US" sz="1200" dirty="0"/>
          </a:p>
        </p:txBody>
      </p:sp>
      <p:sp>
        <p:nvSpPr>
          <p:cNvPr id="24" name="Text 22"/>
          <p:cNvSpPr txBox="1"/>
          <p:nvPr/>
        </p:nvSpPr>
        <p:spPr>
          <a:xfrm>
            <a:off x="4846320" y="4956048"/>
            <a:ext cx="2834640" cy="457200"/>
          </a:xfrm>
          <a:prstGeom prst="rect">
            <a:avLst/>
          </a:prstGeom>
          <a:noFill/>
          <a:ln/>
        </p:spPr>
        <p:txBody>
          <a:bodyPr wrap="square" lIns="0" tIns="0" rIns="0" bIns="0" rtlCol="0" anchor="ctr"/>
          <a:lstStyle/>
          <a:p>
            <a:pPr indent="0" marL="0">
              <a:buNone/>
            </a:pPr>
            <a:r>
              <a:rPr lang="en-US" sz="1200" dirty="0">
                <a:solidFill>
                  <a:srgbClr val="6B776F"/>
                </a:solidFill>
                <a:latin typeface="Calibri" pitchFamily="34" charset="0"/>
                <a:ea typeface="Calibri" pitchFamily="34" charset="-122"/>
                <a:cs typeface="Calibri" pitchFamily="34" charset="-120"/>
              </a:rPr>
              <a:t>owner or manager</a:t>
            </a:r>
            <a:endParaRPr lang="en-US" sz="1200" dirty="0"/>
          </a:p>
        </p:txBody>
      </p:sp>
      <p:sp>
        <p:nvSpPr>
          <p:cNvPr id="25" name="Shape 23"/>
          <p:cNvSpPr/>
          <p:nvPr/>
        </p:nvSpPr>
        <p:spPr>
          <a:xfrm>
            <a:off x="8138160" y="1554480"/>
            <a:ext cx="3383280" cy="3977640"/>
          </a:xfrm>
          <a:prstGeom prst="roundRect">
            <a:avLst>
              <a:gd name="adj" fmla="val 2432"/>
            </a:avLst>
          </a:prstGeom>
          <a:solidFill>
            <a:srgbClr val="EFF4F0"/>
          </a:solidFill>
          <a:ln w="12700">
            <a:solidFill>
              <a:srgbClr val="EFF4F0"/>
            </a:solidFill>
            <a:prstDash val="solid"/>
          </a:ln>
        </p:spPr>
      </p:sp>
      <p:sp>
        <p:nvSpPr>
          <p:cNvPr id="26" name="Text 24"/>
          <p:cNvSpPr txBox="1"/>
          <p:nvPr/>
        </p:nvSpPr>
        <p:spPr>
          <a:xfrm>
            <a:off x="8394192" y="1755648"/>
            <a:ext cx="2871216" cy="310896"/>
          </a:xfrm>
          <a:prstGeom prst="rect">
            <a:avLst/>
          </a:prstGeom>
          <a:noFill/>
          <a:ln/>
        </p:spPr>
        <p:txBody>
          <a:bodyPr wrap="square" lIns="0" tIns="0" rIns="0" bIns="0" rtlCol="0" anchor="ctr"/>
          <a:lstStyle/>
          <a:p>
            <a:pPr indent="0" marL="0">
              <a:buNone/>
            </a:pPr>
            <a:r>
              <a:rPr lang="en-US" sz="1550" b="1" dirty="0">
                <a:solidFill>
                  <a:srgbClr val="1F4D3A"/>
                </a:solidFill>
                <a:latin typeface="Cambria" pitchFamily="34" charset="0"/>
                <a:ea typeface="Cambria" pitchFamily="34" charset="-122"/>
                <a:cs typeface="Cambria" pitchFamily="34" charset="-120"/>
              </a:rPr>
              <a:t>Two list endpoints</a:t>
            </a:r>
            <a:endParaRPr lang="en-US" sz="1550" dirty="0"/>
          </a:p>
        </p:txBody>
      </p:sp>
      <p:sp>
        <p:nvSpPr>
          <p:cNvPr id="27" name="Text 25"/>
          <p:cNvSpPr txBox="1"/>
          <p:nvPr/>
        </p:nvSpPr>
        <p:spPr>
          <a:xfrm>
            <a:off x="8394192" y="2176272"/>
            <a:ext cx="2871216" cy="3191256"/>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17211C"/>
                </a:solidFill>
                <a:latin typeface="Calibri" pitchFamily="34" charset="0"/>
                <a:ea typeface="Calibri" pitchFamily="34" charset="-122"/>
                <a:cs typeface="Calibri" pitchFamily="34" charset="-120"/>
              </a:rPr>
              <a:t>/reports/mine forces the caller's own id into the where clause</a:t>
            </a:r>
            <a:endParaRPr lang="en-US" sz="1250" dirty="0"/>
          </a:p>
          <a:p>
            <a:pPr marL="342900" indent="-342900">
              <a:spcAft>
                <a:spcPts val="500"/>
              </a:spcAft>
              <a:buSzPct val="100000"/>
              <a:buChar char="•"/>
            </a:pPr>
            <a:r>
              <a:rPr lang="en-US" sz="1250" dirty="0">
                <a:solidFill>
                  <a:srgbClr val="17211C"/>
                </a:solidFill>
                <a:latin typeface="Calibri" pitchFamily="34" charset="0"/>
                <a:ea typeface="Calibri" pitchFamily="34" charset="-122"/>
                <a:cs typeface="Calibri" pitchFamily="34" charset="-120"/>
              </a:rPr>
              <a:t>So a team member's data is scoped in the query, not by a check afterwards</a:t>
            </a:r>
            <a:endParaRPr lang="en-US" sz="1250" dirty="0"/>
          </a:p>
          <a:p>
            <a:pPr marL="342900" indent="-342900">
              <a:spcAft>
                <a:spcPts val="500"/>
              </a:spcAft>
              <a:buSzPct val="100000"/>
              <a:buChar char="•"/>
            </a:pPr>
            <a:r>
              <a:rPr lang="en-US" sz="1250" dirty="0">
                <a:solidFill>
                  <a:srgbClr val="17211C"/>
                </a:solidFill>
                <a:latin typeface="Calibri" pitchFamily="34" charset="0"/>
                <a:ea typeface="Calibri" pitchFamily="34" charset="-122"/>
                <a:cs typeface="Calibri" pitchFamily="34" charset="-120"/>
              </a:rPr>
              <a:t>Every list takes page, pageSize and filters</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indent="0" marL="0">
              <a:buNone/>
            </a:pPr>
            <a:r>
              <a:rPr lang="en-US" sz="1100" b="1" spc="200" kern="0" dirty="0">
                <a:solidFill>
                  <a:srgbClr val="C8873A"/>
                </a:solidFill>
                <a:latin typeface="Calibri" pitchFamily="34" charset="0"/>
                <a:ea typeface="Calibri" pitchFamily="34" charset="-122"/>
                <a:cs typeface="Calibri" pitchFamily="34" charset="-120"/>
              </a:rPr>
              <a:t>FRONTEND</a:t>
            </a:r>
            <a:endParaRPr lang="en-US" sz="1100" dirty="0"/>
          </a:p>
        </p:txBody>
      </p:sp>
      <p:sp>
        <p:nvSpPr>
          <p:cNvPr id="3" name="Text 1"/>
          <p:cNvSpPr txBox="1"/>
          <p:nvPr/>
        </p:nvSpPr>
        <p:spPr>
          <a:xfrm>
            <a:off x="640080" y="685800"/>
            <a:ext cx="10881360" cy="685800"/>
          </a:xfrm>
          <a:prstGeom prst="rect">
            <a:avLst/>
          </a:prstGeom>
          <a:noFill/>
          <a:ln/>
        </p:spPr>
        <p:txBody>
          <a:bodyPr wrap="square" lIns="0" tIns="0" rIns="0" bIns="0" rtlCol="0" anchor="ctr"/>
          <a:lstStyle/>
          <a:p>
            <a:pPr indent="0" marL="0">
              <a:buNone/>
            </a:pPr>
            <a:r>
              <a:rPr lang="en-US" sz="3400" b="1" dirty="0">
                <a:solidFill>
                  <a:srgbClr val="17211C"/>
                </a:solidFill>
                <a:latin typeface="Cambria" pitchFamily="34" charset="0"/>
                <a:ea typeface="Cambria" pitchFamily="34" charset="-122"/>
                <a:cs typeface="Cambria" pitchFamily="34" charset="-120"/>
              </a:rPr>
              <a:t>Three genuinely different jobs</a:t>
            </a:r>
            <a:endParaRPr lang="en-US" sz="3400" dirty="0"/>
          </a:p>
        </p:txBody>
      </p:sp>
      <p:sp>
        <p:nvSpPr>
          <p:cNvPr id="4" name="Shape 2"/>
          <p:cNvSpPr/>
          <p:nvPr/>
        </p:nvSpPr>
        <p:spPr>
          <a:xfrm>
            <a:off x="640080" y="1554480"/>
            <a:ext cx="3474720" cy="2286000"/>
          </a:xfrm>
          <a:prstGeom prst="roundRect">
            <a:avLst>
              <a:gd name="adj" fmla="val 3600"/>
            </a:avLst>
          </a:prstGeom>
          <a:solidFill>
            <a:srgbClr val="EFF4F0"/>
          </a:solidFill>
          <a:ln w="12700">
            <a:solidFill>
              <a:srgbClr val="EFF4F0"/>
            </a:solidFill>
            <a:prstDash val="solid"/>
          </a:ln>
        </p:spPr>
      </p:sp>
      <p:sp>
        <p:nvSpPr>
          <p:cNvPr id="5" name="Text 3"/>
          <p:cNvSpPr txBox="1"/>
          <p:nvPr/>
        </p:nvSpPr>
        <p:spPr>
          <a:xfrm>
            <a:off x="896112" y="1755648"/>
            <a:ext cx="2962656" cy="310896"/>
          </a:xfrm>
          <a:prstGeom prst="rect">
            <a:avLst/>
          </a:prstGeom>
          <a:noFill/>
          <a:ln/>
        </p:spPr>
        <p:txBody>
          <a:bodyPr wrap="square" lIns="0" tIns="0" rIns="0" bIns="0" rtlCol="0" anchor="ctr"/>
          <a:lstStyle/>
          <a:p>
            <a:pPr indent="0" marL="0">
              <a:buNone/>
            </a:pPr>
            <a:r>
              <a:rPr lang="en-US" sz="1600" b="1" dirty="0">
                <a:solidFill>
                  <a:srgbClr val="1F4D3A"/>
                </a:solidFill>
                <a:latin typeface="Cambria" pitchFamily="34" charset="0"/>
                <a:ea typeface="Cambria" pitchFamily="34" charset="-122"/>
                <a:cs typeface="Cambria" pitchFamily="34" charset="-120"/>
              </a:rPr>
              <a:t>Personal report page</a:t>
            </a:r>
            <a:endParaRPr lang="en-US" sz="1600" dirty="0"/>
          </a:p>
        </p:txBody>
      </p:sp>
      <p:sp>
        <p:nvSpPr>
          <p:cNvPr id="6" name="Text 4"/>
          <p:cNvSpPr txBox="1"/>
          <p:nvPr/>
        </p:nvSpPr>
        <p:spPr>
          <a:xfrm>
            <a:off x="896112" y="2176272"/>
            <a:ext cx="2962656" cy="1499616"/>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17211C"/>
                </a:solidFill>
                <a:latin typeface="Calibri" pitchFamily="34" charset="0"/>
                <a:ea typeface="Calibri" pitchFamily="34" charset="-122"/>
                <a:cs typeface="Calibri" pitchFamily="34" charset="-120"/>
              </a:rPr>
              <a:t>A form. Task table with planned vs actual, blockers, achievements, hours. Save draft or submit.</a:t>
            </a:r>
            <a:endParaRPr lang="en-US" sz="1250" dirty="0"/>
          </a:p>
        </p:txBody>
      </p:sp>
      <p:sp>
        <p:nvSpPr>
          <p:cNvPr id="7" name="Shape 5"/>
          <p:cNvSpPr/>
          <p:nvPr/>
        </p:nvSpPr>
        <p:spPr>
          <a:xfrm>
            <a:off x="4343400" y="1554480"/>
            <a:ext cx="3474720" cy="2286000"/>
          </a:xfrm>
          <a:prstGeom prst="roundRect">
            <a:avLst>
              <a:gd name="adj" fmla="val 3600"/>
            </a:avLst>
          </a:prstGeom>
          <a:solidFill>
            <a:srgbClr val="EFF4F0"/>
          </a:solidFill>
          <a:ln w="12700">
            <a:solidFill>
              <a:srgbClr val="EFF4F0"/>
            </a:solidFill>
            <a:prstDash val="solid"/>
          </a:ln>
        </p:spPr>
      </p:sp>
      <p:sp>
        <p:nvSpPr>
          <p:cNvPr id="8" name="Text 6"/>
          <p:cNvSpPr txBox="1"/>
          <p:nvPr/>
        </p:nvSpPr>
        <p:spPr>
          <a:xfrm>
            <a:off x="4599432" y="1755648"/>
            <a:ext cx="2962656" cy="310896"/>
          </a:xfrm>
          <a:prstGeom prst="rect">
            <a:avLst/>
          </a:prstGeom>
          <a:noFill/>
          <a:ln/>
        </p:spPr>
        <p:txBody>
          <a:bodyPr wrap="square" lIns="0" tIns="0" rIns="0" bIns="0" rtlCol="0" anchor="ctr"/>
          <a:lstStyle/>
          <a:p>
            <a:pPr indent="0" marL="0">
              <a:buNone/>
            </a:pPr>
            <a:r>
              <a:rPr lang="en-US" sz="1600" b="1" dirty="0">
                <a:solidFill>
                  <a:srgbClr val="1F4D3A"/>
                </a:solidFill>
                <a:latin typeface="Cambria" pitchFamily="34" charset="0"/>
                <a:ea typeface="Cambria" pitchFamily="34" charset="-122"/>
                <a:cs typeface="Cambria" pitchFamily="34" charset="-120"/>
              </a:rPr>
              <a:t>Report history</a:t>
            </a:r>
            <a:endParaRPr lang="en-US" sz="1600" dirty="0"/>
          </a:p>
        </p:txBody>
      </p:sp>
      <p:sp>
        <p:nvSpPr>
          <p:cNvPr id="9" name="Text 7"/>
          <p:cNvSpPr txBox="1"/>
          <p:nvPr/>
        </p:nvSpPr>
        <p:spPr>
          <a:xfrm>
            <a:off x="4599432" y="2176272"/>
            <a:ext cx="2962656" cy="1499616"/>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17211C"/>
                </a:solidFill>
                <a:latin typeface="Calibri" pitchFamily="34" charset="0"/>
                <a:ea typeface="Calibri" pitchFamily="34" charset="-122"/>
                <a:cs typeface="Calibri" pitchFamily="34" charset="-120"/>
              </a:rPr>
              <a:t>A list. Filter by status, paginated. Edit appears only where editing is allowed.</a:t>
            </a:r>
            <a:endParaRPr lang="en-US" sz="1250" dirty="0"/>
          </a:p>
        </p:txBody>
      </p:sp>
      <p:sp>
        <p:nvSpPr>
          <p:cNvPr id="10" name="Shape 8"/>
          <p:cNvSpPr/>
          <p:nvPr/>
        </p:nvSpPr>
        <p:spPr>
          <a:xfrm>
            <a:off x="8046720" y="1554480"/>
            <a:ext cx="3474720" cy="2286000"/>
          </a:xfrm>
          <a:prstGeom prst="roundRect">
            <a:avLst>
              <a:gd name="adj" fmla="val 3600"/>
            </a:avLst>
          </a:prstGeom>
          <a:solidFill>
            <a:srgbClr val="EFF4F0"/>
          </a:solidFill>
          <a:ln w="12700">
            <a:solidFill>
              <a:srgbClr val="EFF4F0"/>
            </a:solidFill>
            <a:prstDash val="solid"/>
          </a:ln>
        </p:spPr>
      </p:sp>
      <p:sp>
        <p:nvSpPr>
          <p:cNvPr id="11" name="Text 9"/>
          <p:cNvSpPr txBox="1"/>
          <p:nvPr/>
        </p:nvSpPr>
        <p:spPr>
          <a:xfrm>
            <a:off x="8302752" y="1755648"/>
            <a:ext cx="2962656" cy="310896"/>
          </a:xfrm>
          <a:prstGeom prst="rect">
            <a:avLst/>
          </a:prstGeom>
          <a:noFill/>
          <a:ln/>
        </p:spPr>
        <p:txBody>
          <a:bodyPr wrap="square" lIns="0" tIns="0" rIns="0" bIns="0" rtlCol="0" anchor="ctr"/>
          <a:lstStyle/>
          <a:p>
            <a:pPr indent="0" marL="0">
              <a:buNone/>
            </a:pPr>
            <a:r>
              <a:rPr lang="en-US" sz="1600" b="1" dirty="0">
                <a:solidFill>
                  <a:srgbClr val="1F4D3A"/>
                </a:solidFill>
                <a:latin typeface="Cambria" pitchFamily="34" charset="0"/>
                <a:ea typeface="Cambria" pitchFamily="34" charset="-122"/>
                <a:cs typeface="Cambria" pitchFamily="34" charset="-120"/>
              </a:rPr>
              <a:t>Team dashboard</a:t>
            </a:r>
            <a:endParaRPr lang="en-US" sz="1600" dirty="0"/>
          </a:p>
        </p:txBody>
      </p:sp>
      <p:sp>
        <p:nvSpPr>
          <p:cNvPr id="12" name="Text 10"/>
          <p:cNvSpPr txBox="1"/>
          <p:nvPr/>
        </p:nvSpPr>
        <p:spPr>
          <a:xfrm>
            <a:off x="8302752" y="2176272"/>
            <a:ext cx="2962656" cy="1499616"/>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17211C"/>
                </a:solidFill>
                <a:latin typeface="Calibri" pitchFamily="34" charset="0"/>
                <a:ea typeface="Calibri" pitchFamily="34" charset="-122"/>
                <a:cs typeface="Calibri" pitchFamily="34" charset="-120"/>
              </a:rPr>
              <a:t>A table with filters: person, project, status, week range. Review from the row.</a:t>
            </a:r>
            <a:endParaRPr lang="en-US" sz="1250" dirty="0"/>
          </a:p>
        </p:txBody>
      </p:sp>
      <p:sp>
        <p:nvSpPr>
          <p:cNvPr id="13" name="Text 11"/>
          <p:cNvSpPr txBox="1"/>
          <p:nvPr/>
        </p:nvSpPr>
        <p:spPr>
          <a:xfrm>
            <a:off x="640080" y="4114800"/>
            <a:ext cx="5029200" cy="320040"/>
          </a:xfrm>
          <a:prstGeom prst="rect">
            <a:avLst/>
          </a:prstGeom>
          <a:noFill/>
          <a:ln/>
        </p:spPr>
        <p:txBody>
          <a:bodyPr wrap="square" lIns="0" tIns="0" rIns="0" bIns="0" rtlCol="0" anchor="ctr"/>
          <a:lstStyle/>
          <a:p>
            <a:pPr indent="0" marL="0">
              <a:buNone/>
            </a:pPr>
            <a:r>
              <a:rPr lang="en-US" sz="1700" b="1" dirty="0">
                <a:solidFill>
                  <a:srgbClr val="1F4D3A"/>
                </a:solidFill>
                <a:latin typeface="Cambria" pitchFamily="34" charset="0"/>
                <a:ea typeface="Cambria" pitchFamily="34" charset="-122"/>
                <a:cs typeface="Cambria" pitchFamily="34" charset="-120"/>
              </a:rPr>
              <a:t>Reused across pages</a:t>
            </a:r>
            <a:endParaRPr lang="en-US" sz="1700" dirty="0"/>
          </a:p>
        </p:txBody>
      </p:sp>
      <p:sp>
        <p:nvSpPr>
          <p:cNvPr id="14" name="Text 12"/>
          <p:cNvSpPr txBox="1"/>
          <p:nvPr/>
        </p:nvSpPr>
        <p:spPr>
          <a:xfrm>
            <a:off x="640080" y="4526280"/>
            <a:ext cx="2377440" cy="329184"/>
          </a:xfrm>
          <a:prstGeom prst="rect">
            <a:avLst/>
          </a:prstGeom>
          <a:noFill/>
          <a:ln/>
        </p:spPr>
        <p:txBody>
          <a:bodyPr wrap="square" lIns="0" tIns="0" rIns="0" bIns="0" rtlCol="0" anchor="ctr"/>
          <a:lstStyle/>
          <a:p>
            <a:pPr indent="0" marL="0">
              <a:buNone/>
            </a:pPr>
            <a:r>
              <a:rPr lang="en-US" sz="1200" dirty="0">
                <a:solidFill>
                  <a:srgbClr val="17211C"/>
                </a:solidFill>
                <a:latin typeface="Consolas" pitchFamily="34" charset="0"/>
                <a:ea typeface="Consolas" pitchFamily="34" charset="-122"/>
                <a:cs typeface="Consolas" pitchFamily="34" charset="-120"/>
              </a:rPr>
              <a:t>StatusBadge</a:t>
            </a:r>
            <a:endParaRPr lang="en-US" sz="1200" dirty="0"/>
          </a:p>
        </p:txBody>
      </p:sp>
      <p:sp>
        <p:nvSpPr>
          <p:cNvPr id="15" name="Text 13"/>
          <p:cNvSpPr txBox="1"/>
          <p:nvPr/>
        </p:nvSpPr>
        <p:spPr>
          <a:xfrm>
            <a:off x="3108960" y="4526280"/>
            <a:ext cx="2743200" cy="329184"/>
          </a:xfrm>
          <a:prstGeom prst="rect">
            <a:avLst/>
          </a:prstGeom>
          <a:noFill/>
          <a:ln/>
        </p:spPr>
        <p:txBody>
          <a:bodyPr wrap="square" lIns="0" tIns="0" rIns="0" bIns="0" rtlCol="0" anchor="ctr"/>
          <a:lstStyle/>
          <a:p>
            <a:pPr indent="0" marL="0">
              <a:buNone/>
            </a:pPr>
            <a:r>
              <a:rPr lang="en-US" sz="1200" dirty="0">
                <a:solidFill>
                  <a:srgbClr val="6B776F"/>
                </a:solidFill>
                <a:latin typeface="Calibri" pitchFamily="34" charset="0"/>
                <a:ea typeface="Calibri" pitchFamily="34" charset="-122"/>
                <a:cs typeface="Calibri" pitchFamily="34" charset="-120"/>
              </a:rPr>
              <a:t>5 pages</a:t>
            </a:r>
            <a:endParaRPr lang="en-US" sz="1200" dirty="0"/>
          </a:p>
        </p:txBody>
      </p:sp>
      <p:sp>
        <p:nvSpPr>
          <p:cNvPr id="16" name="Text 14"/>
          <p:cNvSpPr txBox="1"/>
          <p:nvPr/>
        </p:nvSpPr>
        <p:spPr>
          <a:xfrm>
            <a:off x="640080" y="4910328"/>
            <a:ext cx="2377440" cy="329184"/>
          </a:xfrm>
          <a:prstGeom prst="rect">
            <a:avLst/>
          </a:prstGeom>
          <a:noFill/>
          <a:ln/>
        </p:spPr>
        <p:txBody>
          <a:bodyPr wrap="square" lIns="0" tIns="0" rIns="0" bIns="0" rtlCol="0" anchor="ctr"/>
          <a:lstStyle/>
          <a:p>
            <a:pPr indent="0" marL="0">
              <a:buNone/>
            </a:pPr>
            <a:r>
              <a:rPr lang="en-US" sz="1200" dirty="0">
                <a:solidFill>
                  <a:srgbClr val="17211C"/>
                </a:solidFill>
                <a:latin typeface="Consolas" pitchFamily="34" charset="0"/>
                <a:ea typeface="Consolas" pitchFamily="34" charset="-122"/>
                <a:cs typeface="Consolas" pitchFamily="34" charset="-120"/>
              </a:rPr>
              <a:t>ReportDetail</a:t>
            </a:r>
            <a:endParaRPr lang="en-US" sz="1200" dirty="0"/>
          </a:p>
        </p:txBody>
      </p:sp>
      <p:sp>
        <p:nvSpPr>
          <p:cNvPr id="17" name="Text 15"/>
          <p:cNvSpPr txBox="1"/>
          <p:nvPr/>
        </p:nvSpPr>
        <p:spPr>
          <a:xfrm>
            <a:off x="3108960" y="4910328"/>
            <a:ext cx="2743200" cy="329184"/>
          </a:xfrm>
          <a:prstGeom prst="rect">
            <a:avLst/>
          </a:prstGeom>
          <a:noFill/>
          <a:ln/>
        </p:spPr>
        <p:txBody>
          <a:bodyPr wrap="square" lIns="0" tIns="0" rIns="0" bIns="0" rtlCol="0" anchor="ctr"/>
          <a:lstStyle/>
          <a:p>
            <a:pPr indent="0" marL="0">
              <a:buNone/>
            </a:pPr>
            <a:r>
              <a:rPr lang="en-US" sz="1200" dirty="0">
                <a:solidFill>
                  <a:srgbClr val="6B776F"/>
                </a:solidFill>
                <a:latin typeface="Calibri" pitchFamily="34" charset="0"/>
                <a:ea typeface="Calibri" pitchFamily="34" charset="-122"/>
                <a:cs typeface="Calibri" pitchFamily="34" charset="-120"/>
              </a:rPr>
              <a:t>report view + review</a:t>
            </a:r>
            <a:endParaRPr lang="en-US" sz="1200" dirty="0"/>
          </a:p>
        </p:txBody>
      </p:sp>
      <p:sp>
        <p:nvSpPr>
          <p:cNvPr id="18" name="Text 16"/>
          <p:cNvSpPr txBox="1"/>
          <p:nvPr/>
        </p:nvSpPr>
        <p:spPr>
          <a:xfrm>
            <a:off x="640080" y="5294376"/>
            <a:ext cx="2377440" cy="329184"/>
          </a:xfrm>
          <a:prstGeom prst="rect">
            <a:avLst/>
          </a:prstGeom>
          <a:noFill/>
          <a:ln/>
        </p:spPr>
        <p:txBody>
          <a:bodyPr wrap="square" lIns="0" tIns="0" rIns="0" bIns="0" rtlCol="0" anchor="ctr"/>
          <a:lstStyle/>
          <a:p>
            <a:pPr indent="0" marL="0">
              <a:buNone/>
            </a:pPr>
            <a:r>
              <a:rPr lang="en-US" sz="1200" dirty="0">
                <a:solidFill>
                  <a:srgbClr val="17211C"/>
                </a:solidFill>
                <a:latin typeface="Consolas" pitchFamily="34" charset="0"/>
                <a:ea typeface="Consolas" pitchFamily="34" charset="-122"/>
                <a:cs typeface="Consolas" pitchFamily="34" charset="-120"/>
              </a:rPr>
              <a:t>VersionHistory</a:t>
            </a:r>
            <a:endParaRPr lang="en-US" sz="1200" dirty="0"/>
          </a:p>
        </p:txBody>
      </p:sp>
      <p:sp>
        <p:nvSpPr>
          <p:cNvPr id="19" name="Text 17"/>
          <p:cNvSpPr txBox="1"/>
          <p:nvPr/>
        </p:nvSpPr>
        <p:spPr>
          <a:xfrm>
            <a:off x="3108960" y="5294376"/>
            <a:ext cx="2743200" cy="329184"/>
          </a:xfrm>
          <a:prstGeom prst="rect">
            <a:avLst/>
          </a:prstGeom>
          <a:noFill/>
          <a:ln/>
        </p:spPr>
        <p:txBody>
          <a:bodyPr wrap="square" lIns="0" tIns="0" rIns="0" bIns="0" rtlCol="0" anchor="ctr"/>
          <a:lstStyle/>
          <a:p>
            <a:pPr indent="0" marL="0">
              <a:buNone/>
            </a:pPr>
            <a:r>
              <a:rPr lang="en-US" sz="1200" dirty="0">
                <a:solidFill>
                  <a:srgbClr val="6B776F"/>
                </a:solidFill>
                <a:latin typeface="Calibri" pitchFamily="34" charset="0"/>
                <a:ea typeface="Calibri" pitchFamily="34" charset="-122"/>
                <a:cs typeface="Calibri" pitchFamily="34" charset="-120"/>
              </a:rPr>
              <a:t>report view + review</a:t>
            </a:r>
            <a:endParaRPr lang="en-US" sz="1200" dirty="0"/>
          </a:p>
        </p:txBody>
      </p:sp>
      <p:sp>
        <p:nvSpPr>
          <p:cNvPr id="20" name="Text 18"/>
          <p:cNvSpPr txBox="1"/>
          <p:nvPr/>
        </p:nvSpPr>
        <p:spPr>
          <a:xfrm>
            <a:off x="640080" y="5678424"/>
            <a:ext cx="2377440" cy="329184"/>
          </a:xfrm>
          <a:prstGeom prst="rect">
            <a:avLst/>
          </a:prstGeom>
          <a:noFill/>
          <a:ln/>
        </p:spPr>
        <p:txBody>
          <a:bodyPr wrap="square" lIns="0" tIns="0" rIns="0" bIns="0" rtlCol="0" anchor="ctr"/>
          <a:lstStyle/>
          <a:p>
            <a:pPr indent="0" marL="0">
              <a:buNone/>
            </a:pPr>
            <a:r>
              <a:rPr lang="en-US" sz="1200" dirty="0">
                <a:solidFill>
                  <a:srgbClr val="17211C"/>
                </a:solidFill>
                <a:latin typeface="Consolas" pitchFamily="34" charset="0"/>
                <a:ea typeface="Consolas" pitchFamily="34" charset="-122"/>
                <a:cs typeface="Consolas" pitchFamily="34" charset="-120"/>
              </a:rPr>
              <a:t>ReportForm</a:t>
            </a:r>
            <a:endParaRPr lang="en-US" sz="1200" dirty="0"/>
          </a:p>
        </p:txBody>
      </p:sp>
      <p:sp>
        <p:nvSpPr>
          <p:cNvPr id="21" name="Text 19"/>
          <p:cNvSpPr txBox="1"/>
          <p:nvPr/>
        </p:nvSpPr>
        <p:spPr>
          <a:xfrm>
            <a:off x="3108960" y="5678424"/>
            <a:ext cx="2743200" cy="329184"/>
          </a:xfrm>
          <a:prstGeom prst="rect">
            <a:avLst/>
          </a:prstGeom>
          <a:noFill/>
          <a:ln/>
        </p:spPr>
        <p:txBody>
          <a:bodyPr wrap="square" lIns="0" tIns="0" rIns="0" bIns="0" rtlCol="0" anchor="ctr"/>
          <a:lstStyle/>
          <a:p>
            <a:pPr indent="0" marL="0">
              <a:buNone/>
            </a:pPr>
            <a:r>
              <a:rPr lang="en-US" sz="1200" dirty="0">
                <a:solidFill>
                  <a:srgbClr val="6B776F"/>
                </a:solidFill>
                <a:latin typeface="Calibri" pitchFamily="34" charset="0"/>
                <a:ea typeface="Calibri" pitchFamily="34" charset="-122"/>
                <a:cs typeface="Calibri" pitchFamily="34" charset="-120"/>
              </a:rPr>
              <a:t>create + edit</a:t>
            </a:r>
            <a:endParaRPr lang="en-US" sz="1200" dirty="0"/>
          </a:p>
        </p:txBody>
      </p:sp>
      <p:sp>
        <p:nvSpPr>
          <p:cNvPr id="22" name="Text 20"/>
          <p:cNvSpPr txBox="1"/>
          <p:nvPr/>
        </p:nvSpPr>
        <p:spPr>
          <a:xfrm>
            <a:off x="640080" y="6062472"/>
            <a:ext cx="2377440" cy="329184"/>
          </a:xfrm>
          <a:prstGeom prst="rect">
            <a:avLst/>
          </a:prstGeom>
          <a:noFill/>
          <a:ln/>
        </p:spPr>
        <p:txBody>
          <a:bodyPr wrap="square" lIns="0" tIns="0" rIns="0" bIns="0" rtlCol="0" anchor="ctr"/>
          <a:lstStyle/>
          <a:p>
            <a:pPr indent="0" marL="0">
              <a:buNone/>
            </a:pPr>
            <a:r>
              <a:rPr lang="en-US" sz="1200" dirty="0">
                <a:solidFill>
                  <a:srgbClr val="17211C"/>
                </a:solidFill>
                <a:latin typeface="Consolas" pitchFamily="34" charset="0"/>
                <a:ea typeface="Consolas" pitchFamily="34" charset="-122"/>
                <a:cs typeface="Consolas" pitchFamily="34" charset="-120"/>
              </a:rPr>
              <a:t>useRequireManager</a:t>
            </a:r>
            <a:endParaRPr lang="en-US" sz="1200" dirty="0"/>
          </a:p>
        </p:txBody>
      </p:sp>
      <p:sp>
        <p:nvSpPr>
          <p:cNvPr id="23" name="Text 21"/>
          <p:cNvSpPr txBox="1"/>
          <p:nvPr/>
        </p:nvSpPr>
        <p:spPr>
          <a:xfrm>
            <a:off x="3108960" y="6062472"/>
            <a:ext cx="2743200" cy="329184"/>
          </a:xfrm>
          <a:prstGeom prst="rect">
            <a:avLst/>
          </a:prstGeom>
          <a:noFill/>
          <a:ln/>
        </p:spPr>
        <p:txBody>
          <a:bodyPr wrap="square" lIns="0" tIns="0" rIns="0" bIns="0" rtlCol="0" anchor="ctr"/>
          <a:lstStyle/>
          <a:p>
            <a:pPr indent="0" marL="0">
              <a:buNone/>
            </a:pPr>
            <a:r>
              <a:rPr lang="en-US" sz="1200" dirty="0">
                <a:solidFill>
                  <a:srgbClr val="6B776F"/>
                </a:solidFill>
                <a:latin typeface="Calibri" pitchFamily="34" charset="0"/>
                <a:ea typeface="Calibri" pitchFamily="34" charset="-122"/>
                <a:cs typeface="Calibri" pitchFamily="34" charset="-120"/>
              </a:rPr>
              <a:t>3 manager pages</a:t>
            </a:r>
            <a:endParaRPr lang="en-US" sz="1200" dirty="0"/>
          </a:p>
        </p:txBody>
      </p:sp>
      <p:sp>
        <p:nvSpPr>
          <p:cNvPr id="24" name="Shape 22"/>
          <p:cNvSpPr/>
          <p:nvPr/>
        </p:nvSpPr>
        <p:spPr>
          <a:xfrm>
            <a:off x="6400800" y="4069080"/>
            <a:ext cx="5120640" cy="1965960"/>
          </a:xfrm>
          <a:prstGeom prst="roundRect">
            <a:avLst>
              <a:gd name="adj" fmla="val 4186"/>
            </a:avLst>
          </a:prstGeom>
          <a:solidFill>
            <a:srgbClr val="EFF4F0"/>
          </a:solidFill>
          <a:ln w="12700">
            <a:solidFill>
              <a:srgbClr val="EFF4F0"/>
            </a:solidFill>
            <a:prstDash val="solid"/>
          </a:ln>
        </p:spPr>
      </p:sp>
      <p:sp>
        <p:nvSpPr>
          <p:cNvPr id="25" name="Text 23"/>
          <p:cNvSpPr txBox="1"/>
          <p:nvPr/>
        </p:nvSpPr>
        <p:spPr>
          <a:xfrm>
            <a:off x="6656832" y="4270248"/>
            <a:ext cx="4608576" cy="310896"/>
          </a:xfrm>
          <a:prstGeom prst="rect">
            <a:avLst/>
          </a:prstGeom>
          <a:noFill/>
          <a:ln/>
        </p:spPr>
        <p:txBody>
          <a:bodyPr wrap="square" lIns="0" tIns="0" rIns="0" bIns="0" rtlCol="0" anchor="ctr"/>
          <a:lstStyle/>
          <a:p>
            <a:pPr indent="0" marL="0">
              <a:buNone/>
            </a:pPr>
            <a:r>
              <a:rPr lang="en-US" sz="1550" b="1" dirty="0">
                <a:solidFill>
                  <a:srgbClr val="1F4D3A"/>
                </a:solidFill>
                <a:latin typeface="Cambria" pitchFamily="34" charset="0"/>
                <a:ea typeface="Cambria" pitchFamily="34" charset="-122"/>
                <a:cs typeface="Cambria" pitchFamily="34" charset="-120"/>
              </a:rPr>
              <a:t>One rendering path</a:t>
            </a:r>
            <a:endParaRPr lang="en-US" sz="1550" dirty="0"/>
          </a:p>
        </p:txBody>
      </p:sp>
      <p:sp>
        <p:nvSpPr>
          <p:cNvPr id="26" name="Text 24"/>
          <p:cNvSpPr txBox="1"/>
          <p:nvPr/>
        </p:nvSpPr>
        <p:spPr>
          <a:xfrm>
            <a:off x="6656832" y="4690872"/>
            <a:ext cx="4608576" cy="1179576"/>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17211C"/>
                </a:solidFill>
                <a:latin typeface="Calibri" pitchFamily="34" charset="0"/>
                <a:ea typeface="Calibri" pitchFamily="34" charset="-122"/>
                <a:cs typeface="Calibri" pitchFamily="34" charset="-120"/>
              </a:rPr>
              <a:t>The manager sees exactly what the team member submitted, because both use ReportDetail</a:t>
            </a:r>
            <a:endParaRPr lang="en-US" sz="1250" dirty="0"/>
          </a:p>
          <a:p>
            <a:pPr marL="342900" indent="-342900">
              <a:spcAft>
                <a:spcPts val="500"/>
              </a:spcAft>
              <a:buSzPct val="100000"/>
              <a:buChar char="•"/>
            </a:pPr>
            <a:r>
              <a:rPr lang="en-US" sz="1250" dirty="0">
                <a:solidFill>
                  <a:srgbClr val="17211C"/>
                </a:solidFill>
                <a:latin typeface="Calibri" pitchFamily="34" charset="0"/>
                <a:ea typeface="Calibri" pitchFamily="34" charset="-122"/>
                <a:cs typeface="Calibri" pitchFamily="34" charset="-120"/>
              </a:rPr>
              <a:t>StatusBadge is typed over the status union - add a status and TypeScript says it has no colour</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indent="0" marL="0">
              <a:buNone/>
            </a:pPr>
            <a:r>
              <a:rPr lang="en-US" sz="1100" b="1" spc="200" kern="0" dirty="0">
                <a:solidFill>
                  <a:srgbClr val="C8873A"/>
                </a:solidFill>
                <a:latin typeface="Calibri" pitchFamily="34" charset="0"/>
                <a:ea typeface="Calibri" pitchFamily="34" charset="-122"/>
                <a:cs typeface="Calibri" pitchFamily="34" charset="-120"/>
              </a:rPr>
              <a:t>DASHBOARD</a:t>
            </a:r>
            <a:endParaRPr lang="en-US" sz="1100" dirty="0"/>
          </a:p>
        </p:txBody>
      </p:sp>
      <p:sp>
        <p:nvSpPr>
          <p:cNvPr id="3" name="Text 1"/>
          <p:cNvSpPr txBox="1"/>
          <p:nvPr/>
        </p:nvSpPr>
        <p:spPr>
          <a:xfrm>
            <a:off x="640080" y="685800"/>
            <a:ext cx="10881360" cy="685800"/>
          </a:xfrm>
          <a:prstGeom prst="rect">
            <a:avLst/>
          </a:prstGeom>
          <a:noFill/>
          <a:ln/>
        </p:spPr>
        <p:txBody>
          <a:bodyPr wrap="square" lIns="0" tIns="0" rIns="0" bIns="0" rtlCol="0" anchor="ctr"/>
          <a:lstStyle/>
          <a:p>
            <a:pPr indent="0" marL="0">
              <a:buNone/>
            </a:pPr>
            <a:r>
              <a:rPr lang="en-US" sz="3400" b="1" dirty="0">
                <a:solidFill>
                  <a:srgbClr val="17211C"/>
                </a:solidFill>
                <a:latin typeface="Cambria" pitchFamily="34" charset="0"/>
                <a:ea typeface="Cambria" pitchFamily="34" charset="-122"/>
                <a:cs typeface="Cambria" pitchFamily="34" charset="-120"/>
              </a:rPr>
              <a:t>One call, nine queries in parallel</a:t>
            </a:r>
            <a:endParaRPr lang="en-US" sz="3400" dirty="0"/>
          </a:p>
        </p:txBody>
      </p:sp>
      <p:sp>
        <p:nvSpPr>
          <p:cNvPr id="4" name="Shape 2"/>
          <p:cNvSpPr/>
          <p:nvPr/>
        </p:nvSpPr>
        <p:spPr>
          <a:xfrm>
            <a:off x="640080" y="1554480"/>
            <a:ext cx="2560320" cy="1371600"/>
          </a:xfrm>
          <a:prstGeom prst="roundRect">
            <a:avLst>
              <a:gd name="adj" fmla="val 6667"/>
            </a:avLst>
          </a:prstGeom>
          <a:solidFill>
            <a:srgbClr val="EFF4F0"/>
          </a:solidFill>
          <a:ln w="12700">
            <a:solidFill>
              <a:srgbClr val="EFF4F0"/>
            </a:solidFill>
            <a:prstDash val="solid"/>
          </a:ln>
        </p:spPr>
      </p:sp>
      <p:sp>
        <p:nvSpPr>
          <p:cNvPr id="5" name="Text 3"/>
          <p:cNvSpPr txBox="1"/>
          <p:nvPr/>
        </p:nvSpPr>
        <p:spPr>
          <a:xfrm>
            <a:off x="896112" y="1691640"/>
            <a:ext cx="2103120" cy="640080"/>
          </a:xfrm>
          <a:prstGeom prst="rect">
            <a:avLst/>
          </a:prstGeom>
          <a:noFill/>
          <a:ln/>
        </p:spPr>
        <p:txBody>
          <a:bodyPr wrap="square" lIns="0" tIns="0" rIns="0" bIns="0" rtlCol="0" anchor="ctr"/>
          <a:lstStyle/>
          <a:p>
            <a:pPr indent="0" marL="0">
              <a:buNone/>
            </a:pPr>
            <a:r>
              <a:rPr lang="en-US" sz="4000" b="1" dirty="0">
                <a:solidFill>
                  <a:srgbClr val="1F4D3A"/>
                </a:solidFill>
                <a:latin typeface="Cambria" pitchFamily="34" charset="0"/>
                <a:ea typeface="Cambria" pitchFamily="34" charset="-122"/>
                <a:cs typeface="Cambria" pitchFamily="34" charset="-120"/>
              </a:rPr>
              <a:t>3 / 5</a:t>
            </a:r>
            <a:endParaRPr lang="en-US" sz="4000" dirty="0"/>
          </a:p>
        </p:txBody>
      </p:sp>
      <p:sp>
        <p:nvSpPr>
          <p:cNvPr id="6" name="Text 4"/>
          <p:cNvSpPr txBox="1"/>
          <p:nvPr/>
        </p:nvSpPr>
        <p:spPr>
          <a:xfrm>
            <a:off x="896112" y="2313432"/>
            <a:ext cx="2103120" cy="457200"/>
          </a:xfrm>
          <a:prstGeom prst="rect">
            <a:avLst/>
          </a:prstGeom>
          <a:noFill/>
          <a:ln/>
        </p:spPr>
        <p:txBody>
          <a:bodyPr wrap="square" lIns="0" tIns="0" rIns="0" bIns="0" rtlCol="0" anchor="ctr"/>
          <a:lstStyle/>
          <a:p>
            <a:pPr indent="0" marL="0">
              <a:buNone/>
            </a:pPr>
            <a:r>
              <a:rPr lang="en-US" sz="1200" dirty="0">
                <a:solidFill>
                  <a:srgbClr val="6B776F"/>
                </a:solidFill>
                <a:latin typeface="Calibri" pitchFamily="34" charset="0"/>
                <a:ea typeface="Calibri" pitchFamily="34" charset="-122"/>
                <a:cs typeface="Calibri" pitchFamily="34" charset="-120"/>
              </a:rPr>
              <a:t>submitted this week</a:t>
            </a:r>
            <a:endParaRPr lang="en-US" sz="1200" dirty="0"/>
          </a:p>
        </p:txBody>
      </p:sp>
      <p:sp>
        <p:nvSpPr>
          <p:cNvPr id="7" name="Shape 5"/>
          <p:cNvSpPr/>
          <p:nvPr/>
        </p:nvSpPr>
        <p:spPr>
          <a:xfrm>
            <a:off x="3429000" y="1554480"/>
            <a:ext cx="2560320" cy="1371600"/>
          </a:xfrm>
          <a:prstGeom prst="roundRect">
            <a:avLst>
              <a:gd name="adj" fmla="val 6667"/>
            </a:avLst>
          </a:prstGeom>
          <a:solidFill>
            <a:srgbClr val="EFF4F0"/>
          </a:solidFill>
          <a:ln w="12700">
            <a:solidFill>
              <a:srgbClr val="EFF4F0"/>
            </a:solidFill>
            <a:prstDash val="solid"/>
          </a:ln>
        </p:spPr>
      </p:sp>
      <p:sp>
        <p:nvSpPr>
          <p:cNvPr id="8" name="Text 6"/>
          <p:cNvSpPr txBox="1"/>
          <p:nvPr/>
        </p:nvSpPr>
        <p:spPr>
          <a:xfrm>
            <a:off x="3685032" y="1691640"/>
            <a:ext cx="2103120" cy="640080"/>
          </a:xfrm>
          <a:prstGeom prst="rect">
            <a:avLst/>
          </a:prstGeom>
          <a:noFill/>
          <a:ln/>
        </p:spPr>
        <p:txBody>
          <a:bodyPr wrap="square" lIns="0" tIns="0" rIns="0" bIns="0" rtlCol="0" anchor="ctr"/>
          <a:lstStyle/>
          <a:p>
            <a:pPr indent="0" marL="0">
              <a:buNone/>
            </a:pPr>
            <a:r>
              <a:rPr lang="en-US" sz="4000" b="1" dirty="0">
                <a:solidFill>
                  <a:srgbClr val="1F4D3A"/>
                </a:solidFill>
                <a:latin typeface="Cambria" pitchFamily="34" charset="0"/>
                <a:ea typeface="Cambria" pitchFamily="34" charset="-122"/>
                <a:cs typeface="Cambria" pitchFamily="34" charset="-120"/>
              </a:rPr>
              <a:t>60%</a:t>
            </a:r>
            <a:endParaRPr lang="en-US" sz="4000" dirty="0"/>
          </a:p>
        </p:txBody>
      </p:sp>
      <p:sp>
        <p:nvSpPr>
          <p:cNvPr id="9" name="Text 7"/>
          <p:cNvSpPr txBox="1"/>
          <p:nvPr/>
        </p:nvSpPr>
        <p:spPr>
          <a:xfrm>
            <a:off x="3685032" y="2313432"/>
            <a:ext cx="2103120" cy="457200"/>
          </a:xfrm>
          <a:prstGeom prst="rect">
            <a:avLst/>
          </a:prstGeom>
          <a:noFill/>
          <a:ln/>
        </p:spPr>
        <p:txBody>
          <a:bodyPr wrap="square" lIns="0" tIns="0" rIns="0" bIns="0" rtlCol="0" anchor="ctr"/>
          <a:lstStyle/>
          <a:p>
            <a:pPr indent="0" marL="0">
              <a:buNone/>
            </a:pPr>
            <a:r>
              <a:rPr lang="en-US" sz="1200" dirty="0">
                <a:solidFill>
                  <a:srgbClr val="6B776F"/>
                </a:solidFill>
                <a:latin typeface="Calibri" pitchFamily="34" charset="0"/>
                <a:ea typeface="Calibri" pitchFamily="34" charset="-122"/>
                <a:cs typeface="Calibri" pitchFamily="34" charset="-120"/>
              </a:rPr>
              <a:t>3 on time, 2 pending</a:t>
            </a:r>
            <a:endParaRPr lang="en-US" sz="1200" dirty="0"/>
          </a:p>
        </p:txBody>
      </p:sp>
      <p:sp>
        <p:nvSpPr>
          <p:cNvPr id="10" name="Shape 8"/>
          <p:cNvSpPr/>
          <p:nvPr/>
        </p:nvSpPr>
        <p:spPr>
          <a:xfrm>
            <a:off x="6217920" y="1554480"/>
            <a:ext cx="2560320" cy="1371600"/>
          </a:xfrm>
          <a:prstGeom prst="roundRect">
            <a:avLst>
              <a:gd name="adj" fmla="val 6667"/>
            </a:avLst>
          </a:prstGeom>
          <a:solidFill>
            <a:srgbClr val="EFF4F0"/>
          </a:solidFill>
          <a:ln w="12700">
            <a:solidFill>
              <a:srgbClr val="EFF4F0"/>
            </a:solidFill>
            <a:prstDash val="solid"/>
          </a:ln>
        </p:spPr>
      </p:sp>
      <p:sp>
        <p:nvSpPr>
          <p:cNvPr id="11" name="Text 9"/>
          <p:cNvSpPr txBox="1"/>
          <p:nvPr/>
        </p:nvSpPr>
        <p:spPr>
          <a:xfrm>
            <a:off x="6473952" y="1691640"/>
            <a:ext cx="2103120" cy="640080"/>
          </a:xfrm>
          <a:prstGeom prst="rect">
            <a:avLst/>
          </a:prstGeom>
          <a:noFill/>
          <a:ln/>
        </p:spPr>
        <p:txBody>
          <a:bodyPr wrap="square" lIns="0" tIns="0" rIns="0" bIns="0" rtlCol="0" anchor="ctr"/>
          <a:lstStyle/>
          <a:p>
            <a:pPr indent="0" marL="0">
              <a:buNone/>
            </a:pPr>
            <a:r>
              <a:rPr lang="en-US" sz="4000" b="1" dirty="0">
                <a:solidFill>
                  <a:srgbClr val="1F4D3A"/>
                </a:solidFill>
                <a:latin typeface="Cambria" pitchFamily="34" charset="0"/>
                <a:ea typeface="Cambria" pitchFamily="34" charset="-122"/>
                <a:cs typeface="Cambria" pitchFamily="34" charset="-120"/>
              </a:rPr>
              <a:t>2</a:t>
            </a:r>
            <a:endParaRPr lang="en-US" sz="4000" dirty="0"/>
          </a:p>
        </p:txBody>
      </p:sp>
      <p:sp>
        <p:nvSpPr>
          <p:cNvPr id="12" name="Text 10"/>
          <p:cNvSpPr txBox="1"/>
          <p:nvPr/>
        </p:nvSpPr>
        <p:spPr>
          <a:xfrm>
            <a:off x="6473952" y="2313432"/>
            <a:ext cx="2103120" cy="457200"/>
          </a:xfrm>
          <a:prstGeom prst="rect">
            <a:avLst/>
          </a:prstGeom>
          <a:noFill/>
          <a:ln/>
        </p:spPr>
        <p:txBody>
          <a:bodyPr wrap="square" lIns="0" tIns="0" rIns="0" bIns="0" rtlCol="0" anchor="ctr"/>
          <a:lstStyle/>
          <a:p>
            <a:pPr indent="0" marL="0">
              <a:buNone/>
            </a:pPr>
            <a:r>
              <a:rPr lang="en-US" sz="1200" dirty="0">
                <a:solidFill>
                  <a:srgbClr val="6B776F"/>
                </a:solidFill>
                <a:latin typeface="Calibri" pitchFamily="34" charset="0"/>
                <a:ea typeface="Calibri" pitchFamily="34" charset="-122"/>
                <a:cs typeface="Calibri" pitchFamily="34" charset="-120"/>
              </a:rPr>
              <a:t>need correction</a:t>
            </a:r>
            <a:endParaRPr lang="en-US" sz="1200" dirty="0"/>
          </a:p>
        </p:txBody>
      </p:sp>
      <p:sp>
        <p:nvSpPr>
          <p:cNvPr id="13" name="Shape 11"/>
          <p:cNvSpPr/>
          <p:nvPr/>
        </p:nvSpPr>
        <p:spPr>
          <a:xfrm>
            <a:off x="9006840" y="1554480"/>
            <a:ext cx="2560320" cy="1371600"/>
          </a:xfrm>
          <a:prstGeom prst="roundRect">
            <a:avLst>
              <a:gd name="adj" fmla="val 6667"/>
            </a:avLst>
          </a:prstGeom>
          <a:solidFill>
            <a:srgbClr val="EFF4F0"/>
          </a:solidFill>
          <a:ln w="12700">
            <a:solidFill>
              <a:srgbClr val="EFF4F0"/>
            </a:solidFill>
            <a:prstDash val="solid"/>
          </a:ln>
        </p:spPr>
      </p:sp>
      <p:sp>
        <p:nvSpPr>
          <p:cNvPr id="14" name="Text 12"/>
          <p:cNvSpPr txBox="1"/>
          <p:nvPr/>
        </p:nvSpPr>
        <p:spPr>
          <a:xfrm>
            <a:off x="9262872" y="1691640"/>
            <a:ext cx="2103120" cy="640080"/>
          </a:xfrm>
          <a:prstGeom prst="rect">
            <a:avLst/>
          </a:prstGeom>
          <a:noFill/>
          <a:ln/>
        </p:spPr>
        <p:txBody>
          <a:bodyPr wrap="square" lIns="0" tIns="0" rIns="0" bIns="0" rtlCol="0" anchor="ctr"/>
          <a:lstStyle/>
          <a:p>
            <a:pPr indent="0" marL="0">
              <a:buNone/>
            </a:pPr>
            <a:r>
              <a:rPr lang="en-US" sz="4000" b="1" dirty="0">
                <a:solidFill>
                  <a:srgbClr val="1F4D3A"/>
                </a:solidFill>
                <a:latin typeface="Cambria" pitchFamily="34" charset="0"/>
                <a:ea typeface="Cambria" pitchFamily="34" charset="-122"/>
                <a:cs typeface="Cambria" pitchFamily="34" charset="-120"/>
              </a:rPr>
              <a:t>6</a:t>
            </a:r>
            <a:endParaRPr lang="en-US" sz="4000" dirty="0"/>
          </a:p>
        </p:txBody>
      </p:sp>
      <p:sp>
        <p:nvSpPr>
          <p:cNvPr id="15" name="Text 13"/>
          <p:cNvSpPr txBox="1"/>
          <p:nvPr/>
        </p:nvSpPr>
        <p:spPr>
          <a:xfrm>
            <a:off x="9262872" y="2313432"/>
            <a:ext cx="2103120" cy="457200"/>
          </a:xfrm>
          <a:prstGeom prst="rect">
            <a:avLst/>
          </a:prstGeom>
          <a:noFill/>
          <a:ln/>
        </p:spPr>
        <p:txBody>
          <a:bodyPr wrap="square" lIns="0" tIns="0" rIns="0" bIns="0" rtlCol="0" anchor="ctr"/>
          <a:lstStyle/>
          <a:p>
            <a:pPr indent="0" marL="0">
              <a:buNone/>
            </a:pPr>
            <a:r>
              <a:rPr lang="en-US" sz="1200" dirty="0">
                <a:solidFill>
                  <a:srgbClr val="6B776F"/>
                </a:solidFill>
                <a:latin typeface="Calibri" pitchFamily="34" charset="0"/>
                <a:ea typeface="Calibri" pitchFamily="34" charset="-122"/>
                <a:cs typeface="Calibri" pitchFamily="34" charset="-120"/>
              </a:rPr>
              <a:t>open blockers</a:t>
            </a:r>
            <a:endParaRPr lang="en-US" sz="1200" dirty="0"/>
          </a:p>
        </p:txBody>
      </p:sp>
      <p:sp>
        <p:nvSpPr>
          <p:cNvPr id="16" name="Shape 14"/>
          <p:cNvSpPr/>
          <p:nvPr/>
        </p:nvSpPr>
        <p:spPr>
          <a:xfrm>
            <a:off x="640080" y="3200400"/>
            <a:ext cx="5303520" cy="2194560"/>
          </a:xfrm>
          <a:prstGeom prst="roundRect">
            <a:avLst>
              <a:gd name="adj" fmla="val 3750"/>
            </a:avLst>
          </a:prstGeom>
          <a:solidFill>
            <a:srgbClr val="EFF4F0"/>
          </a:solidFill>
          <a:ln w="12700">
            <a:solidFill>
              <a:srgbClr val="EFF4F0"/>
            </a:solidFill>
            <a:prstDash val="solid"/>
          </a:ln>
        </p:spPr>
      </p:sp>
      <p:sp>
        <p:nvSpPr>
          <p:cNvPr id="17" name="Text 15"/>
          <p:cNvSpPr txBox="1"/>
          <p:nvPr/>
        </p:nvSpPr>
        <p:spPr>
          <a:xfrm>
            <a:off x="896112" y="3401568"/>
            <a:ext cx="4791456" cy="310896"/>
          </a:xfrm>
          <a:prstGeom prst="rect">
            <a:avLst/>
          </a:prstGeom>
          <a:noFill/>
          <a:ln/>
        </p:spPr>
        <p:txBody>
          <a:bodyPr wrap="square" lIns="0" tIns="0" rIns="0" bIns="0" rtlCol="0" anchor="ctr"/>
          <a:lstStyle/>
          <a:p>
            <a:pPr indent="0" marL="0">
              <a:buNone/>
            </a:pPr>
            <a:r>
              <a:rPr lang="en-US" sz="1600" b="1" dirty="0">
                <a:solidFill>
                  <a:srgbClr val="1F4D3A"/>
                </a:solidFill>
                <a:latin typeface="Cambria" pitchFamily="34" charset="0"/>
                <a:ea typeface="Cambria" pitchFamily="34" charset="-122"/>
                <a:cs typeface="Cambria" pitchFamily="34" charset="-120"/>
              </a:rPr>
              <a:t>Four charts</a:t>
            </a:r>
            <a:endParaRPr lang="en-US" sz="1600" dirty="0"/>
          </a:p>
        </p:txBody>
      </p:sp>
      <p:sp>
        <p:nvSpPr>
          <p:cNvPr id="18" name="Text 16"/>
          <p:cNvSpPr txBox="1"/>
          <p:nvPr/>
        </p:nvSpPr>
        <p:spPr>
          <a:xfrm>
            <a:off x="896112" y="3822192"/>
            <a:ext cx="4791456" cy="1408176"/>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17211C"/>
                </a:solidFill>
                <a:latin typeface="Calibri" pitchFamily="34" charset="0"/>
                <a:ea typeface="Calibri" pitchFamily="34" charset="-122"/>
                <a:cs typeface="Calibri" pitchFamily="34" charset="-120"/>
              </a:rPr>
              <a:t>Tasks completed over eight weeks</a:t>
            </a:r>
            <a:endParaRPr lang="en-US" sz="1300" dirty="0"/>
          </a:p>
          <a:p>
            <a:pPr marL="342900" indent="-342900">
              <a:spcAft>
                <a:spcPts val="500"/>
              </a:spcAft>
              <a:buSzPct val="100000"/>
              <a:buChar char="•"/>
            </a:pPr>
            <a:r>
              <a:rPr lang="en-US" sz="1300" dirty="0">
                <a:solidFill>
                  <a:srgbClr val="17211C"/>
                </a:solidFill>
                <a:latin typeface="Calibri" pitchFamily="34" charset="0"/>
                <a:ea typeface="Calibri" pitchFamily="34" charset="-122"/>
                <a:cs typeface="Calibri" pitchFamily="34" charset="-120"/>
              </a:rPr>
              <a:t>Report status by team member</a:t>
            </a:r>
            <a:endParaRPr lang="en-US" sz="1300" dirty="0"/>
          </a:p>
          <a:p>
            <a:pPr marL="342900" indent="-342900">
              <a:spcAft>
                <a:spcPts val="500"/>
              </a:spcAft>
              <a:buSzPct val="100000"/>
              <a:buChar char="•"/>
            </a:pPr>
            <a:r>
              <a:rPr lang="en-US" sz="1300" dirty="0">
                <a:solidFill>
                  <a:srgbClr val="17211C"/>
                </a:solidFill>
                <a:latin typeface="Calibri" pitchFamily="34" charset="0"/>
                <a:ea typeface="Calibri" pitchFamily="34" charset="-122"/>
                <a:cs typeface="Calibri" pitchFamily="34" charset="-120"/>
              </a:rPr>
              <a:t>Workload by project</a:t>
            </a:r>
            <a:endParaRPr lang="en-US" sz="1300" dirty="0"/>
          </a:p>
          <a:p>
            <a:pPr marL="342900" indent="-342900">
              <a:spcAft>
                <a:spcPts val="500"/>
              </a:spcAft>
              <a:buSzPct val="100000"/>
              <a:buChar char="•"/>
            </a:pPr>
            <a:r>
              <a:rPr lang="en-US" sz="1300" dirty="0">
                <a:solidFill>
                  <a:srgbClr val="17211C"/>
                </a:solidFill>
                <a:latin typeface="Calibri" pitchFamily="34" charset="0"/>
                <a:ea typeface="Calibri" pitchFamily="34" charset="-122"/>
                <a:cs typeface="Calibri" pitchFamily="34" charset="-120"/>
              </a:rPr>
              <a:t>Hours by task type, team-wide</a:t>
            </a:r>
            <a:endParaRPr lang="en-US" sz="1300" dirty="0"/>
          </a:p>
        </p:txBody>
      </p:sp>
      <p:sp>
        <p:nvSpPr>
          <p:cNvPr id="19" name="Shape 17"/>
          <p:cNvSpPr/>
          <p:nvPr/>
        </p:nvSpPr>
        <p:spPr>
          <a:xfrm>
            <a:off x="6217920" y="3200400"/>
            <a:ext cx="5303520" cy="2194560"/>
          </a:xfrm>
          <a:prstGeom prst="roundRect">
            <a:avLst>
              <a:gd name="adj" fmla="val 3750"/>
            </a:avLst>
          </a:prstGeom>
          <a:solidFill>
            <a:srgbClr val="EFF4F0"/>
          </a:solidFill>
          <a:ln w="12700">
            <a:solidFill>
              <a:srgbClr val="EFF4F0"/>
            </a:solidFill>
            <a:prstDash val="solid"/>
          </a:ln>
        </p:spPr>
      </p:sp>
      <p:sp>
        <p:nvSpPr>
          <p:cNvPr id="20" name="Text 18"/>
          <p:cNvSpPr txBox="1"/>
          <p:nvPr/>
        </p:nvSpPr>
        <p:spPr>
          <a:xfrm>
            <a:off x="6473952" y="3401568"/>
            <a:ext cx="4791456" cy="310896"/>
          </a:xfrm>
          <a:prstGeom prst="rect">
            <a:avLst/>
          </a:prstGeom>
          <a:noFill/>
          <a:ln/>
        </p:spPr>
        <p:txBody>
          <a:bodyPr wrap="square" lIns="0" tIns="0" rIns="0" bIns="0" rtlCol="0" anchor="ctr"/>
          <a:lstStyle/>
          <a:p>
            <a:pPr indent="0" marL="0">
              <a:buNone/>
            </a:pPr>
            <a:r>
              <a:rPr lang="en-US" sz="1600" b="1" dirty="0">
                <a:solidFill>
                  <a:srgbClr val="1F4D3A"/>
                </a:solidFill>
                <a:latin typeface="Cambria" pitchFamily="34" charset="0"/>
                <a:ea typeface="Cambria" pitchFamily="34" charset="-122"/>
                <a:cs typeface="Cambria" pitchFamily="34" charset="-120"/>
              </a:rPr>
              <a:t>Two details worth mentioning</a:t>
            </a:r>
            <a:endParaRPr lang="en-US" sz="1600" dirty="0"/>
          </a:p>
        </p:txBody>
      </p:sp>
      <p:sp>
        <p:nvSpPr>
          <p:cNvPr id="21" name="Text 19"/>
          <p:cNvSpPr txBox="1"/>
          <p:nvPr/>
        </p:nvSpPr>
        <p:spPr>
          <a:xfrm>
            <a:off x="6473952" y="3822192"/>
            <a:ext cx="4791456" cy="1408176"/>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17211C"/>
                </a:solidFill>
                <a:latin typeface="Calibri" pitchFamily="34" charset="0"/>
                <a:ea typeface="Calibri" pitchFamily="34" charset="-122"/>
                <a:cs typeface="Calibri" pitchFamily="34" charset="-120"/>
              </a:rPr>
              <a:t>Compliance splits three ways: filed on time, filed after the week closed, and not filed at all</a:t>
            </a:r>
            <a:endParaRPr lang="en-US" sz="1300" dirty="0"/>
          </a:p>
          <a:p>
            <a:pPr marL="342900" indent="-342900">
              <a:spcAft>
                <a:spcPts val="500"/>
              </a:spcAft>
              <a:buSzPct val="100000"/>
              <a:buChar char="•"/>
            </a:pPr>
            <a:r>
              <a:rPr lang="en-US" sz="1300" dirty="0">
                <a:solidFill>
                  <a:srgbClr val="17211C"/>
                </a:solidFill>
                <a:latin typeface="Calibri" pitchFamily="34" charset="0"/>
                <a:ea typeface="Calibri" pitchFamily="34" charset="-122"/>
                <a:cs typeface="Calibri" pitchFamily="34" charset="-120"/>
              </a:rPr>
              <a:t>That last one is the absence of a row, so it is computed from the member list, not from reports</a:t>
            </a:r>
            <a:endParaRPr lang="en-US" sz="1300" dirty="0"/>
          </a:p>
        </p:txBody>
      </p:sp>
      <p:sp>
        <p:nvSpPr>
          <p:cNvPr id="22" name="Text 20"/>
          <p:cNvSpPr txBox="1"/>
          <p:nvPr/>
        </p:nvSpPr>
        <p:spPr>
          <a:xfrm>
            <a:off x="640080" y="5669280"/>
            <a:ext cx="10881360" cy="320040"/>
          </a:xfrm>
          <a:prstGeom prst="rect">
            <a:avLst/>
          </a:prstGeom>
          <a:noFill/>
          <a:ln/>
        </p:spPr>
        <p:txBody>
          <a:bodyPr wrap="square" lIns="0" tIns="0" rIns="0" bIns="0" rtlCol="0" anchor="ctr"/>
          <a:lstStyle/>
          <a:p>
            <a:pPr indent="0" marL="0">
              <a:buNone/>
            </a:pPr>
            <a:r>
              <a:rPr lang="en-US" sz="1100" i="1" dirty="0">
                <a:solidFill>
                  <a:srgbClr val="6B776F"/>
                </a:solidFill>
                <a:latin typeface="Calibri" pitchFamily="34" charset="0"/>
                <a:ea typeface="Calibri" pitchFamily="34" charset="-122"/>
                <a:cs typeface="Calibri" pitchFamily="34" charset="-120"/>
              </a:rPr>
              <a:t>Replace this slide's top half with a screenshot of the real dashboard if you have room.</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indent="0" marL="0">
              <a:buNone/>
            </a:pPr>
            <a:r>
              <a:rPr lang="en-US" sz="1100" b="1" spc="200" kern="0" dirty="0">
                <a:solidFill>
                  <a:srgbClr val="C8873A"/>
                </a:solidFill>
                <a:latin typeface="Calibri" pitchFamily="34" charset="0"/>
                <a:ea typeface="Calibri" pitchFamily="34" charset="-122"/>
                <a:cs typeface="Calibri" pitchFamily="34" charset="-120"/>
              </a:rPr>
              <a:t>TESTING</a:t>
            </a:r>
            <a:endParaRPr lang="en-US" sz="1100" dirty="0"/>
          </a:p>
        </p:txBody>
      </p:sp>
      <p:sp>
        <p:nvSpPr>
          <p:cNvPr id="3" name="Text 1"/>
          <p:cNvSpPr txBox="1"/>
          <p:nvPr/>
        </p:nvSpPr>
        <p:spPr>
          <a:xfrm>
            <a:off x="640080" y="685800"/>
            <a:ext cx="10881360" cy="685800"/>
          </a:xfrm>
          <a:prstGeom prst="rect">
            <a:avLst/>
          </a:prstGeom>
          <a:noFill/>
          <a:ln/>
        </p:spPr>
        <p:txBody>
          <a:bodyPr wrap="square" lIns="0" tIns="0" rIns="0" bIns="0" rtlCol="0" anchor="ctr"/>
          <a:lstStyle/>
          <a:p>
            <a:pPr indent="0" marL="0">
              <a:buNone/>
            </a:pPr>
            <a:r>
              <a:rPr lang="en-US" sz="3400" b="1" dirty="0">
                <a:solidFill>
                  <a:srgbClr val="17211C"/>
                </a:solidFill>
                <a:latin typeface="Cambria" pitchFamily="34" charset="0"/>
                <a:ea typeface="Cambria" pitchFamily="34" charset="-122"/>
                <a:cs typeface="Cambria" pitchFamily="34" charset="-120"/>
              </a:rPr>
              <a:t>Eighteen tests, all on access control</a:t>
            </a:r>
            <a:endParaRPr lang="en-US" sz="3400" dirty="0"/>
          </a:p>
        </p:txBody>
      </p:sp>
      <p:sp>
        <p:nvSpPr>
          <p:cNvPr id="4" name="Shape 2"/>
          <p:cNvSpPr/>
          <p:nvPr/>
        </p:nvSpPr>
        <p:spPr>
          <a:xfrm>
            <a:off x="640080" y="1554480"/>
            <a:ext cx="5303520" cy="1508760"/>
          </a:xfrm>
          <a:prstGeom prst="roundRect">
            <a:avLst>
              <a:gd name="adj" fmla="val 5455"/>
            </a:avLst>
          </a:prstGeom>
          <a:solidFill>
            <a:srgbClr val="EFF4F0"/>
          </a:solidFill>
          <a:ln w="12700">
            <a:solidFill>
              <a:srgbClr val="EFF4F0"/>
            </a:solidFill>
            <a:prstDash val="solid"/>
          </a:ln>
        </p:spPr>
      </p:sp>
      <p:sp>
        <p:nvSpPr>
          <p:cNvPr id="5" name="Text 3"/>
          <p:cNvSpPr txBox="1"/>
          <p:nvPr/>
        </p:nvSpPr>
        <p:spPr>
          <a:xfrm>
            <a:off x="896112" y="1755648"/>
            <a:ext cx="4791456" cy="310896"/>
          </a:xfrm>
          <a:prstGeom prst="rect">
            <a:avLst/>
          </a:prstGeom>
          <a:noFill/>
          <a:ln/>
        </p:spPr>
        <p:txBody>
          <a:bodyPr wrap="square" lIns="0" tIns="0" rIns="0" bIns="0" rtlCol="0" anchor="ctr"/>
          <a:lstStyle/>
          <a:p>
            <a:pPr indent="0" marL="0">
              <a:buNone/>
            </a:pPr>
            <a:r>
              <a:rPr lang="en-US" sz="1600" b="1" dirty="0">
                <a:solidFill>
                  <a:srgbClr val="1F4D3A"/>
                </a:solidFill>
                <a:latin typeface="Cambria" pitchFamily="34" charset="0"/>
                <a:ea typeface="Cambria" pitchFamily="34" charset="-122"/>
                <a:cs typeface="Cambria" pitchFamily="34" charset="-120"/>
              </a:rPr>
              <a:t>Unauthenticated</a:t>
            </a:r>
            <a:endParaRPr lang="en-US" sz="1600" dirty="0"/>
          </a:p>
        </p:txBody>
      </p:sp>
      <p:sp>
        <p:nvSpPr>
          <p:cNvPr id="6" name="Text 4"/>
          <p:cNvSpPr txBox="1"/>
          <p:nvPr/>
        </p:nvSpPr>
        <p:spPr>
          <a:xfrm>
            <a:off x="896112" y="2176272"/>
            <a:ext cx="4791456" cy="722376"/>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17211C"/>
                </a:solidFill>
                <a:latin typeface="Calibri" pitchFamily="34" charset="0"/>
                <a:ea typeface="Calibri" pitchFamily="34" charset="-122"/>
                <a:cs typeface="Calibri" pitchFamily="34" charset="-120"/>
              </a:rPr>
              <a:t>Every protected route rejects a request with no session</a:t>
            </a:r>
            <a:endParaRPr lang="en-US" sz="1300" dirty="0"/>
          </a:p>
        </p:txBody>
      </p:sp>
      <p:sp>
        <p:nvSpPr>
          <p:cNvPr id="7" name="Shape 5"/>
          <p:cNvSpPr/>
          <p:nvPr/>
        </p:nvSpPr>
        <p:spPr>
          <a:xfrm>
            <a:off x="6217920" y="1554480"/>
            <a:ext cx="5303520" cy="1508760"/>
          </a:xfrm>
          <a:prstGeom prst="roundRect">
            <a:avLst>
              <a:gd name="adj" fmla="val 5455"/>
            </a:avLst>
          </a:prstGeom>
          <a:solidFill>
            <a:srgbClr val="EFF4F0"/>
          </a:solidFill>
          <a:ln w="12700">
            <a:solidFill>
              <a:srgbClr val="EFF4F0"/>
            </a:solidFill>
            <a:prstDash val="solid"/>
          </a:ln>
        </p:spPr>
      </p:sp>
      <p:sp>
        <p:nvSpPr>
          <p:cNvPr id="8" name="Text 6"/>
          <p:cNvSpPr txBox="1"/>
          <p:nvPr/>
        </p:nvSpPr>
        <p:spPr>
          <a:xfrm>
            <a:off x="6473952" y="1755648"/>
            <a:ext cx="4791456" cy="310896"/>
          </a:xfrm>
          <a:prstGeom prst="rect">
            <a:avLst/>
          </a:prstGeom>
          <a:noFill/>
          <a:ln/>
        </p:spPr>
        <p:txBody>
          <a:bodyPr wrap="square" lIns="0" tIns="0" rIns="0" bIns="0" rtlCol="0" anchor="ctr"/>
          <a:lstStyle/>
          <a:p>
            <a:pPr indent="0" marL="0">
              <a:buNone/>
            </a:pPr>
            <a:r>
              <a:rPr lang="en-US" sz="1600" b="1" dirty="0">
                <a:solidFill>
                  <a:srgbClr val="1F4D3A"/>
                </a:solidFill>
                <a:latin typeface="Cambria" pitchFamily="34" charset="0"/>
                <a:ea typeface="Cambria" pitchFamily="34" charset="-122"/>
                <a:cs typeface="Cambria" pitchFamily="34" charset="-120"/>
              </a:rPr>
              <a:t>Wrong role</a:t>
            </a:r>
            <a:endParaRPr lang="en-US" sz="1600" dirty="0"/>
          </a:p>
        </p:txBody>
      </p:sp>
      <p:sp>
        <p:nvSpPr>
          <p:cNvPr id="9" name="Text 7"/>
          <p:cNvSpPr txBox="1"/>
          <p:nvPr/>
        </p:nvSpPr>
        <p:spPr>
          <a:xfrm>
            <a:off x="6473952" y="2176272"/>
            <a:ext cx="4791456" cy="722376"/>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17211C"/>
                </a:solidFill>
                <a:latin typeface="Calibri" pitchFamily="34" charset="0"/>
                <a:ea typeface="Calibri" pitchFamily="34" charset="-122"/>
                <a:cs typeface="Calibri" pitchFamily="34" charset="-120"/>
              </a:rPr>
              <a:t>Team members are blocked from manager-only endpoints</a:t>
            </a:r>
            <a:endParaRPr lang="en-US" sz="1300" dirty="0"/>
          </a:p>
        </p:txBody>
      </p:sp>
      <p:sp>
        <p:nvSpPr>
          <p:cNvPr id="10" name="Shape 8"/>
          <p:cNvSpPr/>
          <p:nvPr/>
        </p:nvSpPr>
        <p:spPr>
          <a:xfrm>
            <a:off x="640080" y="3291840"/>
            <a:ext cx="5303520" cy="1508760"/>
          </a:xfrm>
          <a:prstGeom prst="roundRect">
            <a:avLst>
              <a:gd name="adj" fmla="val 5455"/>
            </a:avLst>
          </a:prstGeom>
          <a:solidFill>
            <a:srgbClr val="EFF4F0"/>
          </a:solidFill>
          <a:ln w="12700">
            <a:solidFill>
              <a:srgbClr val="EFF4F0"/>
            </a:solidFill>
            <a:prstDash val="solid"/>
          </a:ln>
        </p:spPr>
      </p:sp>
      <p:sp>
        <p:nvSpPr>
          <p:cNvPr id="11" name="Text 9"/>
          <p:cNvSpPr txBox="1"/>
          <p:nvPr/>
        </p:nvSpPr>
        <p:spPr>
          <a:xfrm>
            <a:off x="896112" y="3493008"/>
            <a:ext cx="4791456" cy="310896"/>
          </a:xfrm>
          <a:prstGeom prst="rect">
            <a:avLst/>
          </a:prstGeom>
          <a:noFill/>
          <a:ln/>
        </p:spPr>
        <p:txBody>
          <a:bodyPr wrap="square" lIns="0" tIns="0" rIns="0" bIns="0" rtlCol="0" anchor="ctr"/>
          <a:lstStyle/>
          <a:p>
            <a:pPr indent="0" marL="0">
              <a:buNone/>
            </a:pPr>
            <a:r>
              <a:rPr lang="en-US" sz="1600" b="1" dirty="0">
                <a:solidFill>
                  <a:srgbClr val="1F4D3A"/>
                </a:solidFill>
                <a:latin typeface="Cambria" pitchFamily="34" charset="0"/>
                <a:ea typeface="Cambria" pitchFamily="34" charset="-122"/>
                <a:cs typeface="Cambria" pitchFamily="34" charset="-120"/>
              </a:rPr>
              <a:t>Wrong owner</a:t>
            </a:r>
            <a:endParaRPr lang="en-US" sz="1600" dirty="0"/>
          </a:p>
        </p:txBody>
      </p:sp>
      <p:sp>
        <p:nvSpPr>
          <p:cNvPr id="12" name="Text 10"/>
          <p:cNvSpPr txBox="1"/>
          <p:nvPr/>
        </p:nvSpPr>
        <p:spPr>
          <a:xfrm>
            <a:off x="896112" y="3913632"/>
            <a:ext cx="4791456" cy="722376"/>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17211C"/>
                </a:solidFill>
                <a:latin typeface="Calibri" pitchFamily="34" charset="0"/>
                <a:ea typeface="Calibri" pitchFamily="34" charset="-122"/>
                <a:cs typeface="Calibri" pitchFamily="34" charset="-120"/>
              </a:rPr>
              <a:t>A team member cannot reach another member's report</a:t>
            </a:r>
            <a:endParaRPr lang="en-US" sz="1300" dirty="0"/>
          </a:p>
        </p:txBody>
      </p:sp>
      <p:sp>
        <p:nvSpPr>
          <p:cNvPr id="13" name="Shape 11"/>
          <p:cNvSpPr/>
          <p:nvPr/>
        </p:nvSpPr>
        <p:spPr>
          <a:xfrm>
            <a:off x="6217920" y="3291840"/>
            <a:ext cx="5303520" cy="1508760"/>
          </a:xfrm>
          <a:prstGeom prst="roundRect">
            <a:avLst>
              <a:gd name="adj" fmla="val 5455"/>
            </a:avLst>
          </a:prstGeom>
          <a:solidFill>
            <a:srgbClr val="EFF4F0"/>
          </a:solidFill>
          <a:ln w="12700">
            <a:solidFill>
              <a:srgbClr val="EFF4F0"/>
            </a:solidFill>
            <a:prstDash val="solid"/>
          </a:ln>
        </p:spPr>
      </p:sp>
      <p:sp>
        <p:nvSpPr>
          <p:cNvPr id="14" name="Text 12"/>
          <p:cNvSpPr txBox="1"/>
          <p:nvPr/>
        </p:nvSpPr>
        <p:spPr>
          <a:xfrm>
            <a:off x="6473952" y="3493008"/>
            <a:ext cx="4791456" cy="310896"/>
          </a:xfrm>
          <a:prstGeom prst="rect">
            <a:avLst/>
          </a:prstGeom>
          <a:noFill/>
          <a:ln/>
        </p:spPr>
        <p:txBody>
          <a:bodyPr wrap="square" lIns="0" tIns="0" rIns="0" bIns="0" rtlCol="0" anchor="ctr"/>
          <a:lstStyle/>
          <a:p>
            <a:pPr indent="0" marL="0">
              <a:buNone/>
            </a:pPr>
            <a:r>
              <a:rPr lang="en-US" sz="1600" b="1" dirty="0">
                <a:solidFill>
                  <a:srgbClr val="1F4D3A"/>
                </a:solidFill>
                <a:latin typeface="Cambria" pitchFamily="34" charset="0"/>
                <a:ea typeface="Cambria" pitchFamily="34" charset="-122"/>
                <a:cs typeface="Cambria" pitchFamily="34" charset="-120"/>
              </a:rPr>
              <a:t>Right role, wrong action</a:t>
            </a:r>
            <a:endParaRPr lang="en-US" sz="1600" dirty="0"/>
          </a:p>
        </p:txBody>
      </p:sp>
      <p:sp>
        <p:nvSpPr>
          <p:cNvPr id="15" name="Text 13"/>
          <p:cNvSpPr txBox="1"/>
          <p:nvPr/>
        </p:nvSpPr>
        <p:spPr>
          <a:xfrm>
            <a:off x="6473952" y="3913632"/>
            <a:ext cx="4791456" cy="722376"/>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17211C"/>
                </a:solidFill>
                <a:latin typeface="Calibri" pitchFamily="34" charset="0"/>
                <a:ea typeface="Calibri" pitchFamily="34" charset="-122"/>
                <a:cs typeface="Calibri" pitchFamily="34" charset="-120"/>
              </a:rPr>
              <a:t>A manager cannot rewrite a team member's content</a:t>
            </a:r>
            <a:endParaRPr lang="en-US" sz="1300" dirty="0"/>
          </a:p>
        </p:txBody>
      </p:sp>
      <p:sp>
        <p:nvSpPr>
          <p:cNvPr id="16" name="Shape 14"/>
          <p:cNvSpPr/>
          <p:nvPr/>
        </p:nvSpPr>
        <p:spPr>
          <a:xfrm>
            <a:off x="640080" y="5029200"/>
            <a:ext cx="10881360" cy="1051560"/>
          </a:xfrm>
          <a:prstGeom prst="roundRect">
            <a:avLst>
              <a:gd name="adj" fmla="val 7826"/>
            </a:avLst>
          </a:prstGeom>
          <a:solidFill>
            <a:srgbClr val="D8EDDF"/>
          </a:solidFill>
          <a:ln w="12700">
            <a:solidFill>
              <a:srgbClr val="D8EDDF"/>
            </a:solidFill>
            <a:prstDash val="solid"/>
          </a:ln>
        </p:spPr>
      </p:sp>
      <p:sp>
        <p:nvSpPr>
          <p:cNvPr id="17" name="Text 15"/>
          <p:cNvSpPr txBox="1"/>
          <p:nvPr/>
        </p:nvSpPr>
        <p:spPr>
          <a:xfrm>
            <a:off x="896112" y="5230368"/>
            <a:ext cx="10369296" cy="68580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rgbClr val="1F4D3A"/>
                </a:solidFill>
                <a:latin typeface="Calibri" pitchFamily="34" charset="0"/>
                <a:ea typeface="Calibri" pitchFamily="34" charset="-122"/>
                <a:cs typeface="Calibri" pitchFamily="34" charset="-120"/>
              </a:rPr>
              <a:t>Almost all of it is reads and rejected writes. The two tests that do write put back what they changed, so the demo data survives the suite.</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indent="0" marL="0">
              <a:buNone/>
            </a:pPr>
            <a:r>
              <a:rPr lang="en-US" sz="1100" b="1" spc="200" kern="0" dirty="0">
                <a:solidFill>
                  <a:srgbClr val="C8873A"/>
                </a:solidFill>
                <a:latin typeface="Calibri" pitchFamily="34" charset="0"/>
                <a:ea typeface="Calibri" pitchFamily="34" charset="-122"/>
                <a:cs typeface="Calibri" pitchFamily="34" charset="-120"/>
              </a:rPr>
              <a:t>CHALLENGES</a:t>
            </a:r>
            <a:endParaRPr lang="en-US" sz="1100" dirty="0"/>
          </a:p>
        </p:txBody>
      </p:sp>
      <p:sp>
        <p:nvSpPr>
          <p:cNvPr id="3" name="Text 1"/>
          <p:cNvSpPr txBox="1"/>
          <p:nvPr/>
        </p:nvSpPr>
        <p:spPr>
          <a:xfrm>
            <a:off x="640080" y="685800"/>
            <a:ext cx="10881360" cy="685800"/>
          </a:xfrm>
          <a:prstGeom prst="rect">
            <a:avLst/>
          </a:prstGeom>
          <a:noFill/>
          <a:ln/>
        </p:spPr>
        <p:txBody>
          <a:bodyPr wrap="square" lIns="0" tIns="0" rIns="0" bIns="0" rtlCol="0" anchor="ctr"/>
          <a:lstStyle/>
          <a:p>
            <a:pPr indent="0" marL="0">
              <a:buNone/>
            </a:pPr>
            <a:r>
              <a:rPr lang="en-US" sz="3400" b="1" dirty="0">
                <a:solidFill>
                  <a:srgbClr val="17211C"/>
                </a:solidFill>
                <a:latin typeface="Cambria" pitchFamily="34" charset="0"/>
                <a:ea typeface="Cambria" pitchFamily="34" charset="-122"/>
                <a:cs typeface="Cambria" pitchFamily="34" charset="-120"/>
              </a:rPr>
              <a:t>Three things that went wrong</a:t>
            </a:r>
            <a:endParaRPr lang="en-US" sz="3400" dirty="0"/>
          </a:p>
        </p:txBody>
      </p:sp>
      <p:sp>
        <p:nvSpPr>
          <p:cNvPr id="4" name="Shape 2"/>
          <p:cNvSpPr/>
          <p:nvPr/>
        </p:nvSpPr>
        <p:spPr>
          <a:xfrm>
            <a:off x="640080" y="1508760"/>
            <a:ext cx="10881360" cy="1600200"/>
          </a:xfrm>
          <a:prstGeom prst="roundRect">
            <a:avLst>
              <a:gd name="adj" fmla="val 5714"/>
            </a:avLst>
          </a:prstGeom>
          <a:solidFill>
            <a:srgbClr val="EFF4F0"/>
          </a:solidFill>
          <a:ln w="12700">
            <a:solidFill>
              <a:srgbClr val="EFF4F0"/>
            </a:solidFill>
            <a:prstDash val="solid"/>
          </a:ln>
        </p:spPr>
      </p:sp>
      <p:sp>
        <p:nvSpPr>
          <p:cNvPr id="5" name="Text 3"/>
          <p:cNvSpPr txBox="1"/>
          <p:nvPr/>
        </p:nvSpPr>
        <p:spPr>
          <a:xfrm>
            <a:off x="914400" y="1691640"/>
            <a:ext cx="5486400" cy="365760"/>
          </a:xfrm>
          <a:prstGeom prst="rect">
            <a:avLst/>
          </a:prstGeom>
          <a:noFill/>
          <a:ln/>
        </p:spPr>
        <p:txBody>
          <a:bodyPr wrap="square" lIns="0" tIns="0" rIns="0" bIns="0" rtlCol="0" anchor="ctr"/>
          <a:lstStyle/>
          <a:p>
            <a:pPr indent="0" marL="0">
              <a:buNone/>
            </a:pPr>
            <a:r>
              <a:rPr lang="en-US" sz="1800" b="1" dirty="0">
                <a:solidFill>
                  <a:srgbClr val="1F4D3A"/>
                </a:solidFill>
                <a:latin typeface="Cambria" pitchFamily="34" charset="0"/>
                <a:ea typeface="Cambria" pitchFamily="34" charset="-122"/>
                <a:cs typeface="Cambria" pitchFamily="34" charset="-120"/>
              </a:rPr>
              <a:t>The report list took 3.1 seconds</a:t>
            </a:r>
            <a:endParaRPr lang="en-US" sz="1800" dirty="0"/>
          </a:p>
        </p:txBody>
      </p:sp>
      <p:sp>
        <p:nvSpPr>
          <p:cNvPr id="6" name="Text 4"/>
          <p:cNvSpPr txBox="1"/>
          <p:nvPr/>
        </p:nvSpPr>
        <p:spPr>
          <a:xfrm>
            <a:off x="914400" y="2103120"/>
            <a:ext cx="6675120" cy="777240"/>
          </a:xfrm>
          <a:prstGeom prst="rect">
            <a:avLst/>
          </a:prstGeom>
          <a:noFill/>
          <a:ln/>
        </p:spPr>
        <p:txBody>
          <a:bodyPr wrap="square" lIns="0" tIns="0" rIns="0" bIns="0" rtlCol="0" anchor="ctr"/>
          <a:lstStyle/>
          <a:p>
            <a:pPr indent="0" marL="0">
              <a:buNone/>
            </a:pPr>
            <a:r>
              <a:rPr lang="en-US" sz="1300" dirty="0">
                <a:solidFill>
                  <a:srgbClr val="17211C"/>
                </a:solidFill>
                <a:latin typeface="Calibri" pitchFamily="34" charset="0"/>
                <a:ea typeface="Calibri" pitchFamily="34" charset="-122"/>
                <a:cs typeface="Calibri" pitchFamily="34" charset="-120"/>
              </a:rPr>
              <a:t>I measured before guessing: 67 ms of network, but seven relations loaded per row.</a:t>
            </a:r>
            <a:endParaRPr lang="en-US" sz="1300" dirty="0"/>
          </a:p>
          <a:p>
            <a:pPr indent="0" marL="0">
              <a:buNone/>
            </a:pPr>
            <a:r>
              <a:rPr lang="en-US" sz="1300" dirty="0">
                <a:solidFill>
                  <a:srgbClr val="17211C"/>
                </a:solidFill>
                <a:latin typeface="Calibri" pitchFamily="34" charset="0"/>
                <a:ea typeface="Calibri" pitchFamily="34" charset="-122"/>
                <a:cs typeface="Calibri" pitchFamily="34" charset="-120"/>
              </a:rPr>
              <a:t>Moved the database into the same region, and gave list queries a lighter shape.</a:t>
            </a:r>
            <a:endParaRPr lang="en-US" sz="1300" dirty="0"/>
          </a:p>
        </p:txBody>
      </p:sp>
      <p:sp>
        <p:nvSpPr>
          <p:cNvPr id="7" name="Text 5"/>
          <p:cNvSpPr txBox="1"/>
          <p:nvPr/>
        </p:nvSpPr>
        <p:spPr>
          <a:xfrm>
            <a:off x="7863840" y="1783080"/>
            <a:ext cx="3108960" cy="640080"/>
          </a:xfrm>
          <a:prstGeom prst="rect">
            <a:avLst/>
          </a:prstGeom>
          <a:noFill/>
          <a:ln/>
        </p:spPr>
        <p:txBody>
          <a:bodyPr wrap="square" lIns="0" tIns="0" rIns="0" bIns="0" rtlCol="0" anchor="ctr"/>
          <a:lstStyle/>
          <a:p>
            <a:pPr indent="0" marL="0">
              <a:buNone/>
            </a:pPr>
            <a:r>
              <a:rPr lang="en-US" sz="4000" b="1" dirty="0">
                <a:solidFill>
                  <a:srgbClr val="C8873A"/>
                </a:solidFill>
                <a:latin typeface="Cambria" pitchFamily="34" charset="0"/>
                <a:ea typeface="Cambria" pitchFamily="34" charset="-122"/>
                <a:cs typeface="Cambria" pitchFamily="34" charset="-120"/>
              </a:rPr>
              <a:t>9× faster</a:t>
            </a:r>
            <a:endParaRPr lang="en-US" sz="4000" dirty="0"/>
          </a:p>
        </p:txBody>
      </p:sp>
      <p:sp>
        <p:nvSpPr>
          <p:cNvPr id="8" name="Text 6"/>
          <p:cNvSpPr txBox="1"/>
          <p:nvPr/>
        </p:nvSpPr>
        <p:spPr>
          <a:xfrm>
            <a:off x="7863840" y="2404872"/>
            <a:ext cx="3108960" cy="457200"/>
          </a:xfrm>
          <a:prstGeom prst="rect">
            <a:avLst/>
          </a:prstGeom>
          <a:noFill/>
          <a:ln/>
        </p:spPr>
        <p:txBody>
          <a:bodyPr wrap="square" lIns="0" tIns="0" rIns="0" bIns="0" rtlCol="0" anchor="ctr"/>
          <a:lstStyle/>
          <a:p>
            <a:pPr indent="0" marL="0">
              <a:buNone/>
            </a:pPr>
            <a:r>
              <a:rPr lang="en-US" sz="1200" dirty="0">
                <a:solidFill>
                  <a:srgbClr val="6B776F"/>
                </a:solidFill>
                <a:latin typeface="Calibri" pitchFamily="34" charset="0"/>
                <a:ea typeface="Calibri" pitchFamily="34" charset="-122"/>
                <a:cs typeface="Calibri" pitchFamily="34" charset="-120"/>
              </a:rPr>
              <a:t>3138 ms → 335 ms</a:t>
            </a:r>
            <a:endParaRPr lang="en-US" sz="1200" dirty="0"/>
          </a:p>
        </p:txBody>
      </p:sp>
      <p:sp>
        <p:nvSpPr>
          <p:cNvPr id="9" name="Shape 7"/>
          <p:cNvSpPr/>
          <p:nvPr/>
        </p:nvSpPr>
        <p:spPr>
          <a:xfrm>
            <a:off x="640080" y="3337560"/>
            <a:ext cx="5303520" cy="1965960"/>
          </a:xfrm>
          <a:prstGeom prst="roundRect">
            <a:avLst>
              <a:gd name="adj" fmla="val 4186"/>
            </a:avLst>
          </a:prstGeom>
          <a:solidFill>
            <a:srgbClr val="EFF4F0"/>
          </a:solidFill>
          <a:ln w="12700">
            <a:solidFill>
              <a:srgbClr val="EFF4F0"/>
            </a:solidFill>
            <a:prstDash val="solid"/>
          </a:ln>
        </p:spPr>
      </p:sp>
      <p:sp>
        <p:nvSpPr>
          <p:cNvPr id="10" name="Text 8"/>
          <p:cNvSpPr txBox="1"/>
          <p:nvPr/>
        </p:nvSpPr>
        <p:spPr>
          <a:xfrm>
            <a:off x="896112" y="3538728"/>
            <a:ext cx="4791456" cy="310896"/>
          </a:xfrm>
          <a:prstGeom prst="rect">
            <a:avLst/>
          </a:prstGeom>
          <a:noFill/>
          <a:ln/>
        </p:spPr>
        <p:txBody>
          <a:bodyPr wrap="square" lIns="0" tIns="0" rIns="0" bIns="0" rtlCol="0" anchor="ctr"/>
          <a:lstStyle/>
          <a:p>
            <a:pPr indent="0" marL="0">
              <a:buNone/>
            </a:pPr>
            <a:r>
              <a:rPr lang="en-US" sz="1600" b="1" dirty="0">
                <a:solidFill>
                  <a:srgbClr val="1F4D3A"/>
                </a:solidFill>
                <a:latin typeface="Cambria" pitchFamily="34" charset="0"/>
                <a:ea typeface="Cambria" pitchFamily="34" charset="-122"/>
                <a:cs typeface="Cambria" pitchFamily="34" charset="-120"/>
              </a:rPr>
              <a:t>A config change broke it days later</a:t>
            </a:r>
            <a:endParaRPr lang="en-US" sz="1600" dirty="0"/>
          </a:p>
        </p:txBody>
      </p:sp>
      <p:sp>
        <p:nvSpPr>
          <p:cNvPr id="11" name="Text 9"/>
          <p:cNvSpPr txBox="1"/>
          <p:nvPr/>
        </p:nvSpPr>
        <p:spPr>
          <a:xfrm>
            <a:off x="896112" y="3959352"/>
            <a:ext cx="4791456" cy="1179576"/>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17211C"/>
                </a:solidFill>
                <a:latin typeface="Calibri" pitchFamily="34" charset="0"/>
                <a:ea typeface="Calibri" pitchFamily="34" charset="-122"/>
                <a:cs typeface="Calibri" pitchFamily="34" charset="-120"/>
              </a:rPr>
              <a:t>I changed TypeScript's module setting but did not regenerate Prisma's client</a:t>
            </a:r>
            <a:endParaRPr lang="en-US" sz="1250" dirty="0"/>
          </a:p>
          <a:p>
            <a:pPr marL="342900" indent="-342900">
              <a:spcAft>
                <a:spcPts val="500"/>
              </a:spcAft>
              <a:buSzPct val="100000"/>
              <a:buChar char="•"/>
            </a:pPr>
            <a:r>
              <a:rPr lang="en-US" sz="1250" dirty="0">
                <a:solidFill>
                  <a:srgbClr val="17211C"/>
                </a:solidFill>
                <a:latin typeface="Calibri" pitchFamily="34" charset="0"/>
                <a:ea typeface="Calibri" pitchFamily="34" charset="-122"/>
                <a:cs typeface="Calibri" pitchFamily="34" charset="-120"/>
              </a:rPr>
              <a:t>The next regeneration emitted ESM into a CommonJS project - and it crashed</a:t>
            </a:r>
            <a:endParaRPr lang="en-US" sz="1250" dirty="0"/>
          </a:p>
          <a:p>
            <a:pPr marL="342900" indent="-342900">
              <a:spcAft>
                <a:spcPts val="500"/>
              </a:spcAft>
              <a:buSzPct val="100000"/>
              <a:buChar char="•"/>
            </a:pPr>
            <a:r>
              <a:rPr lang="en-US" sz="1250" dirty="0">
                <a:solidFill>
                  <a:srgbClr val="17211C"/>
                </a:solidFill>
                <a:latin typeface="Calibri" pitchFamily="34" charset="0"/>
                <a:ea typeface="Calibri" pitchFamily="34" charset="-122"/>
                <a:cs typeface="Calibri" pitchFamily="34" charset="-120"/>
              </a:rPr>
              <a:t>Lesson: regenerate immediately, or the failure arrives detached from its cause</a:t>
            </a:r>
            <a:endParaRPr lang="en-US" sz="1250" dirty="0"/>
          </a:p>
        </p:txBody>
      </p:sp>
      <p:sp>
        <p:nvSpPr>
          <p:cNvPr id="12" name="Shape 10"/>
          <p:cNvSpPr/>
          <p:nvPr/>
        </p:nvSpPr>
        <p:spPr>
          <a:xfrm>
            <a:off x="6217920" y="3337560"/>
            <a:ext cx="5303520" cy="1965960"/>
          </a:xfrm>
          <a:prstGeom prst="roundRect">
            <a:avLst>
              <a:gd name="adj" fmla="val 4186"/>
            </a:avLst>
          </a:prstGeom>
          <a:solidFill>
            <a:srgbClr val="EFF4F0"/>
          </a:solidFill>
          <a:ln w="12700">
            <a:solidFill>
              <a:srgbClr val="EFF4F0"/>
            </a:solidFill>
            <a:prstDash val="solid"/>
          </a:ln>
        </p:spPr>
      </p:sp>
      <p:sp>
        <p:nvSpPr>
          <p:cNvPr id="13" name="Text 11"/>
          <p:cNvSpPr txBox="1"/>
          <p:nvPr/>
        </p:nvSpPr>
        <p:spPr>
          <a:xfrm>
            <a:off x="6473952" y="3538728"/>
            <a:ext cx="4791456" cy="310896"/>
          </a:xfrm>
          <a:prstGeom prst="rect">
            <a:avLst/>
          </a:prstGeom>
          <a:noFill/>
          <a:ln/>
        </p:spPr>
        <p:txBody>
          <a:bodyPr wrap="square" lIns="0" tIns="0" rIns="0" bIns="0" rtlCol="0" anchor="ctr"/>
          <a:lstStyle/>
          <a:p>
            <a:pPr indent="0" marL="0">
              <a:buNone/>
            </a:pPr>
            <a:r>
              <a:rPr lang="en-US" sz="1600" b="1" dirty="0">
                <a:solidFill>
                  <a:srgbClr val="1F4D3A"/>
                </a:solidFill>
                <a:latin typeface="Cambria" pitchFamily="34" charset="0"/>
                <a:ea typeface="Cambria" pitchFamily="34" charset="-122"/>
                <a:cs typeface="Cambria" pitchFamily="34" charset="-120"/>
              </a:rPr>
              <a:t>Deployment ran into a wall</a:t>
            </a:r>
            <a:endParaRPr lang="en-US" sz="1600" dirty="0"/>
          </a:p>
        </p:txBody>
      </p:sp>
      <p:sp>
        <p:nvSpPr>
          <p:cNvPr id="14" name="Text 12"/>
          <p:cNvSpPr txBox="1"/>
          <p:nvPr/>
        </p:nvSpPr>
        <p:spPr>
          <a:xfrm>
            <a:off x="6473952" y="3959352"/>
            <a:ext cx="4791456" cy="1179576"/>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17211C"/>
                </a:solidFill>
                <a:latin typeface="Calibri" pitchFamily="34" charset="0"/>
                <a:ea typeface="Calibri" pitchFamily="34" charset="-122"/>
                <a:cs typeface="Calibri" pitchFamily="34" charset="-120"/>
              </a:rPr>
              <a:t>Free-tier hosting for a long-lived Node API now wants card verification</a:t>
            </a:r>
            <a:endParaRPr lang="en-US" sz="1250" dirty="0"/>
          </a:p>
          <a:p>
            <a:pPr marL="342900" indent="-342900">
              <a:spcAft>
                <a:spcPts val="500"/>
              </a:spcAft>
              <a:buSzPct val="100000"/>
              <a:buChar char="•"/>
            </a:pPr>
            <a:r>
              <a:rPr lang="en-US" sz="1250" dirty="0">
                <a:solidFill>
                  <a:srgbClr val="17211C"/>
                </a:solidFill>
                <a:latin typeface="Calibri" pitchFamily="34" charset="0"/>
                <a:ea typeface="Calibri" pitchFamily="34" charset="-122"/>
                <a:cs typeface="Calibri" pitchFamily="34" charset="-120"/>
              </a:rPr>
              <a:t>The API is containerised; the frontend is live on Vercel</a:t>
            </a:r>
            <a:endParaRPr lang="en-US" sz="1250" dirty="0"/>
          </a:p>
          <a:p>
            <a:pPr marL="342900" indent="-342900">
              <a:spcAft>
                <a:spcPts val="500"/>
              </a:spcAft>
              <a:buSzPct val="100000"/>
              <a:buChar char="•"/>
            </a:pPr>
            <a:r>
              <a:rPr lang="en-US" sz="1250" dirty="0">
                <a:solidFill>
                  <a:srgbClr val="17211C"/>
                </a:solidFill>
                <a:latin typeface="Calibri" pitchFamily="34" charset="0"/>
                <a:ea typeface="Calibri" pitchFamily="34" charset="-122"/>
                <a:cs typeface="Calibri" pitchFamily="34" charset="-120"/>
              </a:rPr>
              <a:t>I would rather say that plainly than hand over a link that half works</a:t>
            </a:r>
            <a:endParaRPr lang="en-US" sz="1250" dirty="0"/>
          </a:p>
        </p:txBody>
      </p:sp>
      <p:sp>
        <p:nvSpPr>
          <p:cNvPr id="15" name="Text 13"/>
          <p:cNvSpPr txBox="1"/>
          <p:nvPr/>
        </p:nvSpPr>
        <p:spPr>
          <a:xfrm>
            <a:off x="640080" y="5532120"/>
            <a:ext cx="10881360" cy="365760"/>
          </a:xfrm>
          <a:prstGeom prst="rect">
            <a:avLst/>
          </a:prstGeom>
          <a:noFill/>
          <a:ln/>
        </p:spPr>
        <p:txBody>
          <a:bodyPr wrap="square" lIns="0" tIns="0" rIns="0" bIns="0" rtlCol="0" anchor="ctr"/>
          <a:lstStyle/>
          <a:p>
            <a:pPr indent="0" marL="0">
              <a:buNone/>
            </a:pPr>
            <a:r>
              <a:rPr lang="en-US" sz="1300" i="1" dirty="0">
                <a:solidFill>
                  <a:srgbClr val="6B776F"/>
                </a:solidFill>
                <a:latin typeface="Calibri" pitchFamily="34" charset="0"/>
                <a:ea typeface="Calibri" pitchFamily="34" charset="-122"/>
                <a:cs typeface="Calibri" pitchFamily="34" charset="-120"/>
              </a:rPr>
              <a:t>The app runs locally from the README in two commands.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indent="0" marL="0">
              <a:buNone/>
            </a:pPr>
            <a:r>
              <a:rPr lang="en-US" sz="1100" b="1" spc="200" kern="0" dirty="0">
                <a:solidFill>
                  <a:srgbClr val="C8873A"/>
                </a:solidFill>
                <a:latin typeface="Calibri" pitchFamily="34" charset="0"/>
                <a:ea typeface="Calibri" pitchFamily="34" charset="-122"/>
                <a:cs typeface="Calibri" pitchFamily="34" charset="-120"/>
              </a:rPr>
              <a:t>WHAT I WOULD DO NEXT</a:t>
            </a:r>
            <a:endParaRPr lang="en-US" sz="1100" dirty="0"/>
          </a:p>
        </p:txBody>
      </p:sp>
      <p:sp>
        <p:nvSpPr>
          <p:cNvPr id="3" name="Text 1"/>
          <p:cNvSpPr txBox="1"/>
          <p:nvPr/>
        </p:nvSpPr>
        <p:spPr>
          <a:xfrm>
            <a:off x="640080" y="685800"/>
            <a:ext cx="10881360" cy="685800"/>
          </a:xfrm>
          <a:prstGeom prst="rect">
            <a:avLst/>
          </a:prstGeom>
          <a:noFill/>
          <a:ln/>
        </p:spPr>
        <p:txBody>
          <a:bodyPr wrap="square" lIns="0" tIns="0" rIns="0" bIns="0" rtlCol="0" anchor="ctr"/>
          <a:lstStyle/>
          <a:p>
            <a:pPr indent="0" marL="0">
              <a:buNone/>
            </a:pPr>
            <a:r>
              <a:rPr lang="en-US" sz="3400" b="1" dirty="0">
                <a:solidFill>
                  <a:srgbClr val="17211C"/>
                </a:solidFill>
                <a:latin typeface="Cambria" pitchFamily="34" charset="0"/>
                <a:ea typeface="Cambria" pitchFamily="34" charset="-122"/>
                <a:cs typeface="Cambria" pitchFamily="34" charset="-120"/>
              </a:rPr>
              <a:t>Five, in the order I would do them</a:t>
            </a:r>
            <a:endParaRPr lang="en-US" sz="3400" dirty="0"/>
          </a:p>
        </p:txBody>
      </p:sp>
      <p:sp>
        <p:nvSpPr>
          <p:cNvPr id="4" name="Shape 2"/>
          <p:cNvSpPr/>
          <p:nvPr/>
        </p:nvSpPr>
        <p:spPr>
          <a:xfrm>
            <a:off x="640080" y="1600200"/>
            <a:ext cx="411480" cy="411480"/>
          </a:xfrm>
          <a:prstGeom prst="ellipse">
            <a:avLst/>
          </a:prstGeom>
          <a:solidFill>
            <a:srgbClr val="1F4D3A"/>
          </a:solidFill>
          <a:ln w="12700">
            <a:solidFill>
              <a:srgbClr val="1F4D3A"/>
            </a:solidFill>
            <a:prstDash val="solid"/>
          </a:ln>
        </p:spPr>
      </p:sp>
      <p:sp>
        <p:nvSpPr>
          <p:cNvPr id="5" name="Text 3"/>
          <p:cNvSpPr txBox="1"/>
          <p:nvPr/>
        </p:nvSpPr>
        <p:spPr>
          <a:xfrm>
            <a:off x="640080" y="160020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234440" y="1554480"/>
            <a:ext cx="2743200" cy="365760"/>
          </a:xfrm>
          <a:prstGeom prst="rect">
            <a:avLst/>
          </a:prstGeom>
          <a:noFill/>
          <a:ln/>
        </p:spPr>
        <p:txBody>
          <a:bodyPr wrap="square" lIns="0" tIns="0" rIns="0" bIns="0" rtlCol="0" anchor="ctr"/>
          <a:lstStyle/>
          <a:p>
            <a:pPr indent="0" marL="0">
              <a:buNone/>
            </a:pPr>
            <a:r>
              <a:rPr lang="en-US" sz="1550" b="1" dirty="0">
                <a:solidFill>
                  <a:srgbClr val="17211C"/>
                </a:solidFill>
                <a:latin typeface="Cambria" pitchFamily="34" charset="0"/>
                <a:ea typeface="Cambria" pitchFamily="34" charset="-122"/>
                <a:cs typeface="Cambria" pitchFamily="34" charset="-120"/>
              </a:rPr>
              <a:t>Shared types</a:t>
            </a:r>
            <a:endParaRPr lang="en-US" sz="1550" dirty="0"/>
          </a:p>
        </p:txBody>
      </p:sp>
      <p:sp>
        <p:nvSpPr>
          <p:cNvPr id="7" name="Text 5"/>
          <p:cNvSpPr txBox="1"/>
          <p:nvPr/>
        </p:nvSpPr>
        <p:spPr>
          <a:xfrm>
            <a:off x="4114800" y="1554480"/>
            <a:ext cx="7406640" cy="777240"/>
          </a:xfrm>
          <a:prstGeom prst="rect">
            <a:avLst/>
          </a:prstGeom>
          <a:noFill/>
          <a:ln/>
        </p:spPr>
        <p:txBody>
          <a:bodyPr wrap="square" lIns="0" tIns="0" rIns="0" bIns="0" rtlCol="0" anchor="ctr"/>
          <a:lstStyle/>
          <a:p>
            <a:pPr indent="0" marL="0">
              <a:buNone/>
            </a:pPr>
            <a:r>
              <a:rPr lang="en-US" sz="1250" dirty="0">
                <a:solidFill>
                  <a:srgbClr val="6B776F"/>
                </a:solidFill>
                <a:latin typeface="Calibri" pitchFamily="34" charset="0"/>
                <a:ea typeface="Calibri" pitchFamily="34" charset="-122"/>
                <a:cs typeface="Calibri" pitchFamily="34" charset="-120"/>
              </a:rPr>
              <a:t>API types are hand-copied into the frontend today. Generate them, so a change breaks the build instead of runtime.</a:t>
            </a:r>
            <a:endParaRPr lang="en-US" sz="1250" dirty="0"/>
          </a:p>
        </p:txBody>
      </p:sp>
      <p:sp>
        <p:nvSpPr>
          <p:cNvPr id="8" name="Shape 6"/>
          <p:cNvSpPr/>
          <p:nvPr/>
        </p:nvSpPr>
        <p:spPr>
          <a:xfrm>
            <a:off x="640080" y="2514600"/>
            <a:ext cx="411480" cy="411480"/>
          </a:xfrm>
          <a:prstGeom prst="ellipse">
            <a:avLst/>
          </a:prstGeom>
          <a:solidFill>
            <a:srgbClr val="1F4D3A"/>
          </a:solidFill>
          <a:ln w="12700">
            <a:solidFill>
              <a:srgbClr val="1F4D3A"/>
            </a:solidFill>
            <a:prstDash val="solid"/>
          </a:ln>
        </p:spPr>
      </p:sp>
      <p:sp>
        <p:nvSpPr>
          <p:cNvPr id="9" name="Text 7"/>
          <p:cNvSpPr txBox="1"/>
          <p:nvPr/>
        </p:nvSpPr>
        <p:spPr>
          <a:xfrm>
            <a:off x="640080" y="251460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234440" y="2468880"/>
            <a:ext cx="2743200" cy="365760"/>
          </a:xfrm>
          <a:prstGeom prst="rect">
            <a:avLst/>
          </a:prstGeom>
          <a:noFill/>
          <a:ln/>
        </p:spPr>
        <p:txBody>
          <a:bodyPr wrap="square" lIns="0" tIns="0" rIns="0" bIns="0" rtlCol="0" anchor="ctr"/>
          <a:lstStyle/>
          <a:p>
            <a:pPr indent="0" marL="0">
              <a:buNone/>
            </a:pPr>
            <a:r>
              <a:rPr lang="en-US" sz="1550" b="1" dirty="0">
                <a:solidFill>
                  <a:srgbClr val="17211C"/>
                </a:solidFill>
                <a:latin typeface="Cambria" pitchFamily="34" charset="0"/>
                <a:ea typeface="Cambria" pitchFamily="34" charset="-122"/>
                <a:cs typeface="Cambria" pitchFamily="34" charset="-120"/>
              </a:rPr>
              <a:t>Finish deployment</a:t>
            </a:r>
            <a:endParaRPr lang="en-US" sz="1550" dirty="0"/>
          </a:p>
        </p:txBody>
      </p:sp>
      <p:sp>
        <p:nvSpPr>
          <p:cNvPr id="11" name="Text 9"/>
          <p:cNvSpPr txBox="1"/>
          <p:nvPr/>
        </p:nvSpPr>
        <p:spPr>
          <a:xfrm>
            <a:off x="4114800" y="2468880"/>
            <a:ext cx="7406640" cy="777240"/>
          </a:xfrm>
          <a:prstGeom prst="rect">
            <a:avLst/>
          </a:prstGeom>
          <a:noFill/>
          <a:ln/>
        </p:spPr>
        <p:txBody>
          <a:bodyPr wrap="square" lIns="0" tIns="0" rIns="0" bIns="0" rtlCol="0" anchor="ctr"/>
          <a:lstStyle/>
          <a:p>
            <a:pPr indent="0" marL="0">
              <a:buNone/>
            </a:pPr>
            <a:r>
              <a:rPr lang="en-US" sz="1250" dirty="0">
                <a:solidFill>
                  <a:srgbClr val="6B776F"/>
                </a:solidFill>
                <a:latin typeface="Calibri" pitchFamily="34" charset="0"/>
                <a:ea typeface="Calibri" pitchFamily="34" charset="-122"/>
                <a:cs typeface="Calibri" pitchFamily="34" charset="-120"/>
              </a:rPr>
              <a:t>API and frontend on one origin, which also removes CORS and keeps cookies first-party.</a:t>
            </a:r>
            <a:endParaRPr lang="en-US" sz="1250" dirty="0"/>
          </a:p>
        </p:txBody>
      </p:sp>
      <p:sp>
        <p:nvSpPr>
          <p:cNvPr id="12" name="Shape 10"/>
          <p:cNvSpPr/>
          <p:nvPr/>
        </p:nvSpPr>
        <p:spPr>
          <a:xfrm>
            <a:off x="640080" y="3429000"/>
            <a:ext cx="411480" cy="411480"/>
          </a:xfrm>
          <a:prstGeom prst="ellipse">
            <a:avLst/>
          </a:prstGeom>
          <a:solidFill>
            <a:srgbClr val="C8873A"/>
          </a:solidFill>
          <a:ln w="12700">
            <a:solidFill>
              <a:srgbClr val="C8873A"/>
            </a:solidFill>
            <a:prstDash val="solid"/>
          </a:ln>
        </p:spPr>
      </p:sp>
      <p:sp>
        <p:nvSpPr>
          <p:cNvPr id="13" name="Text 11"/>
          <p:cNvSpPr txBox="1"/>
          <p:nvPr/>
        </p:nvSpPr>
        <p:spPr>
          <a:xfrm>
            <a:off x="640080" y="342900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234440" y="3383280"/>
            <a:ext cx="2743200" cy="365760"/>
          </a:xfrm>
          <a:prstGeom prst="rect">
            <a:avLst/>
          </a:prstGeom>
          <a:noFill/>
          <a:ln/>
        </p:spPr>
        <p:txBody>
          <a:bodyPr wrap="square" lIns="0" tIns="0" rIns="0" bIns="0" rtlCol="0" anchor="ctr"/>
          <a:lstStyle/>
          <a:p>
            <a:pPr indent="0" marL="0">
              <a:buNone/>
            </a:pPr>
            <a:r>
              <a:rPr lang="en-US" sz="1550" b="1" dirty="0">
                <a:solidFill>
                  <a:srgbClr val="17211C"/>
                </a:solidFill>
                <a:latin typeface="Cambria" pitchFamily="34" charset="0"/>
                <a:ea typeface="Cambria" pitchFamily="34" charset="-122"/>
                <a:cs typeface="Cambria" pitchFamily="34" charset="-120"/>
              </a:rPr>
              <a:t>Project membership</a:t>
            </a:r>
            <a:endParaRPr lang="en-US" sz="1550" dirty="0"/>
          </a:p>
        </p:txBody>
      </p:sp>
      <p:sp>
        <p:nvSpPr>
          <p:cNvPr id="15" name="Text 13"/>
          <p:cNvSpPr txBox="1"/>
          <p:nvPr/>
        </p:nvSpPr>
        <p:spPr>
          <a:xfrm>
            <a:off x="4114800" y="3383280"/>
            <a:ext cx="7406640" cy="777240"/>
          </a:xfrm>
          <a:prstGeom prst="rect">
            <a:avLst/>
          </a:prstGeom>
          <a:noFill/>
          <a:ln/>
        </p:spPr>
        <p:txBody>
          <a:bodyPr wrap="square" lIns="0" tIns="0" rIns="0" bIns="0" rtlCol="0" anchor="ctr"/>
          <a:lstStyle/>
          <a:p>
            <a:pPr indent="0" marL="0">
              <a:buNone/>
            </a:pPr>
            <a:r>
              <a:rPr lang="en-US" sz="1250" dirty="0">
                <a:solidFill>
                  <a:srgbClr val="6B776F"/>
                </a:solidFill>
                <a:latin typeface="Calibri" pitchFamily="34" charset="0"/>
                <a:ea typeface="Calibri" pitchFamily="34" charset="-122"/>
                <a:cs typeface="Calibri" pitchFamily="34" charset="-120"/>
              </a:rPr>
              <a:t>ProjectMember is in the schema and seeded, but nothing assigns people to projects yet - the dashboard could then filter by it.</a:t>
            </a:r>
            <a:endParaRPr lang="en-US" sz="1250" dirty="0"/>
          </a:p>
        </p:txBody>
      </p:sp>
      <p:sp>
        <p:nvSpPr>
          <p:cNvPr id="16" name="Shape 14"/>
          <p:cNvSpPr/>
          <p:nvPr/>
        </p:nvSpPr>
        <p:spPr>
          <a:xfrm>
            <a:off x="640080" y="4343400"/>
            <a:ext cx="411480" cy="411480"/>
          </a:xfrm>
          <a:prstGeom prst="ellipse">
            <a:avLst/>
          </a:prstGeom>
          <a:solidFill>
            <a:srgbClr val="1F4D3A"/>
          </a:solidFill>
          <a:ln w="12700">
            <a:solidFill>
              <a:srgbClr val="1F4D3A"/>
            </a:solidFill>
            <a:prstDash val="solid"/>
          </a:ln>
        </p:spPr>
      </p:sp>
      <p:sp>
        <p:nvSpPr>
          <p:cNvPr id="17" name="Text 15"/>
          <p:cNvSpPr txBox="1"/>
          <p:nvPr/>
        </p:nvSpPr>
        <p:spPr>
          <a:xfrm>
            <a:off x="640080" y="434340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txBox="1"/>
          <p:nvPr/>
        </p:nvSpPr>
        <p:spPr>
          <a:xfrm>
            <a:off x="1234440" y="4297680"/>
            <a:ext cx="2743200" cy="365760"/>
          </a:xfrm>
          <a:prstGeom prst="rect">
            <a:avLst/>
          </a:prstGeom>
          <a:noFill/>
          <a:ln/>
        </p:spPr>
        <p:txBody>
          <a:bodyPr wrap="square" lIns="0" tIns="0" rIns="0" bIns="0" rtlCol="0" anchor="ctr"/>
          <a:lstStyle/>
          <a:p>
            <a:pPr indent="0" marL="0">
              <a:buNone/>
            </a:pPr>
            <a:r>
              <a:rPr lang="en-US" sz="1550" b="1" dirty="0">
                <a:solidFill>
                  <a:srgbClr val="17211C"/>
                </a:solidFill>
                <a:latin typeface="Cambria" pitchFamily="34" charset="0"/>
                <a:ea typeface="Cambria" pitchFamily="34" charset="-122"/>
                <a:cs typeface="Cambria" pitchFamily="34" charset="-120"/>
              </a:rPr>
              <a:t>Email reminders</a:t>
            </a:r>
            <a:endParaRPr lang="en-US" sz="1550" dirty="0"/>
          </a:p>
        </p:txBody>
      </p:sp>
      <p:sp>
        <p:nvSpPr>
          <p:cNvPr id="19" name="Text 17"/>
          <p:cNvSpPr txBox="1"/>
          <p:nvPr/>
        </p:nvSpPr>
        <p:spPr>
          <a:xfrm>
            <a:off x="4114800" y="4297680"/>
            <a:ext cx="7406640" cy="777240"/>
          </a:xfrm>
          <a:prstGeom prst="rect">
            <a:avLst/>
          </a:prstGeom>
          <a:noFill/>
          <a:ln/>
        </p:spPr>
        <p:txBody>
          <a:bodyPr wrap="square" lIns="0" tIns="0" rIns="0" bIns="0" rtlCol="0" anchor="ctr"/>
          <a:lstStyle/>
          <a:p>
            <a:pPr indent="0" marL="0">
              <a:buNone/>
            </a:pPr>
            <a:r>
              <a:rPr lang="en-US" sz="1250" dirty="0">
                <a:solidFill>
                  <a:srgbClr val="6B776F"/>
                </a:solidFill>
                <a:latin typeface="Calibri" pitchFamily="34" charset="0"/>
                <a:ea typeface="Calibri" pitchFamily="34" charset="-122"/>
                <a:cs typeface="Calibri" pitchFamily="34" charset="-120"/>
              </a:rPr>
              <a:t>Nudge anyone who has not filed by Friday afternoon.</a:t>
            </a:r>
            <a:endParaRPr lang="en-US" sz="1250" dirty="0"/>
          </a:p>
        </p:txBody>
      </p:sp>
      <p:sp>
        <p:nvSpPr>
          <p:cNvPr id="20" name="Shape 18"/>
          <p:cNvSpPr/>
          <p:nvPr/>
        </p:nvSpPr>
        <p:spPr>
          <a:xfrm>
            <a:off x="640080" y="5257800"/>
            <a:ext cx="411480" cy="411480"/>
          </a:xfrm>
          <a:prstGeom prst="ellipse">
            <a:avLst/>
          </a:prstGeom>
          <a:solidFill>
            <a:srgbClr val="1F4D3A"/>
          </a:solidFill>
          <a:ln w="12700">
            <a:solidFill>
              <a:srgbClr val="1F4D3A"/>
            </a:solidFill>
            <a:prstDash val="solid"/>
          </a:ln>
        </p:spPr>
      </p:sp>
      <p:sp>
        <p:nvSpPr>
          <p:cNvPr id="21" name="Text 19"/>
          <p:cNvSpPr txBox="1"/>
          <p:nvPr/>
        </p:nvSpPr>
        <p:spPr>
          <a:xfrm>
            <a:off x="640080" y="525780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2" name="Text 20"/>
          <p:cNvSpPr txBox="1"/>
          <p:nvPr/>
        </p:nvSpPr>
        <p:spPr>
          <a:xfrm>
            <a:off x="1234440" y="5212080"/>
            <a:ext cx="2743200" cy="365760"/>
          </a:xfrm>
          <a:prstGeom prst="rect">
            <a:avLst/>
          </a:prstGeom>
          <a:noFill/>
          <a:ln/>
        </p:spPr>
        <p:txBody>
          <a:bodyPr wrap="square" lIns="0" tIns="0" rIns="0" bIns="0" rtlCol="0" anchor="ctr"/>
          <a:lstStyle/>
          <a:p>
            <a:pPr indent="0" marL="0">
              <a:buNone/>
            </a:pPr>
            <a:r>
              <a:rPr lang="en-US" sz="1550" b="1" dirty="0">
                <a:solidFill>
                  <a:srgbClr val="17211C"/>
                </a:solidFill>
                <a:latin typeface="Cambria" pitchFamily="34" charset="0"/>
                <a:ea typeface="Cambria" pitchFamily="34" charset="-122"/>
                <a:cs typeface="Cambria" pitchFamily="34" charset="-120"/>
              </a:rPr>
              <a:t>Section comparison</a:t>
            </a:r>
            <a:endParaRPr lang="en-US" sz="1550" dirty="0"/>
          </a:p>
        </p:txBody>
      </p:sp>
      <p:sp>
        <p:nvSpPr>
          <p:cNvPr id="23" name="Text 21"/>
          <p:cNvSpPr txBox="1"/>
          <p:nvPr/>
        </p:nvSpPr>
        <p:spPr>
          <a:xfrm>
            <a:off x="4114800" y="5212080"/>
            <a:ext cx="7406640" cy="777240"/>
          </a:xfrm>
          <a:prstGeom prst="rect">
            <a:avLst/>
          </a:prstGeom>
          <a:noFill/>
          <a:ln/>
        </p:spPr>
        <p:txBody>
          <a:bodyPr wrap="square" lIns="0" tIns="0" rIns="0" bIns="0" rtlCol="0" anchor="ctr"/>
          <a:lstStyle/>
          <a:p>
            <a:pPr indent="0" marL="0">
              <a:buNone/>
            </a:pPr>
            <a:r>
              <a:rPr lang="en-US" sz="1250" dirty="0">
                <a:solidFill>
                  <a:srgbClr val="6B776F"/>
                </a:solidFill>
                <a:latin typeface="Calibri" pitchFamily="34" charset="0"/>
                <a:ea typeface="Calibri" pitchFamily="34" charset="-122"/>
                <a:cs typeface="Calibri" pitchFamily="34" charset="-120"/>
              </a:rPr>
              <a:t>Every member's blockers for one week, side by side.</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F4D3A"/>
        </a:solidFill>
      </p:bgPr>
    </p:bg>
    <p:spTree>
      <p:nvGrpSpPr>
        <p:cNvPr id="1" name=""/>
        <p:cNvGrpSpPr/>
        <p:nvPr/>
      </p:nvGrpSpPr>
      <p:grpSpPr>
        <a:xfrm>
          <a:off x="0" y="0"/>
          <a:ext cx="0" cy="0"/>
          <a:chOff x="0" y="0"/>
          <a:chExt cx="0" cy="0"/>
        </a:xfrm>
      </p:grpSpPr>
      <p:sp>
        <p:nvSpPr>
          <p:cNvPr id="2" name="Text 0"/>
          <p:cNvSpPr txBox="1"/>
          <p:nvPr/>
        </p:nvSpPr>
        <p:spPr>
          <a:xfrm>
            <a:off x="640080" y="2103120"/>
            <a:ext cx="777240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3" name="Text 1"/>
          <p:cNvSpPr txBox="1"/>
          <p:nvPr/>
        </p:nvSpPr>
        <p:spPr>
          <a:xfrm>
            <a:off x="640080" y="3017520"/>
            <a:ext cx="7772400" cy="411480"/>
          </a:xfrm>
          <a:prstGeom prst="rect">
            <a:avLst/>
          </a:prstGeom>
          <a:noFill/>
          <a:ln/>
        </p:spPr>
        <p:txBody>
          <a:bodyPr wrap="square" lIns="0" tIns="0" rIns="0" bIns="0" rtlCol="0" anchor="ctr"/>
          <a:lstStyle/>
          <a:p>
            <a:pPr indent="0" marL="0">
              <a:buNone/>
            </a:pPr>
            <a:r>
              <a:rPr lang="en-US" sz="1600" dirty="0">
                <a:solidFill>
                  <a:srgbClr val="8FBF9F"/>
                </a:solidFill>
                <a:latin typeface="Calibri" pitchFamily="34" charset="0"/>
                <a:ea typeface="Calibri" pitchFamily="34" charset="-122"/>
                <a:cs typeface="Calibri" pitchFamily="34" charset="-120"/>
              </a:rPr>
              <a:t>Happy to walk through any part of the code.</a:t>
            </a:r>
            <a:endParaRPr lang="en-US" sz="1600" dirty="0"/>
          </a:p>
        </p:txBody>
      </p:sp>
      <p:sp>
        <p:nvSpPr>
          <p:cNvPr id="4" name="Text 2"/>
          <p:cNvSpPr txBox="1"/>
          <p:nvPr/>
        </p:nvSpPr>
        <p:spPr>
          <a:xfrm>
            <a:off x="640080" y="4206240"/>
            <a:ext cx="2377440" cy="685800"/>
          </a:xfrm>
          <a:prstGeom prst="rect">
            <a:avLst/>
          </a:prstGeom>
          <a:noFill/>
          <a:ln/>
        </p:spPr>
        <p:txBody>
          <a:bodyPr wrap="square" lIns="0" tIns="0" rIns="0" bIns="0" rtlCol="0" anchor="ctr"/>
          <a:lstStyle/>
          <a:p>
            <a:pPr indent="0" marL="0">
              <a:buNone/>
            </a:pPr>
            <a:r>
              <a:rPr lang="en-US" sz="3600" b="1" dirty="0">
                <a:solidFill>
                  <a:srgbClr val="8FBF9F"/>
                </a:solidFill>
                <a:latin typeface="Cambria" pitchFamily="34" charset="0"/>
                <a:ea typeface="Cambria" pitchFamily="34" charset="-122"/>
                <a:cs typeface="Cambria" pitchFamily="34" charset="-120"/>
              </a:rPr>
              <a:t>12</a:t>
            </a:r>
            <a:endParaRPr lang="en-US" sz="3600" dirty="0"/>
          </a:p>
        </p:txBody>
      </p:sp>
      <p:sp>
        <p:nvSpPr>
          <p:cNvPr id="5" name="Text 3"/>
          <p:cNvSpPr txBox="1"/>
          <p:nvPr/>
        </p:nvSpPr>
        <p:spPr>
          <a:xfrm>
            <a:off x="640080" y="4892040"/>
            <a:ext cx="2377440" cy="365760"/>
          </a:xfrm>
          <a:prstGeom prst="rect">
            <a:avLst/>
          </a:prstGeom>
          <a:noFill/>
          <a:ln/>
        </p:spPr>
        <p:txBody>
          <a:bodyPr wrap="square" lIns="0" tIns="0" rIns="0" bIns="0" rtlCol="0" anchor="ctr"/>
          <a:lstStyle/>
          <a:p>
            <a:pPr indent="0" marL="0">
              <a:buNone/>
            </a:pPr>
            <a:r>
              <a:rPr lang="en-US" sz="1250" dirty="0">
                <a:solidFill>
                  <a:srgbClr val="A9C9B4"/>
                </a:solidFill>
                <a:latin typeface="Calibri" pitchFamily="34" charset="0"/>
                <a:ea typeface="Calibri" pitchFamily="34" charset="-122"/>
                <a:cs typeface="Calibri" pitchFamily="34" charset="-120"/>
              </a:rPr>
              <a:t>pages</a:t>
            </a:r>
            <a:endParaRPr lang="en-US" sz="1250" dirty="0"/>
          </a:p>
        </p:txBody>
      </p:sp>
      <p:sp>
        <p:nvSpPr>
          <p:cNvPr id="6" name="Text 4"/>
          <p:cNvSpPr txBox="1"/>
          <p:nvPr/>
        </p:nvSpPr>
        <p:spPr>
          <a:xfrm>
            <a:off x="3291840" y="4206240"/>
            <a:ext cx="2377440" cy="685800"/>
          </a:xfrm>
          <a:prstGeom prst="rect">
            <a:avLst/>
          </a:prstGeom>
          <a:noFill/>
          <a:ln/>
        </p:spPr>
        <p:txBody>
          <a:bodyPr wrap="square" lIns="0" tIns="0" rIns="0" bIns="0" rtlCol="0" anchor="ctr"/>
          <a:lstStyle/>
          <a:p>
            <a:pPr indent="0" marL="0">
              <a:buNone/>
            </a:pPr>
            <a:r>
              <a:rPr lang="en-US" sz="3600" b="1" dirty="0">
                <a:solidFill>
                  <a:srgbClr val="8FBF9F"/>
                </a:solidFill>
                <a:latin typeface="Cambria" pitchFamily="34" charset="0"/>
                <a:ea typeface="Cambria" pitchFamily="34" charset="-122"/>
                <a:cs typeface="Cambria" pitchFamily="34" charset="-120"/>
              </a:rPr>
              <a:t>10</a:t>
            </a:r>
            <a:endParaRPr lang="en-US" sz="3600" dirty="0"/>
          </a:p>
        </p:txBody>
      </p:sp>
      <p:sp>
        <p:nvSpPr>
          <p:cNvPr id="7" name="Text 5"/>
          <p:cNvSpPr txBox="1"/>
          <p:nvPr/>
        </p:nvSpPr>
        <p:spPr>
          <a:xfrm>
            <a:off x="3291840" y="4892040"/>
            <a:ext cx="2377440" cy="365760"/>
          </a:xfrm>
          <a:prstGeom prst="rect">
            <a:avLst/>
          </a:prstGeom>
          <a:noFill/>
          <a:ln/>
        </p:spPr>
        <p:txBody>
          <a:bodyPr wrap="square" lIns="0" tIns="0" rIns="0" bIns="0" rtlCol="0" anchor="ctr"/>
          <a:lstStyle/>
          <a:p>
            <a:pPr indent="0" marL="0">
              <a:buNone/>
            </a:pPr>
            <a:r>
              <a:rPr lang="en-US" sz="1250" dirty="0">
                <a:solidFill>
                  <a:srgbClr val="A9C9B4"/>
                </a:solidFill>
                <a:latin typeface="Calibri" pitchFamily="34" charset="0"/>
                <a:ea typeface="Calibri" pitchFamily="34" charset="-122"/>
                <a:cs typeface="Calibri" pitchFamily="34" charset="-120"/>
              </a:rPr>
              <a:t>tables</a:t>
            </a:r>
            <a:endParaRPr lang="en-US" sz="1250" dirty="0"/>
          </a:p>
        </p:txBody>
      </p:sp>
      <p:sp>
        <p:nvSpPr>
          <p:cNvPr id="8" name="Text 6"/>
          <p:cNvSpPr txBox="1"/>
          <p:nvPr/>
        </p:nvSpPr>
        <p:spPr>
          <a:xfrm>
            <a:off x="5943600" y="4206240"/>
            <a:ext cx="2377440" cy="685800"/>
          </a:xfrm>
          <a:prstGeom prst="rect">
            <a:avLst/>
          </a:prstGeom>
          <a:noFill/>
          <a:ln/>
        </p:spPr>
        <p:txBody>
          <a:bodyPr wrap="square" lIns="0" tIns="0" rIns="0" bIns="0" rtlCol="0" anchor="ctr"/>
          <a:lstStyle/>
          <a:p>
            <a:pPr indent="0" marL="0">
              <a:buNone/>
            </a:pPr>
            <a:r>
              <a:rPr lang="en-US" sz="3600" b="1" dirty="0">
                <a:solidFill>
                  <a:srgbClr val="8FBF9F"/>
                </a:solidFill>
                <a:latin typeface="Cambria" pitchFamily="34" charset="0"/>
                <a:ea typeface="Cambria" pitchFamily="34" charset="-122"/>
                <a:cs typeface="Cambria" pitchFamily="34" charset="-120"/>
              </a:rPr>
              <a:t>18</a:t>
            </a:r>
            <a:endParaRPr lang="en-US" sz="3600" dirty="0"/>
          </a:p>
        </p:txBody>
      </p:sp>
      <p:sp>
        <p:nvSpPr>
          <p:cNvPr id="9" name="Text 7"/>
          <p:cNvSpPr txBox="1"/>
          <p:nvPr/>
        </p:nvSpPr>
        <p:spPr>
          <a:xfrm>
            <a:off x="5943600" y="4892040"/>
            <a:ext cx="2377440" cy="365760"/>
          </a:xfrm>
          <a:prstGeom prst="rect">
            <a:avLst/>
          </a:prstGeom>
          <a:noFill/>
          <a:ln/>
        </p:spPr>
        <p:txBody>
          <a:bodyPr wrap="square" lIns="0" tIns="0" rIns="0" bIns="0" rtlCol="0" anchor="ctr"/>
          <a:lstStyle/>
          <a:p>
            <a:pPr indent="0" marL="0">
              <a:buNone/>
            </a:pPr>
            <a:r>
              <a:rPr lang="en-US" sz="1250" dirty="0">
                <a:solidFill>
                  <a:srgbClr val="A9C9B4"/>
                </a:solidFill>
                <a:latin typeface="Calibri" pitchFamily="34" charset="0"/>
                <a:ea typeface="Calibri" pitchFamily="34" charset="-122"/>
                <a:cs typeface="Calibri" pitchFamily="34" charset="-120"/>
              </a:rPr>
              <a:t>tests</a:t>
            </a:r>
            <a:endParaRPr lang="en-US" sz="1250" dirty="0"/>
          </a:p>
        </p:txBody>
      </p:sp>
      <p:sp>
        <p:nvSpPr>
          <p:cNvPr id="10" name="Text 8"/>
          <p:cNvSpPr txBox="1"/>
          <p:nvPr/>
        </p:nvSpPr>
        <p:spPr>
          <a:xfrm>
            <a:off x="8595360" y="4206240"/>
            <a:ext cx="2377440" cy="685800"/>
          </a:xfrm>
          <a:prstGeom prst="rect">
            <a:avLst/>
          </a:prstGeom>
          <a:noFill/>
          <a:ln/>
        </p:spPr>
        <p:txBody>
          <a:bodyPr wrap="square" lIns="0" tIns="0" rIns="0" bIns="0" rtlCol="0" anchor="ctr"/>
          <a:lstStyle/>
          <a:p>
            <a:pPr indent="0" marL="0">
              <a:buNone/>
            </a:pPr>
            <a:r>
              <a:rPr lang="en-US" sz="3600" b="1" dirty="0">
                <a:solidFill>
                  <a:srgbClr val="8FBF9F"/>
                </a:solidFill>
                <a:latin typeface="Cambria" pitchFamily="34" charset="0"/>
                <a:ea typeface="Cambria" pitchFamily="34" charset="-122"/>
                <a:cs typeface="Cambria" pitchFamily="34" charset="-120"/>
              </a:rPr>
              <a:t>28</a:t>
            </a:r>
            <a:endParaRPr lang="en-US" sz="3600" dirty="0"/>
          </a:p>
        </p:txBody>
      </p:sp>
      <p:sp>
        <p:nvSpPr>
          <p:cNvPr id="11" name="Text 9"/>
          <p:cNvSpPr txBox="1"/>
          <p:nvPr/>
        </p:nvSpPr>
        <p:spPr>
          <a:xfrm>
            <a:off x="8595360" y="4892040"/>
            <a:ext cx="2377440" cy="365760"/>
          </a:xfrm>
          <a:prstGeom prst="rect">
            <a:avLst/>
          </a:prstGeom>
          <a:noFill/>
          <a:ln/>
        </p:spPr>
        <p:txBody>
          <a:bodyPr wrap="square" lIns="0" tIns="0" rIns="0" bIns="0" rtlCol="0" anchor="ctr"/>
          <a:lstStyle/>
          <a:p>
            <a:pPr indent="0" marL="0">
              <a:buNone/>
            </a:pPr>
            <a:r>
              <a:rPr lang="en-US" sz="1250" dirty="0">
                <a:solidFill>
                  <a:srgbClr val="A9C9B4"/>
                </a:solidFill>
                <a:latin typeface="Calibri" pitchFamily="34" charset="0"/>
                <a:ea typeface="Calibri" pitchFamily="34" charset="-122"/>
                <a:cs typeface="Calibri" pitchFamily="34" charset="-120"/>
              </a:rPr>
              <a:t>seeded reports</a:t>
            </a:r>
            <a:endParaRPr lang="en-US" sz="1250" dirty="0"/>
          </a:p>
        </p:txBody>
      </p:sp>
      <p:sp>
        <p:nvSpPr>
          <p:cNvPr id="12" name="Text 10"/>
          <p:cNvSpPr txBox="1"/>
          <p:nvPr/>
        </p:nvSpPr>
        <p:spPr>
          <a:xfrm>
            <a:off x="640080" y="5943600"/>
            <a:ext cx="10881360" cy="365760"/>
          </a:xfrm>
          <a:prstGeom prst="rect">
            <a:avLst/>
          </a:prstGeom>
          <a:noFill/>
          <a:ln/>
        </p:spPr>
        <p:txBody>
          <a:bodyPr wrap="square" lIns="0" tIns="0" rIns="0" bIns="0" rtlCol="0" anchor="ctr"/>
          <a:lstStyle/>
          <a:p>
            <a:pPr indent="0" marL="0">
              <a:buNone/>
            </a:pPr>
            <a:r>
              <a:rPr lang="en-US" sz="1300" dirty="0">
                <a:solidFill>
                  <a:srgbClr val="8FBF9F"/>
                </a:solidFill>
                <a:latin typeface="Calibri" pitchFamily="34" charset="0"/>
                <a:ea typeface="Calibri" pitchFamily="34" charset="-122"/>
                <a:cs typeface="Calibri" pitchFamily="34" charset="-120"/>
              </a:rPr>
              <a:t>github.com/RVViduranga/weekly-report-dashboard</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indent="0" marL="0">
              <a:buNone/>
            </a:pPr>
            <a:r>
              <a:rPr lang="en-US" sz="1100" b="1" spc="200" kern="0" dirty="0">
                <a:solidFill>
                  <a:srgbClr val="C8873A"/>
                </a:solidFill>
                <a:latin typeface="Calibri" pitchFamily="34" charset="0"/>
                <a:ea typeface="Calibri" pitchFamily="34" charset="-122"/>
                <a:cs typeface="Calibri" pitchFamily="34" charset="-120"/>
              </a:rPr>
              <a:t>AI CHAT ASSISTANT</a:t>
            </a:r>
            <a:endParaRPr lang="en-US" sz="1100" dirty="0"/>
          </a:p>
        </p:txBody>
      </p:sp>
      <p:sp>
        <p:nvSpPr>
          <p:cNvPr id="3" name="Text 1"/>
          <p:cNvSpPr txBox="1"/>
          <p:nvPr/>
        </p:nvSpPr>
        <p:spPr>
          <a:xfrm>
            <a:off x="640080" y="685800"/>
            <a:ext cx="10881360" cy="685800"/>
          </a:xfrm>
          <a:prstGeom prst="rect">
            <a:avLst/>
          </a:prstGeom>
          <a:noFill/>
          <a:ln/>
        </p:spPr>
        <p:txBody>
          <a:bodyPr wrap="square" lIns="0" tIns="0" rIns="0" bIns="0" rtlCol="0" anchor="ctr"/>
          <a:lstStyle/>
          <a:p>
            <a:pPr indent="0" marL="0">
              <a:buNone/>
            </a:pPr>
            <a:r>
              <a:rPr lang="en-US" sz="3400" b="1" dirty="0">
                <a:solidFill>
                  <a:srgbClr val="17211C"/>
                </a:solidFill>
                <a:latin typeface="Cambria" pitchFamily="34" charset="0"/>
                <a:ea typeface="Cambria" pitchFamily="34" charset="-122"/>
                <a:cs typeface="Cambria" pitchFamily="34" charset="-120"/>
              </a:rPr>
              <a:t>Grounded in the reports, not the model</a:t>
            </a:r>
            <a:endParaRPr lang="en-US" sz="3400" dirty="0"/>
          </a:p>
        </p:txBody>
      </p:sp>
      <p:sp>
        <p:nvSpPr>
          <p:cNvPr id="4" name="Shape 2"/>
          <p:cNvSpPr/>
          <p:nvPr/>
        </p:nvSpPr>
        <p:spPr>
          <a:xfrm>
            <a:off x="640080" y="1554480"/>
            <a:ext cx="5303520" cy="3200400"/>
          </a:xfrm>
          <a:prstGeom prst="roundRect">
            <a:avLst>
              <a:gd name="adj" fmla="val 2571"/>
            </a:avLst>
          </a:prstGeom>
          <a:solidFill>
            <a:srgbClr val="EFF4F0"/>
          </a:solidFill>
          <a:ln w="12700">
            <a:solidFill>
              <a:srgbClr val="EFF4F0"/>
            </a:solidFill>
            <a:prstDash val="solid"/>
          </a:ln>
        </p:spPr>
      </p:sp>
      <p:sp>
        <p:nvSpPr>
          <p:cNvPr id="5" name="Text 3"/>
          <p:cNvSpPr txBox="1"/>
          <p:nvPr/>
        </p:nvSpPr>
        <p:spPr>
          <a:xfrm>
            <a:off x="896112" y="1755648"/>
            <a:ext cx="4791456" cy="310896"/>
          </a:xfrm>
          <a:prstGeom prst="rect">
            <a:avLst/>
          </a:prstGeom>
          <a:noFill/>
          <a:ln/>
        </p:spPr>
        <p:txBody>
          <a:bodyPr wrap="square" lIns="0" tIns="0" rIns="0" bIns="0" rtlCol="0" anchor="ctr"/>
          <a:lstStyle/>
          <a:p>
            <a:pPr indent="0" marL="0">
              <a:buNone/>
            </a:pPr>
            <a:r>
              <a:rPr lang="en-US" sz="1700" b="1" dirty="0">
                <a:solidFill>
                  <a:srgbClr val="1F4D3A"/>
                </a:solidFill>
                <a:latin typeface="Cambria" pitchFamily="34" charset="0"/>
                <a:ea typeface="Cambria" pitchFamily="34" charset="-122"/>
                <a:cs typeface="Cambria" pitchFamily="34" charset="-120"/>
              </a:rPr>
              <a:t>How it answers</a:t>
            </a:r>
            <a:endParaRPr lang="en-US" sz="1700" dirty="0"/>
          </a:p>
        </p:txBody>
      </p:sp>
      <p:sp>
        <p:nvSpPr>
          <p:cNvPr id="6" name="Text 4"/>
          <p:cNvSpPr txBox="1"/>
          <p:nvPr/>
        </p:nvSpPr>
        <p:spPr>
          <a:xfrm>
            <a:off x="896112" y="2176272"/>
            <a:ext cx="4791456" cy="2414016"/>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17211C"/>
                </a:solidFill>
                <a:latin typeface="Calibri" pitchFamily="34" charset="0"/>
                <a:ea typeface="Calibri" pitchFamily="34" charset="-122"/>
                <a:cs typeface="Calibri" pitchFamily="34" charset="-120"/>
              </a:rPr>
              <a:t>Manager-only, behind the same requireRole guard</a:t>
            </a:r>
            <a:endParaRPr lang="en-US" sz="1300" dirty="0"/>
          </a:p>
          <a:p>
            <a:pPr marL="342900" indent="-342900">
              <a:spcAft>
                <a:spcPts val="500"/>
              </a:spcAft>
              <a:buSzPct val="100000"/>
              <a:buChar char="•"/>
            </a:pPr>
            <a:r>
              <a:rPr lang="en-US" sz="1300" dirty="0">
                <a:solidFill>
                  <a:srgbClr val="17211C"/>
                </a:solidFill>
                <a:latin typeface="Calibri" pitchFamily="34" charset="0"/>
                <a:ea typeface="Calibri" pitchFamily="34" charset="-122"/>
                <a:cs typeface="Calibri" pitchFamily="34" charset="-120"/>
              </a:rPr>
              <a:t>The week's reports are rendered as plain text into a system message</a:t>
            </a:r>
            <a:endParaRPr lang="en-US" sz="1300" dirty="0"/>
          </a:p>
          <a:p>
            <a:pPr marL="342900" indent="-342900">
              <a:spcAft>
                <a:spcPts val="500"/>
              </a:spcAft>
              <a:buSzPct val="100000"/>
              <a:buChar char="•"/>
            </a:pPr>
            <a:r>
              <a:rPr lang="en-US" sz="1300" dirty="0">
                <a:solidFill>
                  <a:srgbClr val="17211C"/>
                </a:solidFill>
                <a:latin typeface="Calibri" pitchFamily="34" charset="0"/>
                <a:ea typeface="Calibri" pitchFamily="34" charset="-122"/>
                <a:cs typeface="Calibri" pitchFamily="34" charset="-120"/>
              </a:rPr>
              <a:t>No vector store and no retrieval - a week is a few kilobytes</a:t>
            </a:r>
            <a:endParaRPr lang="en-US" sz="1300" dirty="0"/>
          </a:p>
          <a:p>
            <a:pPr marL="342900" indent="-342900">
              <a:spcAft>
                <a:spcPts val="500"/>
              </a:spcAft>
              <a:buSzPct val="100000"/>
              <a:buChar char="•"/>
            </a:pPr>
            <a:r>
              <a:rPr lang="en-US" sz="1300" dirty="0">
                <a:solidFill>
                  <a:srgbClr val="17211C"/>
                </a:solidFill>
                <a:latin typeface="Calibri" pitchFamily="34" charset="0"/>
                <a:ea typeface="Calibri" pitchFamily="34" charset="-122"/>
                <a:cs typeface="Calibri" pitchFamily="34" charset="-120"/>
              </a:rPr>
              <a:t>Six free models tried in order, because a shared pool answers 429</a:t>
            </a:r>
            <a:endParaRPr lang="en-US" sz="1300" dirty="0"/>
          </a:p>
        </p:txBody>
      </p:sp>
      <p:sp>
        <p:nvSpPr>
          <p:cNvPr id="7" name="Shape 5"/>
          <p:cNvSpPr/>
          <p:nvPr/>
        </p:nvSpPr>
        <p:spPr>
          <a:xfrm>
            <a:off x="6217920" y="1554480"/>
            <a:ext cx="5303520" cy="3200400"/>
          </a:xfrm>
          <a:prstGeom prst="roundRect">
            <a:avLst>
              <a:gd name="adj" fmla="val 2571"/>
            </a:avLst>
          </a:prstGeom>
          <a:solidFill>
            <a:srgbClr val="EFF4F0"/>
          </a:solidFill>
          <a:ln w="12700">
            <a:solidFill>
              <a:srgbClr val="EFF4F0"/>
            </a:solidFill>
            <a:prstDash val="solid"/>
          </a:ln>
        </p:spPr>
      </p:sp>
      <p:sp>
        <p:nvSpPr>
          <p:cNvPr id="8" name="Text 6"/>
          <p:cNvSpPr txBox="1"/>
          <p:nvPr/>
        </p:nvSpPr>
        <p:spPr>
          <a:xfrm>
            <a:off x="6473952" y="1755648"/>
            <a:ext cx="4791456" cy="310896"/>
          </a:xfrm>
          <a:prstGeom prst="rect">
            <a:avLst/>
          </a:prstGeom>
          <a:noFill/>
          <a:ln/>
        </p:spPr>
        <p:txBody>
          <a:bodyPr wrap="square" lIns="0" tIns="0" rIns="0" bIns="0" rtlCol="0" anchor="ctr"/>
          <a:lstStyle/>
          <a:p>
            <a:pPr indent="0" marL="0">
              <a:buNone/>
            </a:pPr>
            <a:r>
              <a:rPr lang="en-US" sz="1700" b="1" dirty="0">
                <a:solidFill>
                  <a:srgbClr val="1F4D3A"/>
                </a:solidFill>
                <a:latin typeface="Cambria" pitchFamily="34" charset="0"/>
                <a:ea typeface="Cambria" pitchFamily="34" charset="-122"/>
                <a:cs typeface="Cambria" pitchFamily="34" charset="-120"/>
              </a:rPr>
              <a:t>What never leaves the server</a:t>
            </a:r>
            <a:endParaRPr lang="en-US" sz="1700" dirty="0"/>
          </a:p>
        </p:txBody>
      </p:sp>
      <p:sp>
        <p:nvSpPr>
          <p:cNvPr id="9" name="Text 7"/>
          <p:cNvSpPr txBox="1"/>
          <p:nvPr/>
        </p:nvSpPr>
        <p:spPr>
          <a:xfrm>
            <a:off x="6473952" y="2176272"/>
            <a:ext cx="4791456" cy="2414016"/>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17211C"/>
                </a:solidFill>
                <a:latin typeface="Calibri" pitchFamily="34" charset="0"/>
                <a:ea typeface="Calibri" pitchFamily="34" charset="-122"/>
                <a:cs typeface="Calibri" pitchFamily="34" charset="-120"/>
              </a:rPr>
              <a:t>The Prisma select is the boundary, not the prompt</a:t>
            </a:r>
            <a:endParaRPr lang="en-US" sz="1300" dirty="0"/>
          </a:p>
          <a:p>
            <a:pPr marL="342900" indent="-342900">
              <a:spcAft>
                <a:spcPts val="500"/>
              </a:spcAft>
              <a:buSzPct val="100000"/>
              <a:buChar char="•"/>
            </a:pPr>
            <a:r>
              <a:rPr lang="en-US" sz="1300" dirty="0">
                <a:solidFill>
                  <a:srgbClr val="17211C"/>
                </a:solidFill>
                <a:latin typeface="Calibri" pitchFamily="34" charset="0"/>
                <a:ea typeface="Calibri" pitchFamily="34" charset="-122"/>
                <a:cs typeface="Calibri" pitchFamily="34" charset="-120"/>
              </a:rPr>
              <a:t>Names are selected; emails, ids and password hashes are not</a:t>
            </a:r>
            <a:endParaRPr lang="en-US" sz="1300" dirty="0"/>
          </a:p>
          <a:p>
            <a:pPr marL="342900" indent="-342900">
              <a:spcAft>
                <a:spcPts val="500"/>
              </a:spcAft>
              <a:buSzPct val="100000"/>
              <a:buChar char="•"/>
            </a:pPr>
            <a:r>
              <a:rPr lang="en-US" sz="1300" dirty="0">
                <a:solidFill>
                  <a:srgbClr val="17211C"/>
                </a:solidFill>
                <a:latin typeface="Calibri" pitchFamily="34" charset="0"/>
                <a:ea typeface="Calibri" pitchFamily="34" charset="-122"/>
                <a:cs typeface="Calibri" pitchFamily="34" charset="-120"/>
              </a:rPr>
              <a:t>The browser cannot send a system message, only user and assistant</a:t>
            </a:r>
            <a:endParaRPr lang="en-US" sz="1300" dirty="0"/>
          </a:p>
        </p:txBody>
      </p:sp>
      <p:sp>
        <p:nvSpPr>
          <p:cNvPr id="10" name="Text 8"/>
          <p:cNvSpPr txBox="1"/>
          <p:nvPr/>
        </p:nvSpPr>
        <p:spPr>
          <a:xfrm>
            <a:off x="640080" y="5029200"/>
            <a:ext cx="10881360" cy="731520"/>
          </a:xfrm>
          <a:prstGeom prst="rect">
            <a:avLst/>
          </a:prstGeom>
          <a:noFill/>
          <a:ln/>
        </p:spPr>
        <p:txBody>
          <a:bodyPr wrap="square" lIns="0" tIns="0" rIns="0" bIns="0" rtlCol="0" anchor="ctr"/>
          <a:lstStyle/>
          <a:p>
            <a:pPr indent="0" marL="0">
              <a:buNone/>
            </a:pPr>
            <a:r>
              <a:rPr lang="en-US" sz="1350" i="1" dirty="0">
                <a:solidFill>
                  <a:srgbClr val="17211C"/>
                </a:solidFill>
                <a:latin typeface="Calibri" pitchFamily="34" charset="0"/>
                <a:ea typeface="Calibri" pitchFamily="34" charset="-122"/>
                <a:cs typeface="Calibri" pitchFamily="34" charset="-120"/>
              </a:rPr>
              <a:t>A free model tier is not zero-retention: the provider may train on what is sent. Fine for seeded demo data, not for a real team - production would use a zero-retention tier or a self-hosted model.</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Weekly Report Generator &amp; Team Dashboard</dc:title>
  <dc:subject>PptxGenJS Presentation</dc:subject>
  <dc:creator>Weekly Report Dashboard</dc:creator>
  <cp:lastModifiedBy>Weekly Report Dashboard</cp:lastModifiedBy>
  <cp:revision>1</cp:revision>
  <dcterms:created xsi:type="dcterms:W3CDTF">2026-09-07T05:01:23Z</dcterms:created>
  <dcterms:modified xsi:type="dcterms:W3CDTF">2026-09-07T05:01:23Z</dcterms:modified>
</cp:coreProperties>
</file>